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74" r:id="rId5"/>
    <p:sldId id="259" r:id="rId6"/>
    <p:sldId id="277" r:id="rId7"/>
    <p:sldId id="276" r:id="rId8"/>
    <p:sldId id="278" r:id="rId9"/>
    <p:sldId id="279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2" r:id="rId30"/>
    <p:sldId id="301" r:id="rId31"/>
    <p:sldId id="300" r:id="rId32"/>
    <p:sldId id="303" r:id="rId33"/>
    <p:sldId id="304" r:id="rId34"/>
    <p:sldId id="305" r:id="rId35"/>
    <p:sldId id="306" r:id="rId36"/>
    <p:sldId id="30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6" autoAdjust="0"/>
    <p:restoredTop sz="94614" autoAdjust="0"/>
  </p:normalViewPr>
  <p:slideViewPr>
    <p:cSldViewPr snapToGrid="0">
      <p:cViewPr varScale="1">
        <p:scale>
          <a:sx n="69" d="100"/>
          <a:sy n="69" d="100"/>
        </p:scale>
        <p:origin x="98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3104A-6E55-4B2B-87C6-D272CBE8B7E2}" type="datetimeFigureOut">
              <a:rPr lang="en-US" smtClean="0"/>
              <a:t>3/28/2021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02334-DE96-4D8F-AA39-DB763625A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1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ACFB-A2D7-4DCD-947F-7B69551739A3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15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12C61-F5C4-4CE8-B8BC-EDFD5BB391AF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56215-0066-4536-9FE6-9C47B52BD454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5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8F086-32D7-4FE0-9298-B72ECA56DADC}" type="datetime1">
              <a:rPr lang="en-US" smtClean="0"/>
              <a:t>3/28/2021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40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1BDD2-9426-4B7F-A0E1-6BF030117F89}" type="datetime1">
              <a:rPr lang="en-US" smtClean="0"/>
              <a:t>3/28/2021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DEF55-0317-47D2-A824-F4B42C4D23B6}" type="datetime1">
              <a:rPr lang="en-US" smtClean="0"/>
              <a:t>3/28/2021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4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39059-6ACC-4992-B9BC-2688A4455B19}" type="datetime1">
              <a:rPr lang="en-US" smtClean="0"/>
              <a:t>3/28/2021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3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8C1CD-8705-4E2F-AB86-DF1CBB6BC4AF}" type="datetime1">
              <a:rPr lang="en-US" smtClean="0"/>
              <a:t>3/28/2021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7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9E99-B50E-45DC-8C7A-E76B9C53804A}" type="datetime1">
              <a:rPr lang="en-US" smtClean="0"/>
              <a:t>3/28/2021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59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197C-4F4B-4DA8-B842-8D7192562179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8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600B4-8E9A-42D1-B9FC-FC3A6B4A25B7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EAD6F-8CBA-452B-9F26-691547BAB364}" type="datetime1">
              <a:rPr lang="en-US" smtClean="0"/>
              <a:t>3/28/2021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AE6E0-6B8A-4A35-8B79-45936E9DB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1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51598"/>
          </a:xfrm>
        </p:spPr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C00000"/>
                </a:solidFill>
              </a:rPr>
              <a:t>Basic Data Visualization Techniques 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6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257" y="174056"/>
            <a:ext cx="10515600" cy="808583"/>
          </a:xfrm>
        </p:spPr>
        <p:txBody>
          <a:bodyPr/>
          <a:lstStyle/>
          <a:p>
            <a:r>
              <a:rPr lang="en-US" b="1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8174"/>
            <a:ext cx="11090564" cy="57798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• Creating a scatterplot</a:t>
            </a:r>
          </a:p>
          <a:p>
            <a:pPr marL="0" indent="0">
              <a:buNone/>
            </a:pPr>
            <a:r>
              <a:rPr lang="en-US" sz="3200" dirty="0"/>
              <a:t>• Adding a regression line to a scatterplot</a:t>
            </a:r>
          </a:p>
          <a:p>
            <a:pPr marL="0" indent="0">
              <a:buNone/>
            </a:pPr>
            <a:r>
              <a:rPr lang="en-US" sz="3200" dirty="0"/>
              <a:t>• Plotting categories</a:t>
            </a:r>
          </a:p>
          <a:p>
            <a:pPr marL="0" indent="0">
              <a:buNone/>
            </a:pPr>
            <a:r>
              <a:rPr lang="en-US" sz="3200" dirty="0"/>
              <a:t>• Labeling the graph</a:t>
            </a:r>
          </a:p>
          <a:p>
            <a:pPr marL="0" indent="0">
              <a:buNone/>
            </a:pPr>
            <a:r>
              <a:rPr lang="en-US" sz="3200" dirty="0"/>
              <a:t>• Legend layouts</a:t>
            </a:r>
          </a:p>
          <a:p>
            <a:pPr marL="0" indent="0">
              <a:buNone/>
            </a:pPr>
            <a:r>
              <a:rPr lang="en-US" sz="3200" dirty="0"/>
              <a:t>• Creating a facet</a:t>
            </a:r>
          </a:p>
          <a:p>
            <a:pPr marL="0" indent="0">
              <a:buNone/>
            </a:pPr>
            <a:r>
              <a:rPr lang="en-US" sz="3200" dirty="0"/>
              <a:t>• Theming</a:t>
            </a:r>
          </a:p>
          <a:p>
            <a:pPr marL="0" indent="0">
              <a:buNone/>
            </a:pPr>
            <a:r>
              <a:rPr lang="en-US" sz="3200" dirty="0"/>
              <a:t>• Creating bar charts</a:t>
            </a:r>
          </a:p>
          <a:p>
            <a:pPr marL="0" indent="0">
              <a:buNone/>
            </a:pPr>
            <a:r>
              <a:rPr lang="en-US" sz="3200" dirty="0"/>
              <a:t>• Creating violin plots</a:t>
            </a:r>
          </a:p>
          <a:p>
            <a:pPr marL="0" indent="0">
              <a:buNone/>
            </a:pPr>
            <a:r>
              <a:rPr lang="en-US" sz="3200" dirty="0"/>
              <a:t>• Creating density plots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24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Basic Data </a:t>
            </a:r>
            <a:r>
              <a:rPr lang="en-US" b="1" u="sng" dirty="0" smtClean="0">
                <a:solidFill>
                  <a:srgbClr val="C00000"/>
                </a:solidFill>
              </a:rPr>
              <a:t>Visualization Techniques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05934" cy="6039852"/>
          </a:xfrm>
        </p:spPr>
        <p:txBody>
          <a:bodyPr>
            <a:noAutofit/>
          </a:bodyPr>
          <a:lstStyle/>
          <a:p>
            <a:r>
              <a:rPr lang="en-US" sz="3100" dirty="0"/>
              <a:t>The ggplot2 package is a library that enables the creation of many types of </a:t>
            </a:r>
            <a:r>
              <a:rPr lang="en-US" sz="3100" dirty="0" smtClean="0"/>
              <a:t>data visualization </a:t>
            </a:r>
            <a:r>
              <a:rPr lang="en-US" sz="3100" dirty="0"/>
              <a:t>including various types of charts and graphs. </a:t>
            </a:r>
            <a:endParaRPr lang="en-US" sz="3100" dirty="0" smtClean="0"/>
          </a:p>
          <a:p>
            <a:pPr marL="0" indent="0">
              <a:buNone/>
            </a:pPr>
            <a:endParaRPr lang="en-US" sz="3100" dirty="0" smtClean="0"/>
          </a:p>
          <a:p>
            <a:r>
              <a:rPr lang="en-US" sz="3100" dirty="0" smtClean="0"/>
              <a:t>This </a:t>
            </a:r>
            <a:r>
              <a:rPr lang="en-US" sz="3100" dirty="0"/>
              <a:t>library was </a:t>
            </a:r>
            <a:r>
              <a:rPr lang="en-US" sz="3100" dirty="0" smtClean="0"/>
              <a:t>first created </a:t>
            </a:r>
            <a:r>
              <a:rPr lang="en-US" sz="3100" dirty="0"/>
              <a:t>by Hadley Wickham in 2005 and is an R implementation of </a:t>
            </a:r>
            <a:r>
              <a:rPr lang="en-US" sz="3100" dirty="0" smtClean="0"/>
              <a:t>Leland Wilkinson’s </a:t>
            </a:r>
            <a:r>
              <a:rPr lang="en-US" sz="3100" dirty="0"/>
              <a:t>Grammar of Graphics. </a:t>
            </a:r>
            <a:endParaRPr lang="en-US" sz="3100" dirty="0" smtClean="0"/>
          </a:p>
          <a:p>
            <a:pPr marL="0" indent="0">
              <a:buNone/>
            </a:pPr>
            <a:endParaRPr lang="en-US" sz="3100" dirty="0" smtClean="0"/>
          </a:p>
          <a:p>
            <a:r>
              <a:rPr lang="en-US" sz="3100" dirty="0" smtClean="0"/>
              <a:t>The </a:t>
            </a:r>
            <a:r>
              <a:rPr lang="en-US" sz="3100" dirty="0"/>
              <a:t>idea behind this package is to </a:t>
            </a:r>
            <a:r>
              <a:rPr lang="en-US" sz="3100" dirty="0" smtClean="0"/>
              <a:t>specify plot </a:t>
            </a:r>
            <a:r>
              <a:rPr lang="en-US" sz="3100" dirty="0"/>
              <a:t>building blocks and then combine them to create a graphical display</a:t>
            </a:r>
            <a:r>
              <a:rPr lang="en-US" sz="3100" dirty="0" smtClean="0"/>
              <a:t>.</a:t>
            </a:r>
          </a:p>
          <a:p>
            <a:pPr marL="0" indent="0">
              <a:buNone/>
            </a:pPr>
            <a:endParaRPr lang="en-US" sz="3100" dirty="0" smtClean="0"/>
          </a:p>
          <a:p>
            <a:r>
              <a:rPr lang="en-US" sz="3100" dirty="0" smtClean="0"/>
              <a:t>Building </a:t>
            </a:r>
            <a:r>
              <a:rPr lang="en-US" sz="3100" dirty="0"/>
              <a:t>blocks of ggplot2 include data, aesthetic mapping, geometric objects</a:t>
            </a:r>
            <a:r>
              <a:rPr lang="en-US" sz="3100" dirty="0" smtClean="0"/>
              <a:t>, statistical </a:t>
            </a:r>
            <a:r>
              <a:rPr lang="en-US" sz="3100" dirty="0"/>
              <a:t>transformations, scales, coordinate systems, position adjustments, </a:t>
            </a:r>
            <a:r>
              <a:rPr lang="en-US" sz="3100" dirty="0" smtClean="0"/>
              <a:t>and faceting.</a:t>
            </a:r>
            <a:endParaRPr lang="en-US" sz="3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7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0515600" cy="770021"/>
          </a:xfrm>
        </p:spPr>
        <p:txBody>
          <a:bodyPr/>
          <a:lstStyle/>
          <a:p>
            <a:r>
              <a:rPr lang="en-US" b="1" u="sng" dirty="0">
                <a:solidFill>
                  <a:srgbClr val="C00000"/>
                </a:solidFill>
              </a:rPr>
              <a:t>Basic Data </a:t>
            </a:r>
            <a:r>
              <a:rPr lang="en-US" b="1" u="sng" dirty="0" smtClean="0">
                <a:solidFill>
                  <a:srgbClr val="C00000"/>
                </a:solidFill>
              </a:rPr>
              <a:t>Visualization Techniques (</a:t>
            </a:r>
            <a:r>
              <a:rPr lang="en-US" b="1" u="sng" dirty="0" err="1" smtClean="0">
                <a:solidFill>
                  <a:srgbClr val="C00000"/>
                </a:solidFill>
              </a:rPr>
              <a:t>cont</a:t>
            </a:r>
            <a:r>
              <a:rPr lang="en-US" b="1" u="sng" dirty="0" smtClean="0">
                <a:solidFill>
                  <a:srgbClr val="C00000"/>
                </a:solidFill>
              </a:rPr>
              <a:t>….)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1010653"/>
            <a:ext cx="11805934" cy="558893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There </a:t>
            </a:r>
            <a:r>
              <a:rPr lang="en-US" sz="3200" dirty="0"/>
              <a:t>are a number of advantages to using </a:t>
            </a:r>
            <a:r>
              <a:rPr lang="en-US" sz="3200" dirty="0" smtClean="0"/>
              <a:t>ggplot2 versus </a:t>
            </a:r>
            <a:r>
              <a:rPr lang="en-US" sz="3200" dirty="0"/>
              <a:t>other </a:t>
            </a:r>
            <a:r>
              <a:rPr lang="en-US" sz="3200" dirty="0" smtClean="0"/>
              <a:t>visualization techniques </a:t>
            </a:r>
            <a:r>
              <a:rPr lang="en-US" sz="3200" dirty="0"/>
              <a:t>available in R.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These </a:t>
            </a:r>
            <a:r>
              <a:rPr lang="en-US" sz="3200" dirty="0"/>
              <a:t>advantages </a:t>
            </a:r>
            <a:r>
              <a:rPr lang="en-US" sz="3200" dirty="0" smtClean="0"/>
              <a:t>includes:</a:t>
            </a:r>
          </a:p>
          <a:p>
            <a:pPr lvl="1"/>
            <a:r>
              <a:rPr lang="en-US" sz="3200" dirty="0" smtClean="0"/>
              <a:t>consistent </a:t>
            </a:r>
            <a:r>
              <a:rPr lang="en-US" sz="3200" dirty="0"/>
              <a:t>style </a:t>
            </a:r>
            <a:r>
              <a:rPr lang="en-US" sz="3200" dirty="0" smtClean="0"/>
              <a:t>for defining </a:t>
            </a:r>
            <a:r>
              <a:rPr lang="en-US" sz="3200" dirty="0"/>
              <a:t>the </a:t>
            </a:r>
            <a:r>
              <a:rPr lang="en-US" sz="3200" dirty="0" smtClean="0"/>
              <a:t>graphics</a:t>
            </a:r>
          </a:p>
          <a:p>
            <a:pPr lvl="1"/>
            <a:r>
              <a:rPr lang="en-US" sz="3200" dirty="0" smtClean="0"/>
              <a:t>high </a:t>
            </a:r>
            <a:r>
              <a:rPr lang="en-US" sz="3200" dirty="0"/>
              <a:t>level of abstraction for specifying </a:t>
            </a:r>
            <a:r>
              <a:rPr lang="en-US" sz="3200" dirty="0" smtClean="0"/>
              <a:t>plots </a:t>
            </a:r>
          </a:p>
          <a:p>
            <a:pPr lvl="1"/>
            <a:r>
              <a:rPr lang="en-US" sz="3200" dirty="0" smtClean="0"/>
              <a:t>flexibility</a:t>
            </a:r>
          </a:p>
          <a:p>
            <a:pPr lvl="1"/>
            <a:r>
              <a:rPr lang="en-US" sz="3200" dirty="0" smtClean="0"/>
              <a:t>built-in </a:t>
            </a:r>
            <a:r>
              <a:rPr lang="en-US" sz="3200" dirty="0"/>
              <a:t>theming system for plot </a:t>
            </a:r>
            <a:r>
              <a:rPr lang="en-US" sz="3200" dirty="0" smtClean="0"/>
              <a:t>appearance</a:t>
            </a:r>
          </a:p>
          <a:p>
            <a:pPr lvl="1"/>
            <a:r>
              <a:rPr lang="en-US" sz="3200" dirty="0" smtClean="0"/>
              <a:t>mature </a:t>
            </a:r>
            <a:r>
              <a:rPr lang="en-US" sz="3200" dirty="0"/>
              <a:t>and complete </a:t>
            </a:r>
            <a:r>
              <a:rPr lang="en-US" sz="3200" dirty="0" smtClean="0"/>
              <a:t>graphics system</a:t>
            </a:r>
          </a:p>
          <a:p>
            <a:pPr lvl="1"/>
            <a:r>
              <a:rPr lang="en-US" sz="3200" dirty="0" smtClean="0"/>
              <a:t>access </a:t>
            </a:r>
            <a:r>
              <a:rPr lang="en-US" sz="3200" dirty="0"/>
              <a:t>to many other ggplot2 users for support.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3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Creating a scatterplot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59809"/>
            <a:ext cx="11873552" cy="5739776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A scatterplot is a graph in which the values of two variables are plotted </a:t>
            </a:r>
            <a:r>
              <a:rPr lang="en-US" sz="3200" dirty="0" smtClean="0"/>
              <a:t>along two </a:t>
            </a:r>
            <a:r>
              <a:rPr lang="en-US" sz="3200" dirty="0"/>
              <a:t>axes, with the pattern of the resulting points revealing any </a:t>
            </a:r>
            <a:r>
              <a:rPr lang="en-US" sz="3200" dirty="0" smtClean="0"/>
              <a:t>correlation present.</a:t>
            </a:r>
          </a:p>
          <a:p>
            <a:pPr marL="0" indent="0">
              <a:spcAft>
                <a:spcPts val="1200"/>
              </a:spcAft>
              <a:buNone/>
            </a:pPr>
            <a:endParaRPr lang="en-US" sz="3200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sz="4800" b="1" u="sng" dirty="0" smtClean="0">
                <a:solidFill>
                  <a:srgbClr val="FF0000"/>
                </a:solidFill>
              </a:rPr>
              <a:t>Exercise 1:</a:t>
            </a:r>
          </a:p>
          <a:p>
            <a:pPr marL="514350" indent="-514350">
              <a:spcAft>
                <a:spcPts val="1200"/>
              </a:spcAft>
              <a:buAutoNum type="arabicPeriod"/>
            </a:pPr>
            <a:r>
              <a:rPr lang="en-US" sz="3200" dirty="0" smtClean="0"/>
              <a:t>Load </a:t>
            </a:r>
            <a:r>
              <a:rPr lang="en-US" sz="3200" dirty="0" err="1" smtClean="0"/>
              <a:t>readr</a:t>
            </a:r>
            <a:r>
              <a:rPr lang="en-US" sz="3200" dirty="0" smtClean="0"/>
              <a:t>, </a:t>
            </a:r>
            <a:r>
              <a:rPr lang="en-US" sz="3200" dirty="0" err="1" smtClean="0"/>
              <a:t>dplyr</a:t>
            </a:r>
            <a:r>
              <a:rPr lang="en-US" sz="3200" dirty="0" smtClean="0"/>
              <a:t>, ggplot2 packages. – Make sure the Working Directory is set.</a:t>
            </a:r>
          </a:p>
          <a:p>
            <a:pPr marL="514350" indent="-514350">
              <a:spcAft>
                <a:spcPts val="1200"/>
              </a:spcAft>
              <a:buAutoNum type="arabicPeriod"/>
            </a:pPr>
            <a:r>
              <a:rPr lang="en-US" sz="3200" dirty="0" smtClean="0"/>
              <a:t>Load StudyArea.csv file into data frame.</a:t>
            </a:r>
          </a:p>
          <a:p>
            <a:pPr lvl="1">
              <a:spcAft>
                <a:spcPts val="1200"/>
              </a:spcAft>
            </a:pPr>
            <a:r>
              <a:rPr lang="en-US" sz="3200" dirty="0" err="1"/>
              <a:t>dfWildfires</a:t>
            </a:r>
            <a:r>
              <a:rPr lang="en-US" sz="3200" dirty="0"/>
              <a:t> &lt;- </a:t>
            </a:r>
            <a:r>
              <a:rPr lang="en-US" sz="3200" dirty="0" err="1" smtClean="0"/>
              <a:t>read_csv</a:t>
            </a:r>
            <a:r>
              <a:rPr lang="en-US" sz="3200" dirty="0" smtClean="0"/>
              <a:t>("StudyArea.csv</a:t>
            </a:r>
            <a:r>
              <a:rPr lang="en-US" sz="3200" dirty="0"/>
              <a:t>"</a:t>
            </a:r>
            <a:r>
              <a:rPr lang="en-US" sz="3200" dirty="0" smtClean="0"/>
              <a:t>, </a:t>
            </a:r>
            <a:r>
              <a:rPr lang="en-US" sz="3200" dirty="0" err="1"/>
              <a:t>col_types</a:t>
            </a:r>
            <a:r>
              <a:rPr lang="en-US" sz="3200" dirty="0"/>
              <a:t> = list(UNIT </a:t>
            </a:r>
            <a:r>
              <a:rPr lang="en-US" sz="3200" dirty="0" smtClean="0"/>
              <a:t>= </a:t>
            </a:r>
            <a:r>
              <a:rPr lang="en-US" sz="3200" dirty="0" err="1" smtClean="0"/>
              <a:t>col_character</a:t>
            </a:r>
            <a:r>
              <a:rPr lang="en-US" sz="3200" dirty="0"/>
              <a:t>()), </a:t>
            </a:r>
            <a:r>
              <a:rPr lang="en-US" sz="3200" dirty="0" err="1"/>
              <a:t>col_names</a:t>
            </a:r>
            <a:r>
              <a:rPr lang="en-US" sz="3200" dirty="0"/>
              <a:t> = TRUE</a:t>
            </a:r>
            <a:r>
              <a:rPr lang="en-US" sz="3200" dirty="0" smtClean="0"/>
              <a:t>)</a:t>
            </a:r>
          </a:p>
          <a:p>
            <a:pPr>
              <a:spcAft>
                <a:spcPts val="1200"/>
              </a:spcAft>
            </a:pP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1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2"/>
            <a:ext cx="11873552" cy="6160167"/>
          </a:xfrm>
        </p:spPr>
        <p:txBody>
          <a:bodyPr>
            <a:normAutofit fontScale="925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3200" dirty="0" smtClean="0"/>
              <a:t>3. Create </a:t>
            </a:r>
            <a:r>
              <a:rPr lang="en-US" sz="3200" dirty="0"/>
              <a:t>a subset of columns.</a:t>
            </a:r>
          </a:p>
          <a:p>
            <a:pPr lvl="1">
              <a:spcAft>
                <a:spcPts val="1200"/>
              </a:spcAft>
            </a:pPr>
            <a:r>
              <a:rPr lang="en-US" sz="3200" dirty="0" err="1"/>
              <a:t>df</a:t>
            </a:r>
            <a:r>
              <a:rPr lang="en-US" sz="3200" dirty="0"/>
              <a:t> &lt;- select(</a:t>
            </a:r>
            <a:r>
              <a:rPr lang="en-US" sz="3200" dirty="0" err="1"/>
              <a:t>dfWildfires</a:t>
            </a:r>
            <a:r>
              <a:rPr lang="en-US" sz="3200" dirty="0"/>
              <a:t>, ORGANIZATI, STATE, YEAR_, TOTALACRES</a:t>
            </a:r>
            <a:r>
              <a:rPr lang="en-US" sz="3200" dirty="0" smtClean="0"/>
              <a:t>, CAUSE</a:t>
            </a:r>
            <a:r>
              <a:rPr lang="en-US" sz="3200" dirty="0"/>
              <a:t>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3200" dirty="0" smtClean="0"/>
              <a:t>4. </a:t>
            </a:r>
            <a:r>
              <a:rPr lang="en-US" sz="3200" dirty="0"/>
              <a:t>Group the records by year.</a:t>
            </a:r>
          </a:p>
          <a:p>
            <a:pPr lvl="1">
              <a:spcAft>
                <a:spcPts val="1200"/>
              </a:spcAft>
            </a:pPr>
            <a:r>
              <a:rPr lang="en-US" sz="3200" dirty="0" err="1"/>
              <a:t>grp</a:t>
            </a:r>
            <a:r>
              <a:rPr lang="en-US" sz="3200" dirty="0"/>
              <a:t> &lt;- </a:t>
            </a:r>
            <a:r>
              <a:rPr lang="en-US" sz="3200" dirty="0" err="1"/>
              <a:t>group_by</a:t>
            </a:r>
            <a:r>
              <a:rPr lang="en-US" sz="3200" dirty="0"/>
              <a:t>(</a:t>
            </a:r>
            <a:r>
              <a:rPr lang="en-US" sz="3200" dirty="0" err="1"/>
              <a:t>df</a:t>
            </a:r>
            <a:r>
              <a:rPr lang="en-US" sz="3200" dirty="0"/>
              <a:t>, YEAR_)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3200" dirty="0"/>
              <a:t>5</a:t>
            </a:r>
            <a:r>
              <a:rPr lang="en-US" sz="3200" dirty="0" smtClean="0"/>
              <a:t>. </a:t>
            </a:r>
            <a:r>
              <a:rPr lang="en-US" sz="3200" dirty="0"/>
              <a:t>Summarize the data by total number of acres burned.</a:t>
            </a:r>
          </a:p>
          <a:p>
            <a:pPr lvl="1">
              <a:spcAft>
                <a:spcPts val="1200"/>
              </a:spcAft>
            </a:pPr>
            <a:r>
              <a:rPr lang="en-US" sz="3200" dirty="0" err="1"/>
              <a:t>sm</a:t>
            </a:r>
            <a:r>
              <a:rPr lang="en-US" sz="3200" dirty="0"/>
              <a:t> &lt;- summarize(</a:t>
            </a:r>
            <a:r>
              <a:rPr lang="en-US" sz="3200" dirty="0" err="1"/>
              <a:t>grp</a:t>
            </a:r>
            <a:r>
              <a:rPr lang="en-US" sz="3200" dirty="0"/>
              <a:t>, </a:t>
            </a:r>
            <a:r>
              <a:rPr lang="en-US" sz="3200" dirty="0" err="1"/>
              <a:t>totalacres</a:t>
            </a:r>
            <a:r>
              <a:rPr lang="en-US" sz="3200" dirty="0"/>
              <a:t> = sum(TOTALACRES</a:t>
            </a:r>
            <a:r>
              <a:rPr lang="en-US" sz="3200" dirty="0" smtClean="0"/>
              <a:t>))</a:t>
            </a: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6. </a:t>
            </a:r>
            <a:r>
              <a:rPr lang="en-US" sz="3200" dirty="0"/>
              <a:t>Use </a:t>
            </a:r>
            <a:r>
              <a:rPr lang="en-US" sz="3200" dirty="0" err="1"/>
              <a:t>ggplot</a:t>
            </a:r>
            <a:r>
              <a:rPr lang="en-US" sz="3200" dirty="0"/>
              <a:t>() to create a scatterplot with the </a:t>
            </a:r>
            <a:r>
              <a:rPr lang="en-US" sz="3200" dirty="0" smtClean="0"/>
              <a:t>YEAR_ </a:t>
            </a:r>
            <a:r>
              <a:rPr lang="en-US" sz="3200" dirty="0"/>
              <a:t>on the x axis and the </a:t>
            </a:r>
            <a:r>
              <a:rPr lang="en-US" sz="3200" dirty="0" smtClean="0"/>
              <a:t>  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/>
              <a:t> </a:t>
            </a:r>
            <a:r>
              <a:rPr lang="en-US" sz="3200" dirty="0" smtClean="0"/>
              <a:t>    </a:t>
            </a:r>
            <a:r>
              <a:rPr lang="en-US" sz="3200" dirty="0" err="1" smtClean="0"/>
              <a:t>totalacres</a:t>
            </a:r>
            <a:r>
              <a:rPr lang="en-US" sz="3200" dirty="0" smtClean="0"/>
              <a:t> </a:t>
            </a:r>
            <a:r>
              <a:rPr lang="en-US" sz="3200" dirty="0"/>
              <a:t>burned on the y axis.</a:t>
            </a:r>
          </a:p>
          <a:p>
            <a:pPr lvl="1">
              <a:spcAft>
                <a:spcPts val="1200"/>
              </a:spcAft>
            </a:pPr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) + </a:t>
            </a:r>
            <a:r>
              <a:rPr lang="en-US" sz="3200" dirty="0" err="1"/>
              <a:t>geom_point</a:t>
            </a:r>
            <a:r>
              <a:rPr lang="en-US" sz="3200" dirty="0"/>
              <a:t>(mapping = </a:t>
            </a:r>
            <a:r>
              <a:rPr lang="en-US" sz="3200" dirty="0" err="1"/>
              <a:t>aes</a:t>
            </a:r>
            <a:r>
              <a:rPr lang="en-US" sz="3200" dirty="0"/>
              <a:t>(x=YEAR_, y=</a:t>
            </a:r>
            <a:r>
              <a:rPr lang="en-US" sz="3200" dirty="0" err="1"/>
              <a:t>totalacres</a:t>
            </a:r>
            <a:r>
              <a:rPr lang="en-US" sz="3200" dirty="0"/>
              <a:t>))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0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1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2"/>
            <a:ext cx="11873552" cy="6160167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/>
              <a:t>7. </a:t>
            </a:r>
            <a:r>
              <a:rPr lang="en-US" sz="3200" dirty="0"/>
              <a:t>There are times when it makes sense to use the logarithmic </a:t>
            </a:r>
            <a:r>
              <a:rPr lang="en-US" sz="3200" dirty="0" smtClean="0"/>
              <a:t>scales in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charts and </a:t>
            </a:r>
            <a:r>
              <a:rPr lang="en-US" sz="3200" dirty="0"/>
              <a:t>graphs.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endParaRPr lang="en-US" sz="3200" dirty="0" smtClean="0"/>
          </a:p>
          <a:p>
            <a:pPr lvl="1"/>
            <a:r>
              <a:rPr lang="en-US" sz="3200" dirty="0" smtClean="0"/>
              <a:t>One </a:t>
            </a:r>
            <a:r>
              <a:rPr lang="en-US" sz="3200" dirty="0"/>
              <a:t>reason is to respond to </a:t>
            </a:r>
            <a:r>
              <a:rPr lang="en-US" sz="3200" dirty="0" err="1"/>
              <a:t>skewness</a:t>
            </a:r>
            <a:r>
              <a:rPr lang="en-US" sz="3200" dirty="0"/>
              <a:t> towards large values, </a:t>
            </a:r>
            <a:r>
              <a:rPr lang="en-US" sz="3200" dirty="0" err="1"/>
              <a:t>i.e</a:t>
            </a:r>
            <a:r>
              <a:rPr lang="en-US" sz="3200" dirty="0"/>
              <a:t>, </a:t>
            </a:r>
            <a:r>
              <a:rPr lang="en-US" sz="3200" dirty="0" smtClean="0"/>
              <a:t>cases in </a:t>
            </a:r>
            <a:r>
              <a:rPr lang="en-US" sz="3200" dirty="0"/>
              <a:t>which one or a few points are much larger than the bulk of the data. </a:t>
            </a:r>
            <a:endParaRPr lang="en-US" sz="3200" dirty="0" smtClean="0"/>
          </a:p>
          <a:p>
            <a:pPr marL="457200" lvl="1" indent="0">
              <a:buNone/>
            </a:pPr>
            <a:endParaRPr lang="en-US" sz="3200" dirty="0" smtClean="0"/>
          </a:p>
          <a:p>
            <a:pPr lvl="1"/>
            <a:r>
              <a:rPr lang="en-US" sz="3200" dirty="0" smtClean="0"/>
              <a:t>Create </a:t>
            </a:r>
            <a:r>
              <a:rPr lang="en-US" sz="3200" dirty="0"/>
              <a:t>the graph </a:t>
            </a:r>
            <a:r>
              <a:rPr lang="en-US" sz="3200" dirty="0" smtClean="0"/>
              <a:t>by using the log</a:t>
            </a:r>
            <a:r>
              <a:rPr lang="en-US" sz="3200" dirty="0"/>
              <a:t>() function on the </a:t>
            </a:r>
            <a:r>
              <a:rPr lang="en-US" sz="3200" dirty="0" err="1"/>
              <a:t>totalacres</a:t>
            </a:r>
            <a:r>
              <a:rPr lang="en-US" sz="3200" dirty="0"/>
              <a:t> column</a:t>
            </a:r>
            <a:r>
              <a:rPr lang="en-US" sz="3200" dirty="0" smtClean="0"/>
              <a:t>.</a:t>
            </a:r>
          </a:p>
          <a:p>
            <a:pPr marL="457200" lvl="1" indent="0">
              <a:buNone/>
            </a:pPr>
            <a:endParaRPr lang="en-US" sz="3200" dirty="0"/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) + </a:t>
            </a:r>
            <a:r>
              <a:rPr lang="en-US" sz="3200" dirty="0" err="1"/>
              <a:t>geom_point</a:t>
            </a:r>
            <a:r>
              <a:rPr lang="en-US" sz="3200" dirty="0"/>
              <a:t>(mapping =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7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69395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Step 6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845" y="938463"/>
            <a:ext cx="6064155" cy="5612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938463"/>
            <a:ext cx="6127845" cy="5666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7638839" y="170717"/>
            <a:ext cx="1693954" cy="770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FF0000"/>
                </a:solidFill>
              </a:rPr>
              <a:t>Step 7</a:t>
            </a:r>
            <a:endParaRPr lang="en-US" b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27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Adding a regression line to the scatterplot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73552" cy="5781438"/>
          </a:xfrm>
        </p:spPr>
        <p:txBody>
          <a:bodyPr>
            <a:normAutofit/>
          </a:bodyPr>
          <a:lstStyle/>
          <a:p>
            <a:r>
              <a:rPr lang="en-US" sz="3200" dirty="0"/>
              <a:t>Plots constructed with </a:t>
            </a:r>
            <a:r>
              <a:rPr lang="en-US" sz="3200" dirty="0" err="1"/>
              <a:t>ggplot</a:t>
            </a:r>
            <a:r>
              <a:rPr lang="en-US" sz="3200" dirty="0"/>
              <a:t>() can have more than one geometry. It’s </a:t>
            </a:r>
            <a:r>
              <a:rPr lang="en-US" sz="3200" dirty="0" smtClean="0"/>
              <a:t>common to </a:t>
            </a:r>
            <a:r>
              <a:rPr lang="en-US" sz="3200" dirty="0"/>
              <a:t>add a prediction (regression) line to the plot.</a:t>
            </a:r>
            <a:endParaRPr lang="en-US" sz="3200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sz="4800" b="1" u="sng" dirty="0" smtClean="0">
                <a:solidFill>
                  <a:srgbClr val="FF0000"/>
                </a:solidFill>
              </a:rPr>
              <a:t>Exercise 2: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There </a:t>
            </a:r>
            <a:r>
              <a:rPr lang="en-US" sz="3200" dirty="0"/>
              <a:t>are several ways that </a:t>
            </a:r>
            <a:r>
              <a:rPr lang="en-US" sz="3200" dirty="0" smtClean="0"/>
              <a:t>can </a:t>
            </a:r>
            <a:r>
              <a:rPr lang="en-US" sz="3200" dirty="0"/>
              <a:t>add a regression line to </a:t>
            </a:r>
            <a:r>
              <a:rPr lang="en-US" sz="3200" dirty="0" smtClean="0"/>
              <a:t>the scatterplot, one of which is to use the </a:t>
            </a:r>
            <a:r>
              <a:rPr lang="en-US" sz="3200" dirty="0" err="1" smtClean="0"/>
              <a:t>geom_smooth</a:t>
            </a:r>
            <a:r>
              <a:rPr lang="en-US" sz="3200" dirty="0" smtClean="0"/>
              <a:t>() function with the method set to lm (</a:t>
            </a:r>
            <a:r>
              <a:rPr lang="en-US" sz="3200" dirty="0"/>
              <a:t>straight line) and the se parameter set to FALSE.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err="1" smtClean="0"/>
              <a:t>ggplot</a:t>
            </a:r>
            <a:r>
              <a:rPr lang="en-US" sz="3200" dirty="0" smtClean="0"/>
              <a:t>(data=</a:t>
            </a:r>
            <a:r>
              <a:rPr lang="en-US" sz="3200" dirty="0" err="1" smtClean="0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/>
              <a:t>geom_point</a:t>
            </a:r>
            <a:r>
              <a:rPr lang="en-US" sz="3200" dirty="0"/>
              <a:t>() </a:t>
            </a:r>
            <a:r>
              <a:rPr lang="en-US" sz="3200" dirty="0" smtClean="0"/>
              <a:t>+ </a:t>
            </a:r>
            <a:r>
              <a:rPr lang="en-US" sz="3200" dirty="0" err="1" smtClean="0"/>
              <a:t>geom_smooth</a:t>
            </a:r>
            <a:r>
              <a:rPr lang="en-US" sz="3200" dirty="0" smtClean="0"/>
              <a:t>(method=lm</a:t>
            </a:r>
            <a:r>
              <a:rPr lang="en-US" sz="3200" dirty="0"/>
              <a:t>, se=FALSE)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20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</a:pPr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2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….)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818147"/>
            <a:ext cx="11873552" cy="57814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/>
              <a:t>3. You </a:t>
            </a:r>
            <a:r>
              <a:rPr lang="en-US" sz="3200" dirty="0"/>
              <a:t>can add a confidence interval around the regression line by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setting </a:t>
            </a:r>
            <a:r>
              <a:rPr lang="en-US" sz="3200" dirty="0"/>
              <a:t>se </a:t>
            </a:r>
            <a:r>
              <a:rPr lang="en-US" sz="3200" dirty="0" smtClean="0"/>
              <a:t>= TRUE.</a:t>
            </a:r>
          </a:p>
          <a:p>
            <a:pPr>
              <a:spcBef>
                <a:spcPts val="0"/>
              </a:spcBef>
            </a:pPr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/>
              <a:t>geom_point</a:t>
            </a:r>
            <a:r>
              <a:rPr lang="en-US" sz="3200" dirty="0"/>
              <a:t>() + </a:t>
            </a:r>
            <a:r>
              <a:rPr lang="en-US" sz="3200" dirty="0" err="1"/>
              <a:t>geom_smooth</a:t>
            </a:r>
            <a:r>
              <a:rPr lang="en-US" sz="3200" dirty="0"/>
              <a:t>(method=loess, se=TRUE)</a:t>
            </a:r>
          </a:p>
          <a:p>
            <a:pPr marL="0" indent="0">
              <a:spcBef>
                <a:spcPts val="0"/>
              </a:spcBef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10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346" y="3140436"/>
            <a:ext cx="5463653" cy="354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62" y="3248166"/>
            <a:ext cx="5076967" cy="3340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162141" y="2961563"/>
            <a:ext cx="1693954" cy="573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FF0000"/>
                </a:solidFill>
              </a:rPr>
              <a:t>Step 2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7452321" y="2567231"/>
            <a:ext cx="1693954" cy="573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FF0000"/>
                </a:solidFill>
              </a:rPr>
              <a:t>Step 3</a:t>
            </a:r>
            <a:endParaRPr lang="en-US" b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094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Plotting Categories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/>
          </a:bodyPr>
          <a:lstStyle/>
          <a:p>
            <a:r>
              <a:rPr lang="en-US" sz="3200" dirty="0"/>
              <a:t>Rather than graphing the entire set of wildfires you might want to </a:t>
            </a:r>
            <a:r>
              <a:rPr lang="en-US" sz="3200" dirty="0" smtClean="0"/>
              <a:t>better understand </a:t>
            </a:r>
            <a:r>
              <a:rPr lang="en-US" sz="3200" dirty="0"/>
              <a:t>the trends by state. </a:t>
            </a:r>
            <a:endParaRPr lang="en-US" sz="3200" dirty="0" smtClean="0"/>
          </a:p>
          <a:p>
            <a:r>
              <a:rPr lang="en-US" sz="3200" dirty="0"/>
              <a:t>C</a:t>
            </a:r>
            <a:r>
              <a:rPr lang="en-US" sz="3200" dirty="0" smtClean="0"/>
              <a:t>reate </a:t>
            </a:r>
            <a:r>
              <a:rPr lang="en-US" sz="3200" dirty="0"/>
              <a:t>a new scatterplot </a:t>
            </a:r>
            <a:r>
              <a:rPr lang="en-US" sz="3200" dirty="0" smtClean="0"/>
              <a:t>that visualizes </a:t>
            </a:r>
            <a:r>
              <a:rPr lang="en-US" sz="3200" dirty="0"/>
              <a:t>wildfires trends over time by state.</a:t>
            </a:r>
            <a:endParaRPr lang="en-US" sz="3200" dirty="0" smtClean="0"/>
          </a:p>
          <a:p>
            <a:pPr marL="0" indent="0">
              <a:spcAft>
                <a:spcPts val="1200"/>
              </a:spcAft>
              <a:buNone/>
            </a:pPr>
            <a:r>
              <a:rPr lang="en-US" sz="4800" b="1" u="sng" dirty="0" smtClean="0">
                <a:solidFill>
                  <a:srgbClr val="FF0000"/>
                </a:solidFill>
              </a:rPr>
              <a:t>Exercise 3:</a:t>
            </a:r>
          </a:p>
          <a:p>
            <a:pPr marL="0" indent="0">
              <a:buNone/>
            </a:pPr>
            <a:r>
              <a:rPr lang="en-US" sz="3200" dirty="0"/>
              <a:t>1. Regroup the wildfires data frame by state and year.</a:t>
            </a:r>
          </a:p>
          <a:p>
            <a:pPr lvl="1"/>
            <a:r>
              <a:rPr lang="en-US" sz="3200" dirty="0" err="1"/>
              <a:t>grp</a:t>
            </a:r>
            <a:r>
              <a:rPr lang="en-US" sz="3200" dirty="0"/>
              <a:t> &lt;- </a:t>
            </a:r>
            <a:r>
              <a:rPr lang="en-US" sz="3200" dirty="0" err="1"/>
              <a:t>group_by</a:t>
            </a:r>
            <a:r>
              <a:rPr lang="en-US" sz="3200" dirty="0"/>
              <a:t>(</a:t>
            </a:r>
            <a:r>
              <a:rPr lang="en-US" sz="3200" dirty="0" err="1"/>
              <a:t>df</a:t>
            </a:r>
            <a:r>
              <a:rPr lang="en-US" sz="3200" dirty="0"/>
              <a:t>, STATE, YEAR</a:t>
            </a:r>
            <a:r>
              <a:rPr lang="en-US" sz="3200" dirty="0" smtClean="0"/>
              <a:t>_)</a:t>
            </a:r>
          </a:p>
          <a:p>
            <a:pPr marL="457200" lvl="1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Summarize the groups by total acres burned.</a:t>
            </a:r>
          </a:p>
          <a:p>
            <a:pPr lvl="1"/>
            <a:r>
              <a:rPr lang="en-US" sz="3200" dirty="0" err="1"/>
              <a:t>sm</a:t>
            </a:r>
            <a:r>
              <a:rPr lang="en-US" sz="3200" dirty="0"/>
              <a:t> &lt;- summarize(</a:t>
            </a:r>
            <a:r>
              <a:rPr lang="en-US" sz="3200" dirty="0" err="1"/>
              <a:t>grp</a:t>
            </a:r>
            <a:r>
              <a:rPr lang="en-US" sz="3200" dirty="0"/>
              <a:t>, </a:t>
            </a:r>
            <a:r>
              <a:rPr lang="en-US" sz="3200" dirty="0" err="1"/>
              <a:t>totalacres</a:t>
            </a:r>
            <a:r>
              <a:rPr lang="en-US" sz="3200" dirty="0"/>
              <a:t> = sum(TOTALACRES</a:t>
            </a:r>
            <a:r>
              <a:rPr lang="en-US" sz="3200" dirty="0" smtClean="0"/>
              <a:t>))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18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</a:pPr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3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 smtClean="0"/>
              <a:t>3. Add a </a:t>
            </a:r>
            <a:r>
              <a:rPr lang="en-US" sz="3200" dirty="0" err="1" smtClean="0"/>
              <a:t>colour</a:t>
            </a:r>
            <a:r>
              <a:rPr lang="en-US" sz="3200" dirty="0" smtClean="0"/>
              <a:t> </a:t>
            </a:r>
            <a:r>
              <a:rPr lang="en-US" sz="3200" dirty="0"/>
              <a:t>parameter to the </a:t>
            </a:r>
            <a:r>
              <a:rPr lang="en-US" sz="3200" dirty="0" err="1"/>
              <a:t>aes</a:t>
            </a:r>
            <a:r>
              <a:rPr lang="en-US" sz="3200" dirty="0"/>
              <a:t>() function so that the points and </a:t>
            </a:r>
            <a:r>
              <a:rPr lang="en-US" sz="3200" dirty="0" smtClean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regression </a:t>
            </a:r>
            <a:r>
              <a:rPr lang="en-US" sz="3200" dirty="0"/>
              <a:t>line </a:t>
            </a:r>
            <a:r>
              <a:rPr lang="en-US" sz="3200" dirty="0" smtClean="0"/>
              <a:t>are mapped </a:t>
            </a:r>
            <a:r>
              <a:rPr lang="en-US" sz="3200" dirty="0"/>
              <a:t>according to the state in which they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occurred</a:t>
            </a:r>
            <a:r>
              <a:rPr lang="en-US" sz="3200" dirty="0"/>
              <a:t>.</a:t>
            </a:r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</a:t>
            </a:r>
            <a:r>
              <a:rPr lang="en-US" sz="3200" dirty="0" err="1"/>
              <a:t>totalacres</a:t>
            </a:r>
            <a:r>
              <a:rPr lang="en-US" sz="3200" dirty="0"/>
              <a:t>, </a:t>
            </a:r>
            <a:r>
              <a:rPr lang="en-US" sz="3200" dirty="0" err="1"/>
              <a:t>colour</a:t>
            </a:r>
            <a:r>
              <a:rPr lang="en-US" sz="3200" dirty="0"/>
              <a:t>=STATE)) + </a:t>
            </a:r>
            <a:r>
              <a:rPr lang="en-US" sz="3200" dirty="0" err="1" smtClean="0"/>
              <a:t>geom_point</a:t>
            </a:r>
            <a:r>
              <a:rPr lang="en-US" sz="3200" dirty="0" smtClean="0"/>
              <a:t>(</a:t>
            </a:r>
            <a:r>
              <a:rPr lang="en-US" sz="3200" dirty="0" err="1" smtClean="0"/>
              <a:t>aes</a:t>
            </a:r>
            <a:r>
              <a:rPr lang="en-US" sz="3200" dirty="0" smtClean="0"/>
              <a:t>(</a:t>
            </a:r>
            <a:r>
              <a:rPr lang="en-US" sz="3200" dirty="0" err="1" smtClean="0"/>
              <a:t>colour</a:t>
            </a:r>
            <a:r>
              <a:rPr lang="en-US" sz="3200" dirty="0" smtClean="0"/>
              <a:t> </a:t>
            </a:r>
            <a:r>
              <a:rPr lang="en-US" sz="3200" dirty="0"/>
              <a:t>= STATE)) + </a:t>
            </a:r>
            <a:r>
              <a:rPr lang="en-US" sz="3200" dirty="0" err="1"/>
              <a:t>stat_smooth</a:t>
            </a:r>
            <a:r>
              <a:rPr lang="en-US" sz="3200" dirty="0"/>
              <a:t>(method=lm, se=FALSE)</a:t>
            </a:r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547" y="3352800"/>
            <a:ext cx="7700712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8916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Labeling the graph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777921"/>
            <a:ext cx="11873552" cy="5821663"/>
          </a:xfrm>
        </p:spPr>
        <p:txBody>
          <a:bodyPr>
            <a:normAutofit/>
          </a:bodyPr>
          <a:lstStyle/>
          <a:p>
            <a:r>
              <a:rPr lang="en-US" sz="3200" dirty="0"/>
              <a:t>You can add labels to your graph through either the </a:t>
            </a:r>
            <a:r>
              <a:rPr lang="en-US" sz="3200" dirty="0" err="1"/>
              <a:t>geom_text</a:t>
            </a:r>
            <a:r>
              <a:rPr lang="en-US" sz="3200" dirty="0"/>
              <a:t>() function or </a:t>
            </a:r>
            <a:r>
              <a:rPr lang="en-US" sz="3200" dirty="0" smtClean="0"/>
              <a:t>the </a:t>
            </a:r>
            <a:r>
              <a:rPr lang="en-US" sz="3200" dirty="0" err="1" smtClean="0"/>
              <a:t>geom</a:t>
            </a:r>
            <a:r>
              <a:rPr lang="en-US" sz="3200" dirty="0"/>
              <a:t>_ label() function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4800" b="1" u="sng" dirty="0">
                <a:solidFill>
                  <a:srgbClr val="FF0000"/>
                </a:solidFill>
              </a:rPr>
              <a:t>Exercise </a:t>
            </a:r>
            <a:r>
              <a:rPr lang="en-US" sz="4800" b="1" u="sng" dirty="0" smtClean="0">
                <a:solidFill>
                  <a:srgbClr val="FF0000"/>
                </a:solidFill>
              </a:rPr>
              <a:t>4:</a:t>
            </a:r>
          </a:p>
          <a:p>
            <a:pPr marL="514350" indent="-514350">
              <a:buAutoNum type="arabicPeriod"/>
            </a:pPr>
            <a:r>
              <a:rPr lang="en-US" sz="3200" dirty="0" smtClean="0"/>
              <a:t>Label </a:t>
            </a:r>
            <a:r>
              <a:rPr lang="en-US" sz="3200" dirty="0"/>
              <a:t>each of the points on the scatterplot using </a:t>
            </a:r>
            <a:r>
              <a:rPr lang="en-US" sz="3200" dirty="0" err="1"/>
              <a:t>geom_text</a:t>
            </a:r>
            <a:r>
              <a:rPr lang="en-US" sz="3200" dirty="0"/>
              <a:t>() with a </a:t>
            </a:r>
            <a:r>
              <a:rPr lang="en-US" sz="3200" dirty="0" smtClean="0"/>
              <a:t>label size of 3.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 smtClean="0"/>
              <a:t>ggplot</a:t>
            </a:r>
            <a:r>
              <a:rPr lang="en-US" sz="3200" dirty="0" smtClean="0"/>
              <a:t>(data=</a:t>
            </a:r>
            <a:r>
              <a:rPr lang="en-US" sz="3200" dirty="0" err="1" smtClean="0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/>
              <a:t>geom_point</a:t>
            </a:r>
            <a:r>
              <a:rPr lang="en-US" sz="3200" dirty="0"/>
              <a:t>() </a:t>
            </a:r>
            <a:r>
              <a:rPr lang="en-US" sz="3200" dirty="0" smtClean="0"/>
              <a:t>+ </a:t>
            </a:r>
            <a:r>
              <a:rPr lang="en-US" sz="3200" dirty="0" err="1" smtClean="0"/>
              <a:t>geom_smooth</a:t>
            </a:r>
            <a:r>
              <a:rPr lang="en-US" sz="3200" dirty="0" smtClean="0"/>
              <a:t>(method=loess</a:t>
            </a:r>
            <a:r>
              <a:rPr lang="en-US" sz="3200" dirty="0"/>
              <a:t>, se=TRUE) + </a:t>
            </a:r>
            <a:r>
              <a:rPr lang="en-US" sz="3200" dirty="0" err="1"/>
              <a:t>geom_text</a:t>
            </a:r>
            <a:r>
              <a:rPr lang="en-US" sz="3200" dirty="0"/>
              <a:t>(</a:t>
            </a:r>
            <a:r>
              <a:rPr lang="en-US" sz="3200" dirty="0" err="1"/>
              <a:t>aes</a:t>
            </a:r>
            <a:r>
              <a:rPr lang="en-US" sz="3200" dirty="0"/>
              <a:t>(label=STATE</a:t>
            </a:r>
            <a:r>
              <a:rPr lang="en-US" sz="3200" dirty="0" smtClean="0"/>
              <a:t>),size=3</a:t>
            </a:r>
            <a:r>
              <a:rPr lang="en-US" sz="32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73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14</a:t>
            </a:fld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00251"/>
            <a:ext cx="11918827" cy="6557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4068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4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2069170" cy="5901752"/>
          </a:xfrm>
        </p:spPr>
        <p:txBody>
          <a:bodyPr>
            <a:normAutofit/>
          </a:bodyPr>
          <a:lstStyle/>
          <a:p>
            <a:r>
              <a:rPr lang="en-US" sz="3200" dirty="0"/>
              <a:t>The display is extremely </a:t>
            </a:r>
            <a:r>
              <a:rPr lang="en-US" sz="3200" dirty="0" smtClean="0"/>
              <a:t>cluttered so </a:t>
            </a:r>
            <a:r>
              <a:rPr lang="en-US" sz="3200" dirty="0"/>
              <a:t>let’s adjust a few parameters to make this easier to read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2. You can use the </a:t>
            </a:r>
            <a:r>
              <a:rPr lang="en-US" sz="3200" dirty="0" err="1" smtClean="0"/>
              <a:t>check_overlap</a:t>
            </a:r>
            <a:r>
              <a:rPr lang="en-US" sz="3200" dirty="0" smtClean="0"/>
              <a:t> parameter </a:t>
            </a:r>
            <a:r>
              <a:rPr lang="en-US" sz="3200" dirty="0"/>
              <a:t>to remove any overlapping labels.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err="1" smtClean="0"/>
              <a:t>ggplot</a:t>
            </a:r>
            <a:r>
              <a:rPr lang="en-US" sz="3200" dirty="0" smtClean="0"/>
              <a:t>(data=</a:t>
            </a:r>
            <a:r>
              <a:rPr lang="en-US" sz="3200" dirty="0" err="1" smtClean="0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/>
              <a:t>geom_point</a:t>
            </a:r>
            <a:r>
              <a:rPr lang="en-US" sz="3200" dirty="0"/>
              <a:t>() </a:t>
            </a:r>
            <a:r>
              <a:rPr lang="en-US" sz="3200" dirty="0" smtClean="0"/>
              <a:t>+ </a:t>
            </a:r>
            <a:r>
              <a:rPr lang="en-US" sz="3200" dirty="0" err="1" smtClean="0"/>
              <a:t>geom_smooth</a:t>
            </a:r>
            <a:r>
              <a:rPr lang="en-US" sz="3200" dirty="0" smtClean="0"/>
              <a:t>(method=loess</a:t>
            </a:r>
            <a:r>
              <a:rPr lang="en-US" sz="3200" dirty="0"/>
              <a:t>, se=TRUE) </a:t>
            </a:r>
            <a:r>
              <a:rPr lang="en-US" sz="3200" dirty="0" smtClean="0"/>
              <a:t>+ </a:t>
            </a:r>
            <a:r>
              <a:rPr lang="en-US" sz="3200" dirty="0" err="1" smtClean="0"/>
              <a:t>geom_text</a:t>
            </a:r>
            <a:r>
              <a:rPr lang="en-US" sz="3200" dirty="0" smtClean="0"/>
              <a:t>(</a:t>
            </a:r>
            <a:r>
              <a:rPr lang="en-US" sz="3200" dirty="0" err="1" smtClean="0"/>
              <a:t>aes</a:t>
            </a:r>
            <a:r>
              <a:rPr lang="en-US" sz="3200" dirty="0" smtClean="0"/>
              <a:t>(label=STATE), size=3</a:t>
            </a:r>
            <a:r>
              <a:rPr lang="en-US" sz="3200" dirty="0"/>
              <a:t>, </a:t>
            </a:r>
            <a:r>
              <a:rPr lang="en-US" sz="3200" dirty="0" err="1"/>
              <a:t>check_overlap</a:t>
            </a:r>
            <a:r>
              <a:rPr lang="en-US" sz="3200" dirty="0"/>
              <a:t> = TRUE</a:t>
            </a:r>
            <a:r>
              <a:rPr lang="en-US" sz="3200" dirty="0" smtClean="0"/>
              <a:t>)</a:t>
            </a:r>
            <a:r>
              <a:rPr lang="en-US" sz="4800" b="1" u="sng" dirty="0" smtClean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74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4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16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69" y="697832"/>
            <a:ext cx="11309684" cy="5919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9847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4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2069170" cy="5901752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3. This look quite a bit better but if you change the label size to 2 it </a:t>
            </a:r>
            <a:r>
              <a:rPr lang="en-US" sz="3200" dirty="0" smtClean="0"/>
              <a:t>will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further reduce </a:t>
            </a:r>
            <a:r>
              <a:rPr lang="en-US" sz="3200" dirty="0"/>
              <a:t>the clutter and overlapping while hopefully still </a:t>
            </a:r>
            <a:r>
              <a:rPr lang="en-US" sz="3200" dirty="0" smtClean="0"/>
              <a:t>being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17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26" y="2197290"/>
            <a:ext cx="9938085" cy="4660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5380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4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7833"/>
            <a:ext cx="12192000" cy="590175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4. </a:t>
            </a:r>
            <a:r>
              <a:rPr lang="en-US" sz="3200" dirty="0" smtClean="0"/>
              <a:t>Notice </a:t>
            </a:r>
            <a:r>
              <a:rPr lang="en-US" sz="3200" dirty="0"/>
              <a:t>that the labels sit directly on top of the topics. </a:t>
            </a:r>
            <a:r>
              <a:rPr lang="en-US" sz="3200" dirty="0" smtClean="0"/>
              <a:t>You can use </a:t>
            </a:r>
            <a:r>
              <a:rPr lang="en-US" sz="3200" dirty="0"/>
              <a:t>the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</a:t>
            </a:r>
            <a:r>
              <a:rPr lang="en-US" sz="3200" dirty="0" err="1" smtClean="0"/>
              <a:t>nudge_x</a:t>
            </a:r>
            <a:r>
              <a:rPr lang="en-US" sz="3200" dirty="0" smtClean="0"/>
              <a:t> </a:t>
            </a:r>
            <a:r>
              <a:rPr lang="en-US" sz="3200" dirty="0"/>
              <a:t>and </a:t>
            </a:r>
            <a:r>
              <a:rPr lang="en-US" sz="3200" dirty="0" err="1"/>
              <a:t>nudge_y</a:t>
            </a:r>
            <a:r>
              <a:rPr lang="en-US" sz="3200" dirty="0"/>
              <a:t> parameters to move the labels relative to the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point. </a:t>
            </a:r>
          </a:p>
          <a:p>
            <a:r>
              <a:rPr lang="en-US" sz="3200" dirty="0" err="1" smtClean="0"/>
              <a:t>ggplot</a:t>
            </a:r>
            <a:r>
              <a:rPr lang="en-US" sz="3200" dirty="0" smtClean="0"/>
              <a:t>(data=</a:t>
            </a:r>
            <a:r>
              <a:rPr lang="en-US" sz="3200" dirty="0" err="1" smtClean="0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/>
              <a:t>geom_point</a:t>
            </a:r>
            <a:r>
              <a:rPr lang="en-US" sz="3200" dirty="0"/>
              <a:t>() </a:t>
            </a:r>
            <a:r>
              <a:rPr lang="en-US" sz="3200" dirty="0" smtClean="0"/>
              <a:t>+ </a:t>
            </a:r>
            <a:r>
              <a:rPr lang="en-US" sz="3200" dirty="0" err="1" smtClean="0"/>
              <a:t>geom_smooth</a:t>
            </a:r>
            <a:r>
              <a:rPr lang="en-US" sz="3200" dirty="0" smtClean="0"/>
              <a:t>(method=loess</a:t>
            </a:r>
            <a:r>
              <a:rPr lang="en-US" sz="3200" dirty="0"/>
              <a:t>, se=TRUE) + </a:t>
            </a:r>
            <a:r>
              <a:rPr lang="en-US" sz="3200" dirty="0" err="1" smtClean="0"/>
              <a:t>geom_text</a:t>
            </a:r>
            <a:r>
              <a:rPr lang="en-US" sz="3200" dirty="0" smtClean="0"/>
              <a:t>(</a:t>
            </a:r>
            <a:r>
              <a:rPr lang="en-US" sz="3200" dirty="0" err="1" smtClean="0"/>
              <a:t>aes</a:t>
            </a:r>
            <a:r>
              <a:rPr lang="en-US" sz="3200" dirty="0" smtClean="0"/>
              <a:t>(label=STATE), size=2</a:t>
            </a:r>
            <a:r>
              <a:rPr lang="en-US" sz="3200" dirty="0"/>
              <a:t>, </a:t>
            </a:r>
            <a:r>
              <a:rPr lang="en-US" sz="3200" dirty="0" err="1"/>
              <a:t>check_overlap</a:t>
            </a:r>
            <a:r>
              <a:rPr lang="en-US" sz="3200" dirty="0"/>
              <a:t> = TRUE, </a:t>
            </a:r>
            <a:r>
              <a:rPr lang="en-US" sz="3200" dirty="0" err="1"/>
              <a:t>nudge_x</a:t>
            </a:r>
            <a:r>
              <a:rPr lang="en-US" sz="3200" dirty="0"/>
              <a:t> = 1.0</a:t>
            </a:r>
            <a:r>
              <a:rPr lang="en-US" sz="3200" dirty="0" smtClean="0"/>
              <a:t>)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 smtClean="0"/>
              <a:t> 5</a:t>
            </a:r>
            <a:r>
              <a:rPr lang="en-US" sz="3200" dirty="0"/>
              <a:t>. You can also color the labels by category by adding the color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parameter </a:t>
            </a:r>
            <a:r>
              <a:rPr lang="en-US" sz="3200" dirty="0"/>
              <a:t>to </a:t>
            </a:r>
            <a:r>
              <a:rPr lang="en-US" sz="3200" dirty="0" smtClean="0"/>
              <a:t>the </a:t>
            </a:r>
            <a:r>
              <a:rPr lang="en-US" sz="3200" dirty="0" err="1" smtClean="0"/>
              <a:t>aes</a:t>
            </a:r>
            <a:r>
              <a:rPr lang="en-US" sz="3200" dirty="0"/>
              <a:t>() for </a:t>
            </a:r>
            <a:r>
              <a:rPr lang="en-US" sz="3200" dirty="0" err="1"/>
              <a:t>geom_text</a:t>
            </a:r>
            <a:r>
              <a:rPr lang="en-US" sz="3200" dirty="0" smtClean="0"/>
              <a:t>().</a:t>
            </a:r>
            <a:endParaRPr lang="en-US" sz="3200" dirty="0"/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/>
              <a:t>geom_point</a:t>
            </a:r>
            <a:r>
              <a:rPr lang="en-US" sz="3200" dirty="0"/>
              <a:t>() </a:t>
            </a:r>
            <a:r>
              <a:rPr lang="en-US" sz="3200" dirty="0" smtClean="0"/>
              <a:t>+ </a:t>
            </a:r>
            <a:r>
              <a:rPr lang="en-US" sz="3200" dirty="0" err="1" smtClean="0"/>
              <a:t>geom_smooth</a:t>
            </a:r>
            <a:r>
              <a:rPr lang="en-US" sz="3200" dirty="0" smtClean="0"/>
              <a:t>(method=loess</a:t>
            </a:r>
            <a:r>
              <a:rPr lang="en-US" sz="3200" dirty="0"/>
              <a:t>, </a:t>
            </a:r>
            <a:r>
              <a:rPr lang="en-US" sz="3200" dirty="0" smtClean="0"/>
              <a:t>se=TRUE</a:t>
            </a:r>
            <a:r>
              <a:rPr lang="en-US" sz="3200" dirty="0"/>
              <a:t>) + </a:t>
            </a:r>
            <a:r>
              <a:rPr lang="en-US" sz="3200" dirty="0" err="1"/>
              <a:t>geom_text</a:t>
            </a:r>
            <a:r>
              <a:rPr lang="en-US" sz="3200" dirty="0"/>
              <a:t>(</a:t>
            </a:r>
            <a:r>
              <a:rPr lang="en-US" sz="3200" dirty="0" err="1"/>
              <a:t>aes</a:t>
            </a:r>
            <a:r>
              <a:rPr lang="en-US" sz="3200" dirty="0"/>
              <a:t>(label=STATE</a:t>
            </a:r>
            <a:r>
              <a:rPr lang="en-US" sz="3200" dirty="0" smtClean="0"/>
              <a:t>, color=STATE</a:t>
            </a:r>
            <a:r>
              <a:rPr lang="en-US" sz="3200" dirty="0"/>
              <a:t>), size=2, </a:t>
            </a:r>
            <a:r>
              <a:rPr lang="en-US" sz="3200" dirty="0" err="1"/>
              <a:t>check_overlap</a:t>
            </a:r>
            <a:r>
              <a:rPr lang="en-US" sz="3200" dirty="0"/>
              <a:t> = TRUE, </a:t>
            </a:r>
            <a:r>
              <a:rPr lang="en-US" sz="3200" dirty="0" err="1"/>
              <a:t>nudge_x</a:t>
            </a:r>
            <a:r>
              <a:rPr lang="en-US" sz="3200" dirty="0"/>
              <a:t> = 1.0)</a:t>
            </a:r>
            <a:endParaRPr lang="en-US" sz="3200" b="1" u="sng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08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4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7833"/>
            <a:ext cx="12192000" cy="590175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6</a:t>
            </a:r>
            <a:r>
              <a:rPr lang="en-US" sz="3200" dirty="0" smtClean="0"/>
              <a:t>. Add a subtitle and caption with the code you see below, </a:t>
            </a:r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/>
              <a:t>geom_point</a:t>
            </a:r>
            <a:r>
              <a:rPr lang="en-US" sz="3200" dirty="0"/>
              <a:t>() </a:t>
            </a:r>
            <a:r>
              <a:rPr lang="en-US" sz="3200" dirty="0" smtClean="0"/>
              <a:t>+ </a:t>
            </a:r>
            <a:r>
              <a:rPr lang="en-US" sz="3200" dirty="0" err="1" smtClean="0"/>
              <a:t>geom_smooth</a:t>
            </a:r>
            <a:r>
              <a:rPr lang="en-US" sz="3200" dirty="0" smtClean="0"/>
              <a:t>(method=loess</a:t>
            </a:r>
            <a:r>
              <a:rPr lang="en-US" sz="3200" dirty="0"/>
              <a:t>, se=TRUE) + </a:t>
            </a:r>
            <a:r>
              <a:rPr lang="en-US" sz="3200" dirty="0" smtClean="0"/>
              <a:t>labs(title=paste("Acreage </a:t>
            </a:r>
            <a:r>
              <a:rPr lang="en-US" sz="3200" dirty="0"/>
              <a:t>Burned </a:t>
            </a:r>
            <a:r>
              <a:rPr lang="en-US" sz="3200" dirty="0" smtClean="0"/>
              <a:t>by Wildfires </a:t>
            </a:r>
            <a:r>
              <a:rPr lang="en-US" sz="3200" dirty="0"/>
              <a:t>Has Increased In the Past Few </a:t>
            </a:r>
            <a:r>
              <a:rPr lang="en-US" sz="3200" dirty="0" smtClean="0"/>
              <a:t>Decades</a:t>
            </a:r>
            <a:r>
              <a:rPr lang="en-US" sz="3200" dirty="0"/>
              <a:t>"</a:t>
            </a:r>
            <a:r>
              <a:rPr lang="en-US" sz="3200" dirty="0" smtClean="0"/>
              <a:t>), subtitle=paste(</a:t>
            </a:r>
            <a:r>
              <a:rPr lang="en-US" sz="3200" dirty="0"/>
              <a:t>"</a:t>
            </a:r>
            <a:r>
              <a:rPr lang="en-US" sz="3200" dirty="0" smtClean="0"/>
              <a:t>1980-2016</a:t>
            </a:r>
            <a:r>
              <a:rPr lang="en-US" sz="3200" dirty="0"/>
              <a:t>"</a:t>
            </a:r>
            <a:r>
              <a:rPr lang="en-US" sz="3200" dirty="0" smtClean="0"/>
              <a:t>), caption=</a:t>
            </a:r>
            <a:r>
              <a:rPr lang="en-US" sz="3200" dirty="0"/>
              <a:t>"</a:t>
            </a:r>
            <a:r>
              <a:rPr lang="en-US" sz="3200" dirty="0" smtClean="0"/>
              <a:t>Data </a:t>
            </a:r>
            <a:r>
              <a:rPr lang="en-US" sz="3200" dirty="0"/>
              <a:t>from </a:t>
            </a:r>
            <a:r>
              <a:rPr lang="en-US" sz="3200" dirty="0" smtClean="0"/>
              <a:t>USGS")</a:t>
            </a:r>
          </a:p>
          <a:p>
            <a:pPr marL="0" indent="0">
              <a:buNone/>
            </a:pPr>
            <a:r>
              <a:rPr lang="en-US" sz="3200" dirty="0"/>
              <a:t>7. You can also update the X and </a:t>
            </a:r>
            <a:r>
              <a:rPr lang="en-US" sz="3200" dirty="0" smtClean="0"/>
              <a:t>Y labels </a:t>
            </a:r>
            <a:r>
              <a:rPr lang="en-US" sz="3200" dirty="0"/>
              <a:t>for the graph. Update these labels on your graph using the code you </a:t>
            </a:r>
            <a:r>
              <a:rPr lang="en-US" sz="3200" dirty="0" smtClean="0"/>
              <a:t>see below</a:t>
            </a:r>
            <a:r>
              <a:rPr lang="en-US" sz="3200" dirty="0"/>
              <a:t>.</a:t>
            </a:r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/>
              <a:t>geom_point</a:t>
            </a:r>
            <a:r>
              <a:rPr lang="en-US" sz="3200" dirty="0"/>
              <a:t>()+</a:t>
            </a:r>
            <a:r>
              <a:rPr lang="en-US" sz="3200" dirty="0" err="1"/>
              <a:t>geom_smooth</a:t>
            </a:r>
            <a:r>
              <a:rPr lang="en-US" sz="3200" dirty="0"/>
              <a:t>(method=</a:t>
            </a:r>
            <a:r>
              <a:rPr lang="en-US" sz="3200" dirty="0" err="1"/>
              <a:t>loess,se</a:t>
            </a:r>
            <a:r>
              <a:rPr lang="en-US" sz="3200" dirty="0"/>
              <a:t>=TRUE)+labs(title=paste("Acreage Burned by Wildfires Has Increased In the Past Few Decades"),subtitle=paste("1980-2016"), caption="Data from USGS") + </a:t>
            </a:r>
            <a:r>
              <a:rPr lang="en-US" sz="3200" dirty="0" err="1"/>
              <a:t>scale_y_continuous</a:t>
            </a:r>
            <a:r>
              <a:rPr lang="en-US" sz="3200" dirty="0"/>
              <a:t>(name="Log of Total Acres Burned") + </a:t>
            </a:r>
            <a:r>
              <a:rPr lang="en-US" sz="3200" dirty="0" err="1"/>
              <a:t>scale_x_continuous</a:t>
            </a:r>
            <a:r>
              <a:rPr lang="en-US" sz="3200" dirty="0"/>
              <a:t>(name="Burn Year")</a:t>
            </a:r>
            <a:endParaRPr lang="en-US" sz="3200" b="1" u="sng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02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smtClean="0">
                <a:solidFill>
                  <a:srgbClr val="C00000"/>
                </a:solidFill>
              </a:rPr>
              <a:t>Legend layouts (START)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The theme() function can be used to control the location of the legend and </a:t>
            </a:r>
            <a:r>
              <a:rPr lang="en-US" sz="3200" dirty="0" smtClean="0"/>
              <a:t>the guides</a:t>
            </a:r>
            <a:r>
              <a:rPr lang="en-US" sz="3200" dirty="0"/>
              <a:t>() function can be used to provide additional legend control.</a:t>
            </a:r>
          </a:p>
          <a:p>
            <a:pPr marL="0" indent="0">
              <a:buNone/>
            </a:pPr>
            <a:r>
              <a:rPr lang="en-US" sz="4800" b="1" u="sng" dirty="0">
                <a:solidFill>
                  <a:srgbClr val="FF0000"/>
                </a:solidFill>
              </a:rPr>
              <a:t>Exercise </a:t>
            </a:r>
            <a:r>
              <a:rPr lang="en-US" sz="4800" b="1" u="sng" dirty="0" smtClean="0">
                <a:solidFill>
                  <a:srgbClr val="FF0000"/>
                </a:solidFill>
              </a:rPr>
              <a:t>5: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The theme() function along with the </a:t>
            </a:r>
            <a:r>
              <a:rPr lang="en-US" sz="3200" dirty="0" err="1"/>
              <a:t>legend.postion</a:t>
            </a:r>
            <a:r>
              <a:rPr lang="en-US" sz="3200" dirty="0"/>
              <a:t> argument is used </a:t>
            </a:r>
            <a:r>
              <a:rPr lang="en-US" sz="3200" dirty="0" smtClean="0"/>
              <a:t>to control </a:t>
            </a:r>
            <a:r>
              <a:rPr lang="en-US" sz="3200" dirty="0"/>
              <a:t>the location of the legend on the graph. By default, the legend </a:t>
            </a:r>
            <a:r>
              <a:rPr lang="en-US" sz="3200" dirty="0" smtClean="0"/>
              <a:t>we’ve seen </a:t>
            </a:r>
            <a:r>
              <a:rPr lang="en-US" sz="3200" dirty="0"/>
              <a:t>so far has been placed on the right side of the graph with a </a:t>
            </a:r>
            <a:r>
              <a:rPr lang="en-US" sz="3200" dirty="0" smtClean="0"/>
              <a:t>vertical orientation</a:t>
            </a:r>
            <a:r>
              <a:rPr lang="en-US" sz="3200" dirty="0"/>
              <a:t>. Reposition the legend to the bottom with the code below.</a:t>
            </a:r>
            <a:endParaRPr lang="en-US" sz="3200" dirty="0" smtClean="0"/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), color=STATE)) </a:t>
            </a:r>
            <a:r>
              <a:rPr lang="en-US" sz="3200" dirty="0" smtClean="0"/>
              <a:t>+</a:t>
            </a:r>
            <a:r>
              <a:rPr lang="en-US" sz="3200" dirty="0" err="1" smtClean="0"/>
              <a:t>geom_point</a:t>
            </a:r>
            <a:r>
              <a:rPr lang="en-US" sz="3200" dirty="0"/>
              <a:t>() + </a:t>
            </a:r>
            <a:r>
              <a:rPr lang="en-US" sz="3200" dirty="0" smtClean="0"/>
              <a:t>labs(title=paste("Acreage </a:t>
            </a:r>
            <a:r>
              <a:rPr lang="en-US" sz="3200" dirty="0"/>
              <a:t>Burned by Wildfires Has Increased </a:t>
            </a:r>
            <a:r>
              <a:rPr lang="en-US" sz="3200" dirty="0" smtClean="0"/>
              <a:t>In the </a:t>
            </a:r>
            <a:r>
              <a:rPr lang="en-US" sz="3200" dirty="0"/>
              <a:t>Past Few </a:t>
            </a:r>
            <a:r>
              <a:rPr lang="en-US" sz="3200" dirty="0" smtClean="0"/>
              <a:t>Decades</a:t>
            </a:r>
            <a:r>
              <a:rPr lang="en-US" sz="3200" dirty="0"/>
              <a:t>"</a:t>
            </a:r>
            <a:r>
              <a:rPr lang="en-US" sz="3200" dirty="0" smtClean="0"/>
              <a:t>), subtitle=paste(</a:t>
            </a:r>
            <a:r>
              <a:rPr lang="en-US" sz="3200" dirty="0"/>
              <a:t>"</a:t>
            </a:r>
            <a:r>
              <a:rPr lang="en-US" sz="3200" dirty="0" smtClean="0"/>
              <a:t>1980-2016</a:t>
            </a:r>
            <a:r>
              <a:rPr lang="en-US" sz="3200" dirty="0"/>
              <a:t>"</a:t>
            </a:r>
            <a:r>
              <a:rPr lang="en-US" sz="3200" dirty="0" smtClean="0"/>
              <a:t>), caption=</a:t>
            </a:r>
            <a:r>
              <a:rPr lang="en-US" sz="3200" dirty="0"/>
              <a:t>"</a:t>
            </a:r>
            <a:r>
              <a:rPr lang="en-US" sz="3200" dirty="0" smtClean="0"/>
              <a:t>Data from USGS</a:t>
            </a:r>
            <a:r>
              <a:rPr lang="en-US" sz="3200" dirty="0"/>
              <a:t>"</a:t>
            </a:r>
            <a:r>
              <a:rPr lang="en-US" sz="3200" dirty="0" smtClean="0"/>
              <a:t>) </a:t>
            </a:r>
            <a:r>
              <a:rPr lang="en-US" sz="3200" dirty="0"/>
              <a:t>+ </a:t>
            </a:r>
            <a:r>
              <a:rPr lang="en-US" sz="3200" dirty="0" err="1" smtClean="0"/>
              <a:t>scale_y_continuous</a:t>
            </a:r>
            <a:r>
              <a:rPr lang="en-US" sz="3200" dirty="0" smtClean="0"/>
              <a:t>(name=</a:t>
            </a:r>
            <a:r>
              <a:rPr lang="en-US" sz="3200" dirty="0"/>
              <a:t>"</a:t>
            </a:r>
            <a:r>
              <a:rPr lang="en-US" sz="3200" dirty="0" smtClean="0"/>
              <a:t>Log </a:t>
            </a:r>
            <a:r>
              <a:rPr lang="en-US" sz="3200" dirty="0"/>
              <a:t>of Total Acres </a:t>
            </a:r>
            <a:r>
              <a:rPr lang="en-US" sz="3200" dirty="0" smtClean="0"/>
              <a:t>Burned</a:t>
            </a:r>
            <a:r>
              <a:rPr lang="en-US" sz="3200" dirty="0"/>
              <a:t>"</a:t>
            </a:r>
            <a:r>
              <a:rPr lang="en-US" sz="3200" dirty="0" smtClean="0"/>
              <a:t>) + </a:t>
            </a:r>
            <a:r>
              <a:rPr lang="en-US" sz="3200" dirty="0" err="1" smtClean="0"/>
              <a:t>scale_x_continuous</a:t>
            </a:r>
            <a:r>
              <a:rPr lang="en-US" sz="3200" dirty="0" smtClean="0"/>
              <a:t>(name=</a:t>
            </a:r>
            <a:r>
              <a:rPr lang="en-US" sz="3200" dirty="0"/>
              <a:t>"</a:t>
            </a:r>
            <a:r>
              <a:rPr lang="en-US" sz="3200" dirty="0" smtClean="0"/>
              <a:t>Burn Year</a:t>
            </a:r>
            <a:r>
              <a:rPr lang="en-US" sz="3200" dirty="0"/>
              <a:t>"</a:t>
            </a:r>
            <a:r>
              <a:rPr lang="en-US" sz="3200" dirty="0" smtClean="0"/>
              <a:t>) + theme(</a:t>
            </a:r>
            <a:r>
              <a:rPr lang="en-US" sz="3200" dirty="0" err="1" smtClean="0"/>
              <a:t>legend.position</a:t>
            </a:r>
            <a:r>
              <a:rPr lang="en-US" sz="3200" dirty="0" smtClean="0"/>
              <a:t>=</a:t>
            </a:r>
            <a:r>
              <a:rPr lang="en-US" sz="3200" dirty="0"/>
              <a:t>"</a:t>
            </a:r>
            <a:r>
              <a:rPr lang="en-US" sz="3200" dirty="0" smtClean="0"/>
              <a:t>bottom</a:t>
            </a:r>
            <a:r>
              <a:rPr lang="en-US" sz="3200" dirty="0"/>
              <a:t>"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41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5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 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7832"/>
            <a:ext cx="12069170" cy="63286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 smtClean="0"/>
              <a:t>2. You </a:t>
            </a:r>
            <a:r>
              <a:rPr lang="en-US" sz="3200" dirty="0"/>
              <a:t>can also explicitly remove a legend by setting </a:t>
            </a:r>
            <a:endParaRPr lang="en-US" sz="3200" dirty="0" smtClean="0"/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    </a:t>
            </a:r>
            <a:r>
              <a:rPr lang="en-US" sz="3200" dirty="0" err="1" smtClean="0"/>
              <a:t>legend.position</a:t>
            </a:r>
            <a:r>
              <a:rPr lang="en-US" sz="3200" dirty="0" smtClean="0"/>
              <a:t> </a:t>
            </a:r>
            <a:r>
              <a:rPr lang="en-US" sz="3200" dirty="0"/>
              <a:t>= </a:t>
            </a:r>
            <a:r>
              <a:rPr lang="en-US" sz="3200" dirty="0" smtClean="0"/>
              <a:t>"none".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 smtClean="0"/>
              <a:t>3</a:t>
            </a:r>
            <a:r>
              <a:rPr lang="en-US" sz="3200" dirty="0"/>
              <a:t>. Other aspects of the legend such as the number of rows in the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legend </a:t>
            </a:r>
            <a:r>
              <a:rPr lang="en-US" sz="3200" dirty="0"/>
              <a:t>as </a:t>
            </a:r>
            <a:r>
              <a:rPr lang="en-US" sz="3200" dirty="0" smtClean="0"/>
              <a:t>well as </a:t>
            </a:r>
            <a:r>
              <a:rPr lang="en-US" sz="3200" dirty="0"/>
              <a:t>the symbol size can be control through the </a:t>
            </a:r>
            <a:r>
              <a:rPr lang="en-US" sz="3200" dirty="0" smtClean="0"/>
              <a:t>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dirty="0"/>
              <a:t> </a:t>
            </a:r>
            <a:r>
              <a:rPr lang="en-US" sz="3200" dirty="0" smtClean="0"/>
              <a:t>    guides</a:t>
            </a:r>
            <a:r>
              <a:rPr lang="en-US" sz="3200" dirty="0"/>
              <a:t>() function. </a:t>
            </a:r>
            <a:endParaRPr lang="en-US" sz="3200" dirty="0" smtClean="0"/>
          </a:p>
          <a:p>
            <a:pPr marL="0" indent="0">
              <a:spcBef>
                <a:spcPts val="0"/>
              </a:spcBef>
              <a:buNone/>
            </a:pPr>
            <a:endParaRPr lang="en-US" sz="3200" dirty="0" smtClean="0"/>
          </a:p>
          <a:p>
            <a:r>
              <a:rPr lang="en-US" sz="3200" dirty="0" err="1" smtClean="0"/>
              <a:t>ggplot</a:t>
            </a:r>
            <a:r>
              <a:rPr lang="en-US" sz="3200" dirty="0" smtClean="0"/>
              <a:t>(data=</a:t>
            </a:r>
            <a:r>
              <a:rPr lang="en-US" sz="3200" dirty="0" err="1" smtClean="0"/>
              <a:t>sm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), color=STATE)) + </a:t>
            </a:r>
            <a:r>
              <a:rPr lang="en-US" sz="3200" dirty="0" err="1"/>
              <a:t>geom_point</a:t>
            </a:r>
            <a:r>
              <a:rPr lang="en-US" sz="3200" dirty="0"/>
              <a:t>() + labs(title=paste("Acreage Burned by Wildfires Has Increased In the Past Few Decades"), subtitle=paste("1980-2016"), caption="Data from USGS") + </a:t>
            </a:r>
            <a:r>
              <a:rPr lang="en-US" sz="3200" dirty="0" err="1"/>
              <a:t>scale_y_continuous</a:t>
            </a:r>
            <a:r>
              <a:rPr lang="en-US" sz="3200" dirty="0"/>
              <a:t>(name="Log of Total Acres Burned") + </a:t>
            </a:r>
            <a:r>
              <a:rPr lang="en-US" sz="3200" dirty="0" err="1"/>
              <a:t>scale_x_continuous</a:t>
            </a:r>
            <a:r>
              <a:rPr lang="en-US" sz="3200" dirty="0"/>
              <a:t>(name="Burn Year") + theme(</a:t>
            </a:r>
            <a:r>
              <a:rPr lang="en-US" sz="3200" dirty="0" err="1"/>
              <a:t>legend.position</a:t>
            </a:r>
            <a:r>
              <a:rPr lang="en-US" sz="3200" dirty="0"/>
              <a:t> = "bottom") + guides(color=</a:t>
            </a:r>
            <a:r>
              <a:rPr lang="en-US" sz="3200" dirty="0" err="1"/>
              <a:t>guide_legend</a:t>
            </a:r>
            <a:r>
              <a:rPr lang="en-US" sz="3200" dirty="0"/>
              <a:t>(</a:t>
            </a:r>
            <a:r>
              <a:rPr lang="en-US" sz="3200" dirty="0" err="1"/>
              <a:t>nrow</a:t>
            </a:r>
            <a:r>
              <a:rPr lang="en-US" sz="3200" dirty="0"/>
              <a:t>=2,override.aes=list(size=4)))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65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Creating a facet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/>
          </a:bodyPr>
          <a:lstStyle/>
          <a:p>
            <a:r>
              <a:rPr lang="en-US" sz="3200" dirty="0"/>
              <a:t>A particularly good way of graphing categorical variables is to split your </a:t>
            </a:r>
            <a:r>
              <a:rPr lang="en-US" sz="3200" dirty="0" smtClean="0"/>
              <a:t>plot into </a:t>
            </a:r>
            <a:r>
              <a:rPr lang="en-US" sz="3200" dirty="0"/>
              <a:t>facets, which are subplots that each display one subset of the data. </a:t>
            </a:r>
            <a:r>
              <a:rPr lang="en-US" sz="3200" dirty="0" smtClean="0"/>
              <a:t>The </a:t>
            </a:r>
            <a:r>
              <a:rPr lang="en-US" sz="3200" dirty="0" err="1" smtClean="0"/>
              <a:t>facet_wrap</a:t>
            </a:r>
            <a:r>
              <a:rPr lang="en-US" sz="3200" dirty="0"/>
              <a:t>() and </a:t>
            </a:r>
            <a:r>
              <a:rPr lang="en-US" sz="3200" dirty="0" err="1"/>
              <a:t>facet_grid</a:t>
            </a:r>
            <a:r>
              <a:rPr lang="en-US" sz="3200" dirty="0"/>
              <a:t>() function can be used to create facets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r>
              <a:rPr lang="en-US" sz="4800" b="1" u="sng" dirty="0" smtClean="0">
                <a:solidFill>
                  <a:srgbClr val="FF0000"/>
                </a:solidFill>
              </a:rPr>
              <a:t>Exercise 6: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Use the </a:t>
            </a:r>
            <a:r>
              <a:rPr lang="en-US" sz="3200" dirty="0" err="1"/>
              <a:t>facet_wrap</a:t>
            </a:r>
            <a:r>
              <a:rPr lang="en-US" sz="3200" dirty="0"/>
              <a:t>() function displayed in the code below to create a </a:t>
            </a:r>
            <a:r>
              <a:rPr lang="en-US" sz="3200" dirty="0" smtClean="0"/>
              <a:t>facet map </a:t>
            </a:r>
            <a:r>
              <a:rPr lang="en-US" sz="3200" dirty="0"/>
              <a:t>that displays total acres burned by </a:t>
            </a:r>
            <a:r>
              <a:rPr lang="en-US" sz="3200" dirty="0" smtClean="0"/>
              <a:t>state. </a:t>
            </a:r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, mapping =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 smtClean="0"/>
              <a:t>geom_point</a:t>
            </a:r>
            <a:r>
              <a:rPr lang="en-US" sz="3200" dirty="0"/>
              <a:t>()+ </a:t>
            </a:r>
            <a:r>
              <a:rPr lang="en-US" sz="3200" dirty="0" err="1"/>
              <a:t>facet_wrap</a:t>
            </a:r>
            <a:r>
              <a:rPr lang="en-US" sz="3200" dirty="0"/>
              <a:t>(~STATE) + </a:t>
            </a:r>
            <a:r>
              <a:rPr lang="en-US" sz="3200" dirty="0" err="1"/>
              <a:t>geom_smooth</a:t>
            </a:r>
            <a:r>
              <a:rPr lang="en-US" sz="3200" dirty="0"/>
              <a:t>(method=loess, se=TRUE)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76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Theming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ggplot2 includes 8 </a:t>
            </a:r>
            <a:r>
              <a:rPr lang="en-US" sz="3200" dirty="0" err="1" smtClean="0"/>
              <a:t>builtin</a:t>
            </a:r>
            <a:r>
              <a:rPr lang="en-US" sz="3200" dirty="0" smtClean="0"/>
              <a:t> themes that can be used to </a:t>
            </a:r>
            <a:r>
              <a:rPr lang="en-US" sz="3200" dirty="0" err="1" smtClean="0"/>
              <a:t>cutomize</a:t>
            </a:r>
            <a:r>
              <a:rPr lang="en-US" sz="3200" dirty="0" smtClean="0"/>
              <a:t> the </a:t>
            </a:r>
            <a:r>
              <a:rPr lang="en-US" sz="3200" dirty="0" err="1" smtClean="0"/>
              <a:t>stying</a:t>
            </a:r>
            <a:r>
              <a:rPr lang="en-US" sz="3200" dirty="0" smtClean="0"/>
              <a:t> of the non-data elements of plot.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4800" b="1" u="sng" dirty="0" smtClean="0">
                <a:solidFill>
                  <a:srgbClr val="FF0000"/>
                </a:solidFill>
              </a:rPr>
              <a:t>Exercise 7: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The </a:t>
            </a:r>
            <a:r>
              <a:rPr lang="en-US" sz="3200" dirty="0"/>
              <a:t>eight themes included in ggplot2 are </a:t>
            </a:r>
            <a:r>
              <a:rPr lang="en-US" sz="3200" dirty="0" err="1"/>
              <a:t>theme_bw</a:t>
            </a:r>
            <a:r>
              <a:rPr lang="en-US" sz="3200" dirty="0"/>
              <a:t>, theme_ classic</a:t>
            </a:r>
            <a:r>
              <a:rPr lang="en-US" sz="3200" dirty="0" smtClean="0"/>
              <a:t>, </a:t>
            </a:r>
            <a:r>
              <a:rPr lang="en-US" sz="3200" dirty="0" err="1" smtClean="0"/>
              <a:t>theme_dark</a:t>
            </a:r>
            <a:r>
              <a:rPr lang="en-US" sz="3200" dirty="0"/>
              <a:t>, </a:t>
            </a:r>
            <a:r>
              <a:rPr lang="en-US" sz="3200" dirty="0" err="1"/>
              <a:t>theme_gray</a:t>
            </a:r>
            <a:r>
              <a:rPr lang="en-US" sz="3200" dirty="0"/>
              <a:t>, </a:t>
            </a:r>
            <a:r>
              <a:rPr lang="en-US" sz="3200" dirty="0" err="1"/>
              <a:t>theme_light</a:t>
            </a:r>
            <a:r>
              <a:rPr lang="en-US" sz="3200" dirty="0"/>
              <a:t>, theme_ </a:t>
            </a:r>
            <a:r>
              <a:rPr lang="en-US" sz="3200" dirty="0" err="1"/>
              <a:t>linedraw</a:t>
            </a:r>
            <a:r>
              <a:rPr lang="en-US" sz="3200" dirty="0"/>
              <a:t>, </a:t>
            </a:r>
            <a:r>
              <a:rPr lang="en-US" sz="3200" dirty="0" err="1"/>
              <a:t>theme_minimal</a:t>
            </a:r>
            <a:r>
              <a:rPr lang="en-US" sz="3200" dirty="0" smtClean="0"/>
              <a:t>, </a:t>
            </a:r>
            <a:r>
              <a:rPr lang="en-US" sz="3200" dirty="0" err="1" smtClean="0"/>
              <a:t>theme_void</a:t>
            </a:r>
            <a:r>
              <a:rPr lang="en-US" sz="3200" dirty="0" smtClean="0"/>
              <a:t>. 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sm</a:t>
            </a:r>
            <a:r>
              <a:rPr lang="en-US" sz="3200" dirty="0"/>
              <a:t>, mapping = </a:t>
            </a:r>
            <a:r>
              <a:rPr lang="en-US" sz="3200" dirty="0" err="1"/>
              <a:t>aes</a:t>
            </a:r>
            <a:r>
              <a:rPr lang="en-US" sz="3200" dirty="0"/>
              <a:t>(x=YEAR_, y=log(</a:t>
            </a:r>
            <a:r>
              <a:rPr lang="en-US" sz="3200" dirty="0" err="1"/>
              <a:t>totalacres</a:t>
            </a:r>
            <a:r>
              <a:rPr lang="en-US" sz="3200" dirty="0"/>
              <a:t>))) + </a:t>
            </a:r>
            <a:r>
              <a:rPr lang="en-US" sz="3200" dirty="0" err="1"/>
              <a:t>geom_point</a:t>
            </a:r>
            <a:r>
              <a:rPr lang="en-US" sz="3200" dirty="0" smtClean="0"/>
              <a:t>()+ </a:t>
            </a:r>
            <a:r>
              <a:rPr lang="en-US" sz="3200" dirty="0" err="1" smtClean="0"/>
              <a:t>facet_wrap</a:t>
            </a:r>
            <a:r>
              <a:rPr lang="en-US" sz="3200" dirty="0"/>
              <a:t>(~STATE) + </a:t>
            </a:r>
            <a:r>
              <a:rPr lang="en-US" sz="3200" dirty="0" err="1"/>
              <a:t>geom_smooth</a:t>
            </a:r>
            <a:r>
              <a:rPr lang="en-US" sz="3200" dirty="0"/>
              <a:t>(method=loess, se=TRUE) + </a:t>
            </a:r>
            <a:r>
              <a:rPr lang="en-US" sz="3200" dirty="0" err="1"/>
              <a:t>theme_dark</a:t>
            </a:r>
            <a:r>
              <a:rPr lang="en-US" sz="3200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17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Creating bar charts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err="1"/>
              <a:t>geom_bar</a:t>
            </a:r>
            <a:r>
              <a:rPr lang="en-US" sz="3200" dirty="0"/>
              <a:t>() or </a:t>
            </a:r>
            <a:r>
              <a:rPr lang="en-US" sz="3200" dirty="0" err="1"/>
              <a:t>geom_chart</a:t>
            </a:r>
            <a:r>
              <a:rPr lang="en-US" sz="3200" dirty="0" smtClean="0"/>
              <a:t>() can be used </a:t>
            </a:r>
            <a:r>
              <a:rPr lang="en-US" sz="3200" dirty="0"/>
              <a:t>to create bar charts with ggplot2.</a:t>
            </a:r>
          </a:p>
          <a:p>
            <a:pPr lvl="1"/>
            <a:r>
              <a:rPr lang="en-US" sz="3500" dirty="0" smtClean="0"/>
              <a:t>The </a:t>
            </a:r>
            <a:r>
              <a:rPr lang="en-US" sz="3500" dirty="0" err="1"/>
              <a:t>geom_bar</a:t>
            </a:r>
            <a:r>
              <a:rPr lang="en-US" sz="3500" dirty="0" smtClean="0"/>
              <a:t>() function </a:t>
            </a:r>
            <a:r>
              <a:rPr lang="en-US" sz="3500" dirty="0"/>
              <a:t>will generate a count of the number of instances of a variable. In </a:t>
            </a:r>
            <a:r>
              <a:rPr lang="en-US" sz="3500" dirty="0" smtClean="0"/>
              <a:t>other words</a:t>
            </a:r>
            <a:r>
              <a:rPr lang="en-US" sz="3500" dirty="0"/>
              <a:t>, it changes the statistic that has already been generated for the group. </a:t>
            </a:r>
            <a:endParaRPr lang="en-US" sz="3500" dirty="0" smtClean="0"/>
          </a:p>
          <a:p>
            <a:pPr lvl="1"/>
            <a:r>
              <a:rPr lang="en-US" sz="3500" dirty="0" smtClean="0"/>
              <a:t>The </a:t>
            </a:r>
            <a:r>
              <a:rPr lang="en-US" sz="3500" dirty="0" err="1" smtClean="0"/>
              <a:t>geom_col</a:t>
            </a:r>
            <a:r>
              <a:rPr lang="en-US" sz="3500" dirty="0"/>
              <a:t>() function keeps the variable already generated for the </a:t>
            </a:r>
            <a:r>
              <a:rPr lang="en-US" sz="3500" dirty="0" smtClean="0"/>
              <a:t>group.</a:t>
            </a:r>
          </a:p>
          <a:p>
            <a:pPr marL="0" indent="0">
              <a:buNone/>
            </a:pPr>
            <a:r>
              <a:rPr lang="en-US" sz="4800" b="1" u="sng" dirty="0" smtClean="0">
                <a:solidFill>
                  <a:srgbClr val="FF0000"/>
                </a:solidFill>
              </a:rPr>
              <a:t>Exercise 8: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 smtClean="0"/>
              <a:t>Load </a:t>
            </a:r>
            <a:r>
              <a:rPr lang="en-US" sz="3500" dirty="0"/>
              <a:t>the StudyArea.csv file and get a subset of columns.</a:t>
            </a:r>
          </a:p>
          <a:p>
            <a:r>
              <a:rPr lang="en-US" sz="3500" dirty="0" err="1"/>
              <a:t>dfWildfires</a:t>
            </a:r>
            <a:r>
              <a:rPr lang="en-US" sz="3500" dirty="0"/>
              <a:t> &lt;- </a:t>
            </a:r>
            <a:r>
              <a:rPr lang="en-US" sz="3500" dirty="0" err="1" smtClean="0"/>
              <a:t>read_csv</a:t>
            </a:r>
            <a:r>
              <a:rPr lang="en-US" sz="3500" dirty="0" smtClean="0"/>
              <a:t>("StudyArea.csv", </a:t>
            </a:r>
            <a:r>
              <a:rPr lang="en-US" sz="3500" dirty="0" err="1"/>
              <a:t>col_types</a:t>
            </a:r>
            <a:r>
              <a:rPr lang="en-US" sz="3500" dirty="0"/>
              <a:t> = list(UNIT </a:t>
            </a:r>
            <a:r>
              <a:rPr lang="en-US" sz="3500" dirty="0" smtClean="0"/>
              <a:t>= </a:t>
            </a:r>
            <a:r>
              <a:rPr lang="en-US" sz="3500" dirty="0" err="1" smtClean="0"/>
              <a:t>col_character</a:t>
            </a:r>
            <a:r>
              <a:rPr lang="en-US" sz="3500" dirty="0"/>
              <a:t>()), </a:t>
            </a:r>
            <a:r>
              <a:rPr lang="en-US" sz="3500" dirty="0" err="1"/>
              <a:t>col_names</a:t>
            </a:r>
            <a:r>
              <a:rPr lang="en-US" sz="3500" dirty="0"/>
              <a:t> = TRUE</a:t>
            </a:r>
            <a:r>
              <a:rPr lang="en-US" sz="3500" dirty="0" smtClean="0"/>
              <a:t>) </a:t>
            </a:r>
          </a:p>
          <a:p>
            <a:r>
              <a:rPr lang="en-US" sz="3500" dirty="0" err="1" smtClean="0"/>
              <a:t>df</a:t>
            </a:r>
            <a:r>
              <a:rPr lang="en-US" sz="3500" dirty="0" smtClean="0"/>
              <a:t> </a:t>
            </a:r>
            <a:r>
              <a:rPr lang="en-US" sz="3500" dirty="0"/>
              <a:t>&lt;- select(</a:t>
            </a:r>
            <a:r>
              <a:rPr lang="en-US" sz="3500" dirty="0" err="1"/>
              <a:t>dfWildfires</a:t>
            </a:r>
            <a:r>
              <a:rPr lang="en-US" sz="3500" dirty="0"/>
              <a:t>, ORGANIZATI, STATE, YEAR_, TOTALACRES</a:t>
            </a:r>
            <a:r>
              <a:rPr lang="en-US" sz="3500" dirty="0" smtClean="0"/>
              <a:t>, CAUSE</a:t>
            </a:r>
            <a:r>
              <a:rPr lang="en-US" sz="35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32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8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/>
          </a:bodyPr>
          <a:lstStyle/>
          <a:p>
            <a:pPr marL="742950" indent="-742950">
              <a:spcAft>
                <a:spcPts val="1200"/>
              </a:spcAft>
              <a:buAutoNum type="arabicPeriod" startAt="2"/>
            </a:pPr>
            <a:r>
              <a:rPr lang="en-US" sz="3200" dirty="0" smtClean="0"/>
              <a:t>Filter </a:t>
            </a:r>
            <a:r>
              <a:rPr lang="en-US" sz="3200" dirty="0"/>
              <a:t>the data frame so that only wildfires for California are </a:t>
            </a:r>
            <a:r>
              <a:rPr lang="en-US" sz="3200" dirty="0" smtClean="0"/>
              <a:t>included.     		</a:t>
            </a:r>
            <a:r>
              <a:rPr lang="en-US" sz="3200" dirty="0" err="1" smtClean="0"/>
              <a:t>df</a:t>
            </a:r>
            <a:r>
              <a:rPr lang="en-US" sz="3200" dirty="0" smtClean="0"/>
              <a:t> </a:t>
            </a:r>
            <a:r>
              <a:rPr lang="en-US" sz="3200" dirty="0"/>
              <a:t>&lt;- filter(</a:t>
            </a:r>
            <a:r>
              <a:rPr lang="en-US" sz="3200" dirty="0" err="1"/>
              <a:t>df</a:t>
            </a:r>
            <a:r>
              <a:rPr lang="en-US" sz="3200" dirty="0"/>
              <a:t>, STATE == </a:t>
            </a:r>
            <a:r>
              <a:rPr lang="en-US" sz="3200" dirty="0" smtClean="0"/>
              <a:t>'California')</a:t>
            </a:r>
            <a:endParaRPr lang="en-US" sz="3200" dirty="0"/>
          </a:p>
          <a:p>
            <a:pPr marL="742950" indent="-742950">
              <a:spcAft>
                <a:spcPts val="1200"/>
              </a:spcAft>
              <a:buAutoNum type="arabicPeriod" startAt="3"/>
            </a:pPr>
            <a:r>
              <a:rPr lang="en-US" sz="3200" dirty="0" smtClean="0"/>
              <a:t>Group </a:t>
            </a:r>
            <a:r>
              <a:rPr lang="en-US" sz="3200" dirty="0"/>
              <a:t>the data frame by YEAR</a:t>
            </a:r>
            <a:r>
              <a:rPr lang="en-US" sz="3200" dirty="0" smtClean="0"/>
              <a:t>_.        </a:t>
            </a:r>
            <a:r>
              <a:rPr lang="en-US" sz="3200" dirty="0" err="1" smtClean="0"/>
              <a:t>grp</a:t>
            </a:r>
            <a:r>
              <a:rPr lang="en-US" sz="3200" dirty="0" smtClean="0"/>
              <a:t> </a:t>
            </a:r>
            <a:r>
              <a:rPr lang="en-US" sz="3200" dirty="0"/>
              <a:t>&lt;- </a:t>
            </a:r>
            <a:r>
              <a:rPr lang="en-US" sz="3200" dirty="0" err="1"/>
              <a:t>group_by</a:t>
            </a:r>
            <a:r>
              <a:rPr lang="en-US" sz="3200" dirty="0"/>
              <a:t>(</a:t>
            </a:r>
            <a:r>
              <a:rPr lang="en-US" sz="3200" dirty="0" err="1"/>
              <a:t>df</a:t>
            </a:r>
            <a:r>
              <a:rPr lang="en-US" sz="3200" dirty="0"/>
              <a:t>, YEAR_)</a:t>
            </a:r>
          </a:p>
          <a:p>
            <a:pPr marL="742950" indent="-742950">
              <a:spcAft>
                <a:spcPts val="1200"/>
              </a:spcAft>
              <a:buAutoNum type="arabicPeriod" startAt="4"/>
            </a:pPr>
            <a:r>
              <a:rPr lang="en-US" sz="3200" dirty="0" smtClean="0"/>
              <a:t>Plot </a:t>
            </a:r>
            <a:r>
              <a:rPr lang="en-US" sz="3200" dirty="0"/>
              <a:t>the data using </a:t>
            </a:r>
            <a:r>
              <a:rPr lang="en-US" sz="3200" dirty="0" err="1"/>
              <a:t>geom_bar</a:t>
            </a:r>
            <a:r>
              <a:rPr lang="en-US" sz="3200" dirty="0"/>
              <a:t>() as seen below. Notice that </a:t>
            </a:r>
            <a:r>
              <a:rPr lang="en-US" sz="3200" dirty="0" smtClean="0"/>
              <a:t>the </a:t>
            </a:r>
            <a:r>
              <a:rPr lang="en-US" sz="3200" dirty="0"/>
              <a:t>bar chart that </a:t>
            </a:r>
            <a:r>
              <a:rPr lang="en-US" sz="3200" dirty="0" smtClean="0"/>
              <a:t>is produced </a:t>
            </a:r>
            <a:r>
              <a:rPr lang="en-US" sz="3200" dirty="0"/>
              <a:t>is a count of the number of fires for each year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021" y="3681663"/>
            <a:ext cx="6453188" cy="3104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16569" y="4304527"/>
            <a:ext cx="46923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8275" lvl="1" indent="-168275">
              <a:spcAft>
                <a:spcPts val="1200"/>
              </a:spcAft>
              <a:buFont typeface="Arial" pitchFamily="34" charset="0"/>
              <a:buChar char="•"/>
            </a:pPr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grp</a:t>
            </a:r>
            <a:r>
              <a:rPr lang="en-US" sz="3200" dirty="0"/>
              <a:t>) + </a:t>
            </a:r>
            <a:r>
              <a:rPr lang="en-US" sz="3200" dirty="0" err="1"/>
              <a:t>geom_bar</a:t>
            </a:r>
            <a:r>
              <a:rPr lang="en-US" sz="3200" dirty="0"/>
              <a:t>(mapping = </a:t>
            </a:r>
            <a:r>
              <a:rPr lang="en-US" sz="3200" dirty="0" err="1"/>
              <a:t>aes</a:t>
            </a:r>
            <a:r>
              <a:rPr lang="en-US" sz="3200" dirty="0"/>
              <a:t>(x=YEAR_), fill="red")</a:t>
            </a:r>
          </a:p>
        </p:txBody>
      </p:sp>
    </p:spTree>
    <p:extLst>
      <p:ext uri="{BB962C8B-B14F-4D97-AF65-F5344CB8AC3E}">
        <p14:creationId xmlns:p14="http://schemas.microsoft.com/office/powerpoint/2010/main" val="3425432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8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448" y="998622"/>
            <a:ext cx="11873552" cy="2430378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5"/>
            </a:pPr>
            <a:r>
              <a:rPr lang="en-US" sz="3200" dirty="0" smtClean="0"/>
              <a:t>Now </a:t>
            </a:r>
            <a:r>
              <a:rPr lang="en-US" sz="3200" dirty="0"/>
              <a:t>use </a:t>
            </a:r>
            <a:r>
              <a:rPr lang="en-US" sz="3200" dirty="0" err="1"/>
              <a:t>geom_col</a:t>
            </a:r>
            <a:r>
              <a:rPr lang="en-US" sz="3200" dirty="0"/>
              <a:t>() to see the difference. The TOTALACRES </a:t>
            </a:r>
            <a:r>
              <a:rPr lang="en-US" sz="3200" dirty="0" smtClean="0"/>
              <a:t>variable is maintained </a:t>
            </a:r>
            <a:r>
              <a:rPr lang="en-US" sz="3200" dirty="0"/>
              <a:t>in this case.</a:t>
            </a:r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grp</a:t>
            </a:r>
            <a:r>
              <a:rPr lang="en-US" sz="3200" dirty="0"/>
              <a:t>) + </a:t>
            </a:r>
            <a:r>
              <a:rPr lang="en-US" sz="3200" dirty="0" err="1"/>
              <a:t>geom_col</a:t>
            </a:r>
            <a:r>
              <a:rPr lang="en-US" sz="3200" dirty="0"/>
              <a:t>(mapping = </a:t>
            </a:r>
            <a:r>
              <a:rPr lang="en-US" sz="3200" dirty="0" err="1"/>
              <a:t>aes</a:t>
            </a:r>
            <a:r>
              <a:rPr lang="en-US" sz="3200" dirty="0"/>
              <a:t>(x=YEAR_, y=TOTALACRES</a:t>
            </a:r>
            <a:r>
              <a:rPr lang="en-US" sz="3200" dirty="0" smtClean="0"/>
              <a:t>), fill="red")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26</a:t>
            </a:fld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221" y="3296653"/>
            <a:ext cx="8426368" cy="363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1927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Creating Violin Plots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Violin plots, which are similar to box plots, also show the probability density </a:t>
            </a:r>
            <a:r>
              <a:rPr lang="en-US" sz="3200" dirty="0" smtClean="0"/>
              <a:t>at various </a:t>
            </a:r>
            <a:r>
              <a:rPr lang="en-US" sz="3200" dirty="0"/>
              <a:t>values. </a:t>
            </a:r>
            <a:endParaRPr lang="en-US" sz="3200" dirty="0" smtClean="0"/>
          </a:p>
          <a:p>
            <a:r>
              <a:rPr lang="en-US" sz="3200" dirty="0" smtClean="0"/>
              <a:t>Thicker </a:t>
            </a:r>
            <a:r>
              <a:rPr lang="en-US" sz="3200" dirty="0"/>
              <a:t>areas of the violin plot indicate a higher probability </a:t>
            </a:r>
            <a:r>
              <a:rPr lang="en-US" sz="3200" dirty="0" smtClean="0"/>
              <a:t>at that </a:t>
            </a:r>
            <a:r>
              <a:rPr lang="en-US" sz="3200" dirty="0"/>
              <a:t>value. </a:t>
            </a:r>
            <a:endParaRPr lang="en-US" sz="3200" dirty="0" smtClean="0"/>
          </a:p>
          <a:p>
            <a:r>
              <a:rPr lang="en-US" sz="3200" dirty="0" smtClean="0"/>
              <a:t>Typically</a:t>
            </a:r>
            <a:r>
              <a:rPr lang="en-US" sz="3200" dirty="0"/>
              <a:t>, violin plots also include a marker for the median </a:t>
            </a:r>
            <a:r>
              <a:rPr lang="en-US" sz="3200" dirty="0" smtClean="0"/>
              <a:t>along with </a:t>
            </a:r>
            <a:r>
              <a:rPr lang="en-US" sz="3200" dirty="0"/>
              <a:t>the Inter-Quartile Range (IQR).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 err="1"/>
              <a:t>geom_violin</a:t>
            </a:r>
            <a:r>
              <a:rPr lang="en-US" sz="3200" dirty="0"/>
              <a:t>() function is used </a:t>
            </a:r>
            <a:r>
              <a:rPr lang="en-US" sz="3200" dirty="0" smtClean="0"/>
              <a:t>to create </a:t>
            </a:r>
            <a:r>
              <a:rPr lang="en-US" sz="3200" dirty="0"/>
              <a:t>violin plots in </a:t>
            </a:r>
            <a:r>
              <a:rPr lang="en-US" sz="3200" dirty="0" smtClean="0"/>
              <a:t>ggplot2</a:t>
            </a:r>
          </a:p>
          <a:p>
            <a:pPr marL="0" indent="0">
              <a:buNone/>
            </a:pPr>
            <a:r>
              <a:rPr lang="en-US" sz="4800" b="1" u="sng" dirty="0" smtClean="0">
                <a:solidFill>
                  <a:srgbClr val="FF0000"/>
                </a:solidFill>
              </a:rPr>
              <a:t>Exercise 9: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 smtClean="0"/>
              <a:t>Load </a:t>
            </a:r>
            <a:r>
              <a:rPr lang="en-US" sz="3500" dirty="0"/>
              <a:t>the StudyArea.csv file and get a subset of columns.</a:t>
            </a:r>
          </a:p>
          <a:p>
            <a:r>
              <a:rPr lang="en-US" sz="3500" dirty="0" err="1"/>
              <a:t>dfWildfires</a:t>
            </a:r>
            <a:r>
              <a:rPr lang="en-US" sz="3500" dirty="0"/>
              <a:t> &lt;- </a:t>
            </a:r>
            <a:r>
              <a:rPr lang="en-US" sz="3500" dirty="0" err="1" smtClean="0"/>
              <a:t>read_csv</a:t>
            </a:r>
            <a:r>
              <a:rPr lang="en-US" sz="3500" dirty="0" smtClean="0"/>
              <a:t>("StudyArea.csv", </a:t>
            </a:r>
            <a:r>
              <a:rPr lang="en-US" sz="3500" dirty="0" err="1"/>
              <a:t>col_types</a:t>
            </a:r>
            <a:r>
              <a:rPr lang="en-US" sz="3500" dirty="0"/>
              <a:t> = list(UNIT </a:t>
            </a:r>
            <a:r>
              <a:rPr lang="en-US" sz="3500" dirty="0" smtClean="0"/>
              <a:t>= </a:t>
            </a:r>
            <a:r>
              <a:rPr lang="en-US" sz="3500" dirty="0" err="1" smtClean="0"/>
              <a:t>col_character</a:t>
            </a:r>
            <a:r>
              <a:rPr lang="en-US" sz="3500" dirty="0"/>
              <a:t>()), </a:t>
            </a:r>
            <a:r>
              <a:rPr lang="en-US" sz="3500" dirty="0" err="1"/>
              <a:t>col_names</a:t>
            </a:r>
            <a:r>
              <a:rPr lang="en-US" sz="3500" dirty="0"/>
              <a:t> = TRUE</a:t>
            </a:r>
            <a:r>
              <a:rPr lang="en-US" sz="3500" dirty="0" smtClean="0"/>
              <a:t>) </a:t>
            </a:r>
          </a:p>
          <a:p>
            <a:r>
              <a:rPr lang="en-US" sz="3500" dirty="0" err="1" smtClean="0"/>
              <a:t>df</a:t>
            </a:r>
            <a:r>
              <a:rPr lang="en-US" sz="3500" dirty="0" smtClean="0"/>
              <a:t> </a:t>
            </a:r>
            <a:r>
              <a:rPr lang="en-US" sz="3500" dirty="0"/>
              <a:t>&lt;- select(</a:t>
            </a:r>
            <a:r>
              <a:rPr lang="en-US" sz="3500" dirty="0" err="1"/>
              <a:t>dfWildfires</a:t>
            </a:r>
            <a:r>
              <a:rPr lang="en-US" sz="3500" dirty="0"/>
              <a:t>, ORGANIZATI, STATE, YEAR_, TOTALACRES</a:t>
            </a:r>
            <a:r>
              <a:rPr lang="en-US" sz="3500" dirty="0" smtClean="0"/>
              <a:t>, CAUSE</a:t>
            </a:r>
            <a:r>
              <a:rPr lang="en-US" sz="35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09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9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 lnSpcReduction="10000"/>
          </a:bodyPr>
          <a:lstStyle/>
          <a:p>
            <a:pPr marL="742950" indent="-742950">
              <a:spcAft>
                <a:spcPts val="1200"/>
              </a:spcAft>
              <a:buAutoNum type="arabicPeriod" startAt="2"/>
            </a:pPr>
            <a:r>
              <a:rPr lang="en-US" sz="3200" dirty="0" smtClean="0"/>
              <a:t>Filter </a:t>
            </a:r>
            <a:r>
              <a:rPr lang="en-US" sz="3200" dirty="0"/>
              <a:t>the data frame so that only wildfires </a:t>
            </a:r>
            <a:r>
              <a:rPr lang="en-US" sz="3200" dirty="0" smtClean="0"/>
              <a:t>greater than 5000 acres are included.     	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 </a:t>
            </a:r>
            <a:r>
              <a:rPr lang="en-US" sz="3200" dirty="0" err="1" smtClean="0"/>
              <a:t>dfWildfires</a:t>
            </a:r>
            <a:r>
              <a:rPr lang="en-US" sz="3200" dirty="0" smtClean="0"/>
              <a:t> </a:t>
            </a:r>
            <a:r>
              <a:rPr lang="en-US" sz="3200" dirty="0"/>
              <a:t>&lt;- </a:t>
            </a:r>
            <a:r>
              <a:rPr lang="en-US" sz="3200" dirty="0" smtClean="0"/>
              <a:t>filter(</a:t>
            </a:r>
            <a:r>
              <a:rPr lang="en-US" sz="3200" dirty="0" err="1" smtClean="0"/>
              <a:t>dfWildfires</a:t>
            </a:r>
            <a:r>
              <a:rPr lang="en-US" sz="3200" dirty="0" smtClean="0"/>
              <a:t>, TOTALACRES&gt;=5000)</a:t>
            </a:r>
          </a:p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  <a:p>
            <a:pPr marL="742950" indent="-742950">
              <a:spcAft>
                <a:spcPts val="1200"/>
              </a:spcAft>
              <a:buAutoNum type="arabicPeriod" startAt="3"/>
            </a:pPr>
            <a:r>
              <a:rPr lang="en-US" sz="3200" dirty="0" smtClean="0"/>
              <a:t>Group </a:t>
            </a:r>
            <a:r>
              <a:rPr lang="en-US" sz="3200" dirty="0"/>
              <a:t>the </a:t>
            </a:r>
            <a:r>
              <a:rPr lang="en-US" sz="3200" dirty="0" smtClean="0"/>
              <a:t>wildfires by organization.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 </a:t>
            </a:r>
            <a:r>
              <a:rPr lang="en-US" sz="3200" dirty="0" err="1" smtClean="0"/>
              <a:t>grpWildfires</a:t>
            </a:r>
            <a:r>
              <a:rPr lang="en-US" sz="3200" dirty="0" smtClean="0"/>
              <a:t> </a:t>
            </a:r>
            <a:r>
              <a:rPr lang="en-US" sz="3200" dirty="0"/>
              <a:t>&lt;- </a:t>
            </a:r>
            <a:r>
              <a:rPr lang="en-US" sz="3200" dirty="0" err="1" smtClean="0"/>
              <a:t>group_by</a:t>
            </a:r>
            <a:r>
              <a:rPr lang="en-US" sz="3200" dirty="0" smtClean="0"/>
              <a:t>(</a:t>
            </a:r>
            <a:r>
              <a:rPr lang="en-US" sz="3200" dirty="0" err="1" smtClean="0"/>
              <a:t>dfWildfires</a:t>
            </a:r>
            <a:r>
              <a:rPr lang="en-US" sz="3200" dirty="0" smtClean="0"/>
              <a:t>, ORGANIZATI)</a:t>
            </a:r>
          </a:p>
          <a:p>
            <a:pPr marL="0" indent="0">
              <a:spcAft>
                <a:spcPts val="1200"/>
              </a:spcAft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4.  Create </a:t>
            </a:r>
            <a:r>
              <a:rPr lang="en-US" sz="3200" dirty="0"/>
              <a:t>a basic violin plot.</a:t>
            </a:r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grpWildfires</a:t>
            </a:r>
            <a:r>
              <a:rPr lang="en-US" sz="3200" dirty="0"/>
              <a:t>, mapping = </a:t>
            </a:r>
            <a:r>
              <a:rPr lang="en-US" sz="3200" dirty="0" err="1"/>
              <a:t>aes</a:t>
            </a:r>
            <a:r>
              <a:rPr lang="en-US" sz="3200" dirty="0"/>
              <a:t>(x=ORGANIZATI</a:t>
            </a:r>
            <a:r>
              <a:rPr lang="en-US" sz="3200" dirty="0" smtClean="0"/>
              <a:t>, y=log(TOTALACRES</a:t>
            </a:r>
            <a:r>
              <a:rPr lang="en-US" sz="3200" dirty="0"/>
              <a:t>))) + </a:t>
            </a:r>
            <a:r>
              <a:rPr lang="en-US" sz="3200" dirty="0" err="1"/>
              <a:t>geom_violin</a:t>
            </a:r>
            <a:r>
              <a:rPr lang="en-US" sz="3200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64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9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 startAt="5"/>
            </a:pPr>
            <a:r>
              <a:rPr lang="en-US" sz="3200" dirty="0" smtClean="0"/>
              <a:t>You </a:t>
            </a:r>
            <a:r>
              <a:rPr lang="en-US" sz="3200" dirty="0"/>
              <a:t>can add the individual observations using </a:t>
            </a:r>
            <a:r>
              <a:rPr lang="en-US" sz="3200" dirty="0" err="1"/>
              <a:t>geom_jitter</a:t>
            </a:r>
            <a:r>
              <a:rPr lang="en-US" sz="3200" dirty="0" smtClean="0"/>
              <a:t>().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grpWildfires</a:t>
            </a:r>
            <a:r>
              <a:rPr lang="en-US" sz="3200" dirty="0"/>
              <a:t>, mapping = </a:t>
            </a:r>
            <a:r>
              <a:rPr lang="en-US" sz="3200" dirty="0" err="1"/>
              <a:t>aes</a:t>
            </a:r>
            <a:r>
              <a:rPr lang="en-US" sz="3200" dirty="0"/>
              <a:t>(x=ORGANIZATI</a:t>
            </a:r>
            <a:r>
              <a:rPr lang="en-US" sz="3200" dirty="0" smtClean="0"/>
              <a:t>, y=log(TOTALACRES</a:t>
            </a:r>
            <a:r>
              <a:rPr lang="en-US" sz="3200" dirty="0"/>
              <a:t>))) + </a:t>
            </a:r>
            <a:r>
              <a:rPr lang="en-US" sz="3200" dirty="0" err="1"/>
              <a:t>geom_violin</a:t>
            </a:r>
            <a:r>
              <a:rPr lang="en-US" sz="3200" dirty="0"/>
              <a:t>() + </a:t>
            </a:r>
            <a:r>
              <a:rPr lang="en-US" sz="3200" dirty="0" err="1"/>
              <a:t>geom_jitter</a:t>
            </a:r>
            <a:r>
              <a:rPr lang="en-US" sz="3200" dirty="0"/>
              <a:t>(height = 0, width = 0.1</a:t>
            </a:r>
            <a:r>
              <a:rPr lang="en-US" sz="3200" dirty="0" smtClean="0"/>
              <a:t>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6. The mean can be added </a:t>
            </a:r>
            <a:r>
              <a:rPr lang="en-US" sz="3200" dirty="0" smtClean="0"/>
              <a:t>using </a:t>
            </a:r>
            <a:r>
              <a:rPr lang="en-US" sz="3200" dirty="0" err="1" smtClean="0"/>
              <a:t>stat_summary</a:t>
            </a:r>
            <a:r>
              <a:rPr lang="en-US" sz="3200" dirty="0" smtClean="0"/>
              <a:t>() as </a:t>
            </a:r>
            <a:r>
              <a:rPr lang="en-US" sz="3200" dirty="0"/>
              <a:t>seen below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grpWildfires</a:t>
            </a:r>
            <a:r>
              <a:rPr lang="en-US" sz="3200" dirty="0"/>
              <a:t>, mapping = </a:t>
            </a:r>
            <a:r>
              <a:rPr lang="en-US" sz="3200" dirty="0" err="1"/>
              <a:t>aes</a:t>
            </a:r>
            <a:r>
              <a:rPr lang="en-US" sz="3200" dirty="0"/>
              <a:t>(x=ORGANIZATI</a:t>
            </a:r>
            <a:r>
              <a:rPr lang="en-US" sz="3200" dirty="0" smtClean="0"/>
              <a:t>, y=log(TOTALACRES</a:t>
            </a:r>
            <a:r>
              <a:rPr lang="en-US" sz="3200" dirty="0"/>
              <a:t>))) + </a:t>
            </a:r>
            <a:r>
              <a:rPr lang="en-US" sz="3200" dirty="0" err="1"/>
              <a:t>geom_violin</a:t>
            </a:r>
            <a:r>
              <a:rPr lang="en-US" sz="3200" dirty="0"/>
              <a:t>() + </a:t>
            </a:r>
            <a:r>
              <a:rPr lang="en-US" sz="3200" dirty="0" err="1"/>
              <a:t>geom_jitter</a:t>
            </a:r>
            <a:r>
              <a:rPr lang="en-US" sz="3200" dirty="0"/>
              <a:t>(height = 0, width = 0.1</a:t>
            </a:r>
            <a:r>
              <a:rPr lang="en-US" sz="3200" dirty="0" smtClean="0"/>
              <a:t>) + </a:t>
            </a:r>
            <a:r>
              <a:rPr lang="en-US" sz="3200" dirty="0" err="1"/>
              <a:t>stat_summary</a:t>
            </a:r>
            <a:r>
              <a:rPr lang="en-US" sz="3200" dirty="0"/>
              <a:t>(</a:t>
            </a:r>
            <a:r>
              <a:rPr lang="en-US" sz="3200" dirty="0" err="1"/>
              <a:t>fun.y</a:t>
            </a:r>
            <a:r>
              <a:rPr lang="en-US" sz="3200" dirty="0"/>
              <a:t>=mean, </a:t>
            </a:r>
            <a:r>
              <a:rPr lang="en-US" sz="3200" dirty="0" err="1" smtClean="0"/>
              <a:t>geom</a:t>
            </a:r>
            <a:r>
              <a:rPr lang="en-US" sz="3200" dirty="0" smtClean="0"/>
              <a:t>="point", </a:t>
            </a:r>
            <a:r>
              <a:rPr lang="en-US" sz="3200" dirty="0"/>
              <a:t>size=2, </a:t>
            </a:r>
            <a:r>
              <a:rPr lang="en-US" sz="3200" dirty="0" smtClean="0"/>
              <a:t>color="red")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60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30</a:t>
            </a:fld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19" y="1235243"/>
            <a:ext cx="5843586" cy="4936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362" y="1515979"/>
            <a:ext cx="5286375" cy="4788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81739" y="465221"/>
            <a:ext cx="2918661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 smtClean="0">
                <a:solidFill>
                  <a:srgbClr val="FF0000"/>
                </a:solidFill>
              </a:rPr>
              <a:t>Step 4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931192" y="465221"/>
            <a:ext cx="2918661" cy="770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FF0000"/>
                </a:solidFill>
              </a:rPr>
              <a:t>Step 5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6331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9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7. </a:t>
            </a:r>
            <a:r>
              <a:rPr lang="en-US" sz="3200" dirty="0" smtClean="0"/>
              <a:t> The </a:t>
            </a:r>
            <a:r>
              <a:rPr lang="en-US" sz="3200" dirty="0" err="1"/>
              <a:t>box_plot</a:t>
            </a:r>
            <a:r>
              <a:rPr lang="en-US" sz="3200" dirty="0"/>
              <a:t>() function can be used to add the mean and IQR.</a:t>
            </a:r>
          </a:p>
          <a:p>
            <a:r>
              <a:rPr lang="en-US" sz="3200" dirty="0" err="1"/>
              <a:t>ggplot</a:t>
            </a:r>
            <a:r>
              <a:rPr lang="en-US" sz="3200" dirty="0"/>
              <a:t>(data=</a:t>
            </a:r>
            <a:r>
              <a:rPr lang="en-US" sz="3200" dirty="0" err="1"/>
              <a:t>grpWildfires</a:t>
            </a:r>
            <a:r>
              <a:rPr lang="en-US" sz="3200" dirty="0"/>
              <a:t>, mapping = </a:t>
            </a:r>
            <a:r>
              <a:rPr lang="en-US" sz="3200" dirty="0" err="1"/>
              <a:t>aes</a:t>
            </a:r>
            <a:r>
              <a:rPr lang="en-US" sz="3200" dirty="0"/>
              <a:t>(x=ORGANIZATI</a:t>
            </a:r>
            <a:r>
              <a:rPr lang="en-US" sz="3200" dirty="0" smtClean="0"/>
              <a:t>, y=log(TOTALACRES</a:t>
            </a:r>
            <a:r>
              <a:rPr lang="en-US" sz="3200" dirty="0"/>
              <a:t>))) + </a:t>
            </a:r>
            <a:r>
              <a:rPr lang="en-US" sz="3200" dirty="0" err="1"/>
              <a:t>geom_violin</a:t>
            </a:r>
            <a:r>
              <a:rPr lang="en-US" sz="3200" dirty="0"/>
              <a:t>() + </a:t>
            </a:r>
            <a:r>
              <a:rPr lang="en-US" sz="3200" dirty="0" err="1"/>
              <a:t>geom_boxplot</a:t>
            </a:r>
            <a:r>
              <a:rPr lang="en-US" sz="3200" dirty="0"/>
              <a:t>(width=0.1)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957180" y="3244334"/>
            <a:ext cx="2776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"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820" y="2671011"/>
            <a:ext cx="5957180" cy="407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86" y="3244333"/>
            <a:ext cx="5752894" cy="361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04287" y="2671011"/>
            <a:ext cx="1459330" cy="513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 smtClean="0">
                <a:solidFill>
                  <a:srgbClr val="FF0000"/>
                </a:solidFill>
              </a:rPr>
              <a:t>Step 6</a:t>
            </a:r>
            <a:endParaRPr lang="en-US" sz="3200" b="1" u="sng" dirty="0">
              <a:solidFill>
                <a:srgbClr val="FF0000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757487" y="2310064"/>
            <a:ext cx="1459330" cy="513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 smtClean="0">
                <a:solidFill>
                  <a:srgbClr val="FF0000"/>
                </a:solidFill>
              </a:rPr>
              <a:t>Step 7</a:t>
            </a:r>
            <a:endParaRPr lang="en-US" sz="32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304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C00000"/>
                </a:solidFill>
              </a:rPr>
              <a:t>Creating Density Plots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2069170" cy="590175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Density plots, created with </a:t>
            </a:r>
            <a:r>
              <a:rPr lang="en-US" sz="3200" dirty="0" err="1"/>
              <a:t>geom_density</a:t>
            </a:r>
            <a:r>
              <a:rPr lang="en-US" sz="3200" dirty="0"/>
              <a:t>() computes a density estimate, </a:t>
            </a:r>
            <a:r>
              <a:rPr lang="en-US" sz="3200" dirty="0" smtClean="0"/>
              <a:t>which is </a:t>
            </a:r>
            <a:r>
              <a:rPr lang="en-US" sz="3200" dirty="0"/>
              <a:t>a smoothed version of a histogram and is used with continuous data. </a:t>
            </a:r>
            <a:endParaRPr lang="en-US" sz="3200" dirty="0" smtClean="0"/>
          </a:p>
          <a:p>
            <a:r>
              <a:rPr lang="en-US" sz="3200" dirty="0" smtClean="0"/>
              <a:t>ggplot2 can </a:t>
            </a:r>
            <a:r>
              <a:rPr lang="en-US" sz="3200" dirty="0"/>
              <a:t>also compute 2D versions of density includes contours and polygon </a:t>
            </a:r>
            <a:r>
              <a:rPr lang="en-US" sz="3200" dirty="0" smtClean="0"/>
              <a:t>styled density </a:t>
            </a:r>
            <a:r>
              <a:rPr lang="en-US" sz="3200" dirty="0"/>
              <a:t>plots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4800" b="1" u="sng" dirty="0" smtClean="0">
                <a:solidFill>
                  <a:srgbClr val="FF0000"/>
                </a:solidFill>
              </a:rPr>
              <a:t>Exercise 10: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500" dirty="0" smtClean="0"/>
              <a:t>Load </a:t>
            </a:r>
            <a:r>
              <a:rPr lang="en-US" sz="3500" dirty="0"/>
              <a:t>the StudyArea.csv file and get a subset of columns.</a:t>
            </a:r>
          </a:p>
          <a:p>
            <a:r>
              <a:rPr lang="en-US" sz="3500" dirty="0" err="1"/>
              <a:t>dfWildfires</a:t>
            </a:r>
            <a:r>
              <a:rPr lang="en-US" sz="3500" dirty="0"/>
              <a:t> &lt;- </a:t>
            </a:r>
            <a:r>
              <a:rPr lang="en-US" sz="3500" dirty="0" err="1" smtClean="0"/>
              <a:t>read_csv</a:t>
            </a:r>
            <a:r>
              <a:rPr lang="en-US" sz="3500" dirty="0" smtClean="0"/>
              <a:t>("StudyArea.csv", </a:t>
            </a:r>
            <a:r>
              <a:rPr lang="en-US" sz="3500" dirty="0" err="1"/>
              <a:t>col_types</a:t>
            </a:r>
            <a:r>
              <a:rPr lang="en-US" sz="3500" dirty="0"/>
              <a:t> = list(UNIT </a:t>
            </a:r>
            <a:r>
              <a:rPr lang="en-US" sz="3500" dirty="0" smtClean="0"/>
              <a:t>= </a:t>
            </a:r>
            <a:r>
              <a:rPr lang="en-US" sz="3500" dirty="0" err="1" smtClean="0"/>
              <a:t>col_character</a:t>
            </a:r>
            <a:r>
              <a:rPr lang="en-US" sz="3500" dirty="0"/>
              <a:t>()), </a:t>
            </a:r>
            <a:r>
              <a:rPr lang="en-US" sz="3500" dirty="0" err="1"/>
              <a:t>col_names</a:t>
            </a:r>
            <a:r>
              <a:rPr lang="en-US" sz="3500" dirty="0"/>
              <a:t> = TRUE</a:t>
            </a:r>
            <a:r>
              <a:rPr lang="en-US" sz="3500" dirty="0" smtClean="0"/>
              <a:t>) </a:t>
            </a:r>
          </a:p>
          <a:p>
            <a:r>
              <a:rPr lang="en-US" sz="3500" dirty="0" err="1" smtClean="0"/>
              <a:t>df</a:t>
            </a:r>
            <a:r>
              <a:rPr lang="en-US" sz="3500" dirty="0" smtClean="0"/>
              <a:t> </a:t>
            </a:r>
            <a:r>
              <a:rPr lang="en-US" sz="3500" dirty="0"/>
              <a:t>&lt;- select(</a:t>
            </a:r>
            <a:r>
              <a:rPr lang="en-US" sz="3500" dirty="0" err="1"/>
              <a:t>dfWildfires</a:t>
            </a:r>
            <a:r>
              <a:rPr lang="en-US" sz="3500" dirty="0"/>
              <a:t>, ORGANIZATI, STATE, YEAR_, TOTALACRES</a:t>
            </a:r>
            <a:r>
              <a:rPr lang="en-US" sz="3500" dirty="0" smtClean="0"/>
              <a:t>, CAUSE</a:t>
            </a:r>
            <a:r>
              <a:rPr lang="en-US" sz="35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70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10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/>
          </a:bodyPr>
          <a:lstStyle/>
          <a:p>
            <a:pPr marL="742950" indent="-742950">
              <a:spcAft>
                <a:spcPts val="1200"/>
              </a:spcAft>
              <a:buAutoNum type="arabicPeriod" startAt="2"/>
            </a:pPr>
            <a:r>
              <a:rPr lang="en-US" sz="3200" dirty="0" smtClean="0"/>
              <a:t>Filter </a:t>
            </a:r>
            <a:r>
              <a:rPr lang="en-US" sz="3200" dirty="0"/>
              <a:t>the data frame so that only wildfires </a:t>
            </a:r>
            <a:r>
              <a:rPr lang="en-US" sz="3200" dirty="0" smtClean="0"/>
              <a:t>greater than 1000 acres are included.     	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 </a:t>
            </a:r>
            <a:r>
              <a:rPr lang="en-US" sz="3200" dirty="0" err="1" smtClean="0"/>
              <a:t>dfWildfires</a:t>
            </a:r>
            <a:r>
              <a:rPr lang="en-US" sz="3200" dirty="0" smtClean="0"/>
              <a:t> </a:t>
            </a:r>
            <a:r>
              <a:rPr lang="en-US" sz="3200" dirty="0"/>
              <a:t>&lt;- </a:t>
            </a:r>
            <a:r>
              <a:rPr lang="en-US" sz="3200" dirty="0" smtClean="0"/>
              <a:t>filter(</a:t>
            </a:r>
            <a:r>
              <a:rPr lang="en-US" sz="3200" dirty="0" err="1" smtClean="0"/>
              <a:t>dfWildfires</a:t>
            </a:r>
            <a:r>
              <a:rPr lang="en-US" sz="3200" dirty="0" smtClean="0"/>
              <a:t>, TOTALACRES&gt;=1000)</a:t>
            </a:r>
            <a:endParaRPr lang="en-US" sz="3200" dirty="0"/>
          </a:p>
          <a:p>
            <a:pPr marL="514350" indent="-514350">
              <a:buAutoNum type="arabicPeriod" startAt="3"/>
            </a:pPr>
            <a:r>
              <a:rPr lang="en-US" sz="3200" dirty="0" smtClean="0"/>
              <a:t>Create </a:t>
            </a:r>
            <a:r>
              <a:rPr lang="en-US" sz="3200" dirty="0"/>
              <a:t>a density plot with the </a:t>
            </a:r>
            <a:r>
              <a:rPr lang="en-US" sz="3200" dirty="0" err="1"/>
              <a:t>geom_density</a:t>
            </a:r>
            <a:r>
              <a:rPr lang="en-US" sz="3200" dirty="0"/>
              <a:t>() </a:t>
            </a:r>
            <a:r>
              <a:rPr lang="en-US" sz="3200" dirty="0" smtClean="0"/>
              <a:t>function.</a:t>
            </a:r>
          </a:p>
          <a:p>
            <a:r>
              <a:rPr lang="en-US" sz="3200" dirty="0" err="1" smtClean="0"/>
              <a:t>ggplot</a:t>
            </a:r>
            <a:r>
              <a:rPr lang="en-US" sz="3200" dirty="0" smtClean="0"/>
              <a:t>(</a:t>
            </a:r>
            <a:r>
              <a:rPr lang="en-US" sz="3200" dirty="0" err="1" smtClean="0"/>
              <a:t>dfWildfires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(TOTALACRES)) + </a:t>
            </a:r>
            <a:r>
              <a:rPr lang="en-US" sz="3200" dirty="0" err="1"/>
              <a:t>geom_density</a:t>
            </a:r>
            <a:r>
              <a:rPr lang="en-US" sz="3200" dirty="0"/>
              <a:t>()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4. Create </a:t>
            </a:r>
            <a:r>
              <a:rPr lang="en-US" sz="3200" dirty="0"/>
              <a:t>the same density plot with a logged version of </a:t>
            </a:r>
            <a:r>
              <a:rPr lang="en-US" sz="3200" dirty="0" smtClean="0"/>
              <a:t>the data</a:t>
            </a:r>
            <a:r>
              <a:rPr lang="en-US" sz="3200" dirty="0"/>
              <a:t>.</a:t>
            </a:r>
          </a:p>
          <a:p>
            <a:r>
              <a:rPr lang="en-US" sz="3200" dirty="0" err="1"/>
              <a:t>ggplot</a:t>
            </a:r>
            <a:r>
              <a:rPr lang="en-US" sz="3200" dirty="0"/>
              <a:t>(</a:t>
            </a:r>
            <a:r>
              <a:rPr lang="en-US" sz="3200" dirty="0" err="1"/>
              <a:t>dfWildfires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(log(TOTALACRES))) + </a:t>
            </a:r>
            <a:r>
              <a:rPr lang="en-US" sz="3200" dirty="0" err="1"/>
              <a:t>geom_density</a:t>
            </a:r>
            <a:r>
              <a:rPr lang="en-US" sz="3200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23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34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81739" y="465221"/>
            <a:ext cx="2918661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 smtClean="0">
                <a:solidFill>
                  <a:srgbClr val="FF0000"/>
                </a:solidFill>
              </a:rPr>
              <a:t>Step 3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931192" y="465221"/>
            <a:ext cx="2918661" cy="770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FF0000"/>
                </a:solidFill>
              </a:rPr>
              <a:t>Step 4</a:t>
            </a:r>
            <a:endParaRPr lang="en-US" b="1" u="sng" dirty="0">
              <a:solidFill>
                <a:srgbClr val="FF0000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9220"/>
            <a:ext cx="6208295" cy="4363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243" y="1676400"/>
            <a:ext cx="5622758" cy="467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94926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76" y="0"/>
            <a:ext cx="11515224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>
                <a:solidFill>
                  <a:srgbClr val="FF0000"/>
                </a:solidFill>
              </a:rPr>
              <a:t>Exercise </a:t>
            </a:r>
            <a:r>
              <a:rPr lang="en-US" b="1" u="sng" dirty="0" smtClean="0">
                <a:solidFill>
                  <a:srgbClr val="FF0000"/>
                </a:solidFill>
              </a:rPr>
              <a:t>10 (</a:t>
            </a:r>
            <a:r>
              <a:rPr lang="en-US" b="1" u="sng" dirty="0" err="1" smtClean="0">
                <a:solidFill>
                  <a:srgbClr val="FF0000"/>
                </a:solidFill>
              </a:rPr>
              <a:t>cont</a:t>
            </a:r>
            <a:r>
              <a:rPr lang="en-US" b="1" u="sng" dirty="0" smtClean="0">
                <a:solidFill>
                  <a:srgbClr val="FF0000"/>
                </a:solidFill>
              </a:rPr>
              <a:t>…)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30" y="697833"/>
            <a:ext cx="11873552" cy="5901752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5"/>
            </a:pPr>
            <a:r>
              <a:rPr lang="en-US" sz="3200" dirty="0"/>
              <a:t>C</a:t>
            </a:r>
            <a:r>
              <a:rPr lang="en-US" sz="3200" dirty="0" smtClean="0"/>
              <a:t>reate </a:t>
            </a:r>
            <a:r>
              <a:rPr lang="en-US" sz="3200" dirty="0"/>
              <a:t>2D plots of the data starting with contours.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ggplot</a:t>
            </a:r>
            <a:r>
              <a:rPr lang="en-US" sz="3200" dirty="0"/>
              <a:t>(</a:t>
            </a:r>
            <a:r>
              <a:rPr lang="en-US" sz="3200" dirty="0" err="1"/>
              <a:t>dfWildfires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y=log(TOTALACRES))) + </a:t>
            </a:r>
            <a:r>
              <a:rPr lang="en-US" sz="3200" dirty="0" err="1"/>
              <a:t>geom_point</a:t>
            </a:r>
            <a:r>
              <a:rPr lang="en-US" sz="3200" dirty="0"/>
              <a:t>() </a:t>
            </a:r>
            <a:r>
              <a:rPr lang="en-US" sz="3200" dirty="0" smtClean="0"/>
              <a:t>+ geom_density_2d()</a:t>
            </a:r>
          </a:p>
          <a:p>
            <a:endParaRPr lang="en-US" sz="3200" dirty="0" smtClean="0"/>
          </a:p>
          <a:p>
            <a:pPr marL="0" indent="0">
              <a:buNone/>
            </a:pPr>
            <a:r>
              <a:rPr lang="en-US" sz="3200" dirty="0" smtClean="0"/>
              <a:t>6. Finally</a:t>
            </a:r>
            <a:r>
              <a:rPr lang="en-US" sz="3200" dirty="0"/>
              <a:t>, create a 2D density surface using stat_density_2d</a:t>
            </a:r>
            <a:r>
              <a:rPr lang="en-US" sz="3200" dirty="0" smtClean="0"/>
              <a:t>().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err="1"/>
              <a:t>ggplot</a:t>
            </a:r>
            <a:r>
              <a:rPr lang="en-US" sz="3200" dirty="0"/>
              <a:t>(</a:t>
            </a:r>
            <a:r>
              <a:rPr lang="en-US" sz="3200" dirty="0" err="1"/>
              <a:t>dfWildfires</a:t>
            </a:r>
            <a:r>
              <a:rPr lang="en-US" sz="3200" dirty="0"/>
              <a:t>, </a:t>
            </a:r>
            <a:r>
              <a:rPr lang="en-US" sz="3200" dirty="0" err="1"/>
              <a:t>aes</a:t>
            </a:r>
            <a:r>
              <a:rPr lang="en-US" sz="3200" dirty="0"/>
              <a:t>(x=YEAR_, y=log(TOTALACRES))) + geom_density_2d() + stat_density_2d(</a:t>
            </a:r>
            <a:r>
              <a:rPr lang="en-US" sz="3200" dirty="0" err="1"/>
              <a:t>geom</a:t>
            </a:r>
            <a:r>
              <a:rPr lang="en-US" sz="3200" dirty="0"/>
              <a:t>="raster", </a:t>
            </a:r>
            <a:r>
              <a:rPr lang="en-US" sz="3200" dirty="0" err="1"/>
              <a:t>aes</a:t>
            </a:r>
            <a:r>
              <a:rPr lang="en-US" sz="3200" dirty="0"/>
              <a:t>(fill=..density..), contour=FALSE)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39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AE6E0-6B8A-4A35-8B79-45936E9DB0A3}" type="slidenum">
              <a:rPr lang="en-US" smtClean="0"/>
              <a:t>36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81739" y="465221"/>
            <a:ext cx="2918661" cy="770021"/>
          </a:xfrm>
        </p:spPr>
        <p:txBody>
          <a:bodyPr>
            <a:normAutofit/>
          </a:bodyPr>
          <a:lstStyle/>
          <a:p>
            <a:pPr marL="0" indent="0"/>
            <a:r>
              <a:rPr lang="en-US" b="1" u="sng" dirty="0" smtClean="0">
                <a:solidFill>
                  <a:srgbClr val="FF0000"/>
                </a:solidFill>
              </a:rPr>
              <a:t>Step 5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931192" y="465221"/>
            <a:ext cx="2918661" cy="770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FF0000"/>
                </a:solidFill>
              </a:rPr>
              <a:t>Step 6</a:t>
            </a:r>
            <a:endParaRPr lang="en-US" b="1" u="sng" dirty="0">
              <a:solidFill>
                <a:srgbClr val="FF0000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68" y="1515979"/>
            <a:ext cx="5635041" cy="4836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359" y="1844842"/>
            <a:ext cx="5763378" cy="4507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7460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2605</TotalTime>
  <Words>2220</Words>
  <Application>Microsoft Office PowerPoint</Application>
  <PresentationFormat>Widescreen</PresentationFormat>
  <Paragraphs>258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Module 7</vt:lpstr>
      <vt:lpstr>Contents</vt:lpstr>
      <vt:lpstr>Basic Data Visualization Techniques</vt:lpstr>
      <vt:lpstr>Basic Data Visualization Techniques (cont….)</vt:lpstr>
      <vt:lpstr>Creating a scatterplot</vt:lpstr>
      <vt:lpstr>Exercise 1 (cont…)</vt:lpstr>
      <vt:lpstr>Exercise 1 (cont…)</vt:lpstr>
      <vt:lpstr>Step 6</vt:lpstr>
      <vt:lpstr>Adding a regression line to the scatterplot</vt:lpstr>
      <vt:lpstr>Exercise 2 (cont….)</vt:lpstr>
      <vt:lpstr>Plotting Categories</vt:lpstr>
      <vt:lpstr>Exercise 3 (cont…)</vt:lpstr>
      <vt:lpstr>Labeling the graph</vt:lpstr>
      <vt:lpstr>PowerPoint Presentation</vt:lpstr>
      <vt:lpstr>Exercise 4 (cont…)</vt:lpstr>
      <vt:lpstr>Exercise 4 (cont…)</vt:lpstr>
      <vt:lpstr>Exercise 4 (cont…)</vt:lpstr>
      <vt:lpstr>Exercise 4 (cont…)</vt:lpstr>
      <vt:lpstr>Exercise 4 (cont…)</vt:lpstr>
      <vt:lpstr>Legend layouts (START)</vt:lpstr>
      <vt:lpstr>Exercise 5 (cont… )</vt:lpstr>
      <vt:lpstr>Creating a facet</vt:lpstr>
      <vt:lpstr>Theming</vt:lpstr>
      <vt:lpstr>Creating bar charts</vt:lpstr>
      <vt:lpstr>Exercise 8 (cont…)</vt:lpstr>
      <vt:lpstr>Exercise 8 (cont…)</vt:lpstr>
      <vt:lpstr>Creating Violin Plots</vt:lpstr>
      <vt:lpstr>Exercise 9 (cont…)</vt:lpstr>
      <vt:lpstr>Exercise 9 (cont…)</vt:lpstr>
      <vt:lpstr>Step 4</vt:lpstr>
      <vt:lpstr>Exercise 9 (cont…)</vt:lpstr>
      <vt:lpstr>Creating Density Plots</vt:lpstr>
      <vt:lpstr>Exercise 10 (cont…)</vt:lpstr>
      <vt:lpstr>Step 3</vt:lpstr>
      <vt:lpstr>Exercise 10 (cont…)</vt:lpstr>
      <vt:lpstr>Step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MOHD HAQ</dc:creator>
  <cp:lastModifiedBy>MOHD HAQ</cp:lastModifiedBy>
  <cp:revision>153</cp:revision>
  <dcterms:created xsi:type="dcterms:W3CDTF">2021-01-17T15:40:32Z</dcterms:created>
  <dcterms:modified xsi:type="dcterms:W3CDTF">2021-03-28T06:47:24Z</dcterms:modified>
</cp:coreProperties>
</file>