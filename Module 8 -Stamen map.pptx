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64" r:id="rId4"/>
    <p:sldId id="268" r:id="rId5"/>
    <p:sldId id="282" r:id="rId6"/>
    <p:sldId id="269" r:id="rId7"/>
    <p:sldId id="283" r:id="rId8"/>
    <p:sldId id="271" r:id="rId9"/>
    <p:sldId id="272" r:id="rId10"/>
    <p:sldId id="284" r:id="rId11"/>
    <p:sldId id="274" r:id="rId12"/>
    <p:sldId id="285" r:id="rId13"/>
    <p:sldId id="286" r:id="rId14"/>
    <p:sldId id="287"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6" autoAdjust="0"/>
    <p:restoredTop sz="94794" autoAdjust="0"/>
  </p:normalViewPr>
  <p:slideViewPr>
    <p:cSldViewPr snapToGrid="0">
      <p:cViewPr>
        <p:scale>
          <a:sx n="40" d="100"/>
          <a:sy n="40" d="100"/>
        </p:scale>
        <p:origin x="-2022" y="-750"/>
      </p:cViewPr>
      <p:guideLst>
        <p:guide orient="horz" pos="2160"/>
        <p:guide pos="3840"/>
      </p:guideLst>
    </p:cSldViewPr>
  </p:slideViewPr>
  <p:notesTextViewPr>
    <p:cViewPr>
      <p:scale>
        <a:sx n="1" d="1"/>
        <a:sy n="1" d="1"/>
      </p:scale>
      <p:origin x="0" y="0"/>
    </p:cViewPr>
  </p:notesTextViewPr>
  <p:sorterViewPr>
    <p:cViewPr>
      <p:scale>
        <a:sx n="100" d="100"/>
        <a:sy n="100" d="100"/>
      </p:scale>
      <p:origin x="0" y="1842"/>
    </p:cViewPr>
  </p:sorterViewPr>
  <p:notesViewPr>
    <p:cSldViewPr snapToGrid="0">
      <p:cViewPr varScale="1">
        <p:scale>
          <a:sx n="53" d="100"/>
          <a:sy n="53" d="100"/>
        </p:scale>
        <p:origin x="-286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87A3ECF-3FA3-4FBA-AD96-D23C01274543}" type="datetimeFigureOut">
              <a:rPr lang="en-US" smtClean="0"/>
              <a:t>3/11/2021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434D931-BD70-418F-BF94-B999122552F4}" type="slidenum">
              <a:rPr lang="en-US" smtClean="0"/>
              <a:t>‹#›</a:t>
            </a:fld>
            <a:endParaRPr lang="en-US"/>
          </a:p>
        </p:txBody>
      </p:sp>
    </p:spTree>
    <p:extLst>
      <p:ext uri="{BB962C8B-B14F-4D97-AF65-F5344CB8AC3E}">
        <p14:creationId xmlns:p14="http://schemas.microsoft.com/office/powerpoint/2010/main" val="411143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33104A-6E55-4B2B-87C6-D272CBE8B7E2}" type="datetimeFigureOut">
              <a:rPr lang="en-US" smtClean="0"/>
              <a:t>3/10/2021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02334-DE96-4D8F-AA39-DB763625ADE8}" type="slidenum">
              <a:rPr lang="en-US" smtClean="0"/>
              <a:t>‹#›</a:t>
            </a:fld>
            <a:endParaRPr lang="en-US"/>
          </a:p>
        </p:txBody>
      </p:sp>
    </p:spTree>
    <p:extLst>
      <p:ext uri="{BB962C8B-B14F-4D97-AF65-F5344CB8AC3E}">
        <p14:creationId xmlns:p14="http://schemas.microsoft.com/office/powerpoint/2010/main" val="370951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there are 3 layers in this plot. First base layer consists of US map, second layer consists of spread of counties across US and the third layer consists of location of military bases. It is not easy to plot such multilayered graphs using other packages.</a:t>
            </a:r>
            <a:endParaRPr lang="en-US" dirty="0"/>
          </a:p>
        </p:txBody>
      </p:sp>
      <p:sp>
        <p:nvSpPr>
          <p:cNvPr id="4" name="Slide Number Placeholder 3"/>
          <p:cNvSpPr>
            <a:spLocks noGrp="1"/>
          </p:cNvSpPr>
          <p:nvPr>
            <p:ph type="sldNum" sz="quarter" idx="10"/>
          </p:nvPr>
        </p:nvSpPr>
        <p:spPr/>
        <p:txBody>
          <a:bodyPr/>
          <a:lstStyle/>
          <a:p>
            <a:fld id="{95402334-DE96-4D8F-AA39-DB763625ADE8}" type="slidenum">
              <a:rPr lang="en-US" smtClean="0"/>
              <a:t>14</a:t>
            </a:fld>
            <a:endParaRPr lang="en-US"/>
          </a:p>
        </p:txBody>
      </p:sp>
    </p:spTree>
    <p:extLst>
      <p:ext uri="{BB962C8B-B14F-4D97-AF65-F5344CB8AC3E}">
        <p14:creationId xmlns:p14="http://schemas.microsoft.com/office/powerpoint/2010/main" val="3081624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9DACFB-A2D7-4DCD-947F-7B69551739A3}" type="datetime1">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1365615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412C61-F5C4-4CE8-B8BC-EDFD5BB391AF}" type="datetime1">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264535261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D56215-0066-4536-9FE6-9C47B52BD454}" type="datetime1">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415945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138F086-32D7-4FE0-9298-B72ECA56DADC}" type="datetime1">
              <a:rPr lang="en-US" smtClean="0"/>
              <a:t>3/10/2021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2754409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951BDD2-9426-4B7F-A0E1-6BF030117F89}" type="datetime1">
              <a:rPr lang="en-US" smtClean="0"/>
              <a:t>3/10/2021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2552996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6CDEF55-0317-47D2-A824-F4B42C4D23B6}" type="datetime1">
              <a:rPr lang="en-US" smtClean="0"/>
              <a:t>3/10/2021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1136241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F39059-6ACC-4992-B9BC-2688A4455B19}" type="datetime1">
              <a:rPr lang="en-US" smtClean="0"/>
              <a:t>3/10/2021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1711833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608C1CD-8705-4E2F-AB86-DF1CBB6BC4AF}" type="datetime1">
              <a:rPr lang="en-US" smtClean="0"/>
              <a:t>3/10/2021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3479772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3AA9E99-B50E-45DC-8C7A-E76B9C53804A}" type="datetime1">
              <a:rPr lang="en-US" smtClean="0"/>
              <a:t>3/10/2021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3117859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69197C-4F4B-4DA8-B842-8D7192562179}" type="datetime1">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1849382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B600B4-8E9A-42D1-B9FC-FC3A6B4A25B7}" type="datetime1">
              <a:rPr lang="en-US" smtClean="0"/>
              <a:t>3/10/2021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2AE6E0-6B8A-4A35-8B79-45936E9DB0A3}" type="slidenum">
              <a:rPr lang="en-US" smtClean="0"/>
              <a:t>‹#›</a:t>
            </a:fld>
            <a:endParaRPr lang="en-US"/>
          </a:p>
        </p:txBody>
      </p:sp>
    </p:spTree>
    <p:extLst>
      <p:ext uri="{BB962C8B-B14F-4D97-AF65-F5344CB8AC3E}">
        <p14:creationId xmlns:p14="http://schemas.microsoft.com/office/powerpoint/2010/main" val="198889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0EAD6F-8CBA-452B-9F26-691547BAB364}" type="datetime1">
              <a:rPr lang="en-US" smtClean="0"/>
              <a:t>3/10/2021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2AE6E0-6B8A-4A35-8B79-45936E9DB0A3}" type="slidenum">
              <a:rPr lang="en-US" smtClean="0"/>
              <a:t>‹#›</a:t>
            </a:fld>
            <a:endParaRPr lang="en-US"/>
          </a:p>
        </p:txBody>
      </p:sp>
    </p:spTree>
    <p:extLst>
      <p:ext uri="{BB962C8B-B14F-4D97-AF65-F5344CB8AC3E}">
        <p14:creationId xmlns:p14="http://schemas.microsoft.com/office/powerpoint/2010/main" val="3924812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simplemaps.com/data/us-citi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openstreetmap.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8</a:t>
            </a:r>
            <a:endParaRPr lang="en-US" dirty="0"/>
          </a:p>
        </p:txBody>
      </p:sp>
      <p:sp>
        <p:nvSpPr>
          <p:cNvPr id="3" name="Subtitle 2"/>
          <p:cNvSpPr>
            <a:spLocks noGrp="1"/>
          </p:cNvSpPr>
          <p:nvPr>
            <p:ph type="subTitle" idx="1"/>
          </p:nvPr>
        </p:nvSpPr>
        <p:spPr>
          <a:xfrm>
            <a:off x="1524000" y="3602038"/>
            <a:ext cx="9144000" cy="2089078"/>
          </a:xfrm>
        </p:spPr>
        <p:txBody>
          <a:bodyPr>
            <a:normAutofit/>
          </a:bodyPr>
          <a:lstStyle/>
          <a:p>
            <a:r>
              <a:rPr lang="en-US" sz="4800" dirty="0">
                <a:solidFill>
                  <a:srgbClr val="C00000"/>
                </a:solidFill>
              </a:rPr>
              <a:t>V</a:t>
            </a:r>
            <a:r>
              <a:rPr lang="en-US" sz="4800" dirty="0" smtClean="0">
                <a:solidFill>
                  <a:srgbClr val="C00000"/>
                </a:solidFill>
              </a:rPr>
              <a:t>isualizing </a:t>
            </a:r>
            <a:r>
              <a:rPr lang="en-US" sz="4800" dirty="0" smtClean="0">
                <a:solidFill>
                  <a:srgbClr val="C00000"/>
                </a:solidFill>
              </a:rPr>
              <a:t>Stamen maps</a:t>
            </a:r>
            <a:r>
              <a:rPr lang="en-US" sz="4800" dirty="0" smtClean="0">
                <a:solidFill>
                  <a:srgbClr val="C00000"/>
                </a:solidFill>
              </a:rPr>
              <a:t> </a:t>
            </a:r>
            <a:r>
              <a:rPr lang="en-US" sz="4800" dirty="0" smtClean="0">
                <a:solidFill>
                  <a:srgbClr val="C00000"/>
                </a:solidFill>
              </a:rPr>
              <a:t>with </a:t>
            </a:r>
            <a:r>
              <a:rPr lang="en-US" sz="4800" dirty="0" err="1" smtClean="0">
                <a:solidFill>
                  <a:srgbClr val="C00000"/>
                </a:solidFill>
              </a:rPr>
              <a:t>ggmap</a:t>
            </a:r>
            <a:r>
              <a:rPr lang="en-US" sz="4800" dirty="0" smtClean="0">
                <a:solidFill>
                  <a:srgbClr val="C00000"/>
                </a:solidFill>
              </a:rPr>
              <a:t> </a:t>
            </a:r>
            <a:endParaRPr lang="en-US" sz="4800" dirty="0">
              <a:solidFill>
                <a:srgbClr val="C00000"/>
              </a:solidFill>
            </a:endParaRPr>
          </a:p>
        </p:txBody>
      </p:sp>
      <p:sp>
        <p:nvSpPr>
          <p:cNvPr id="4" name="Slide Number Placeholder 3"/>
          <p:cNvSpPr>
            <a:spLocks noGrp="1"/>
          </p:cNvSpPr>
          <p:nvPr>
            <p:ph type="sldNum" sz="quarter" idx="12"/>
          </p:nvPr>
        </p:nvSpPr>
        <p:spPr/>
        <p:txBody>
          <a:bodyPr/>
          <a:lstStyle/>
          <a:p>
            <a:fld id="{3B2AE6E0-6B8A-4A35-8B79-45936E9DB0A3}" type="slidenum">
              <a:rPr lang="en-US" smtClean="0"/>
              <a:t>1</a:t>
            </a:fld>
            <a:endParaRPr lang="en-US"/>
          </a:p>
        </p:txBody>
      </p:sp>
    </p:spTree>
    <p:extLst>
      <p:ext uri="{BB962C8B-B14F-4D97-AF65-F5344CB8AC3E}">
        <p14:creationId xmlns:p14="http://schemas.microsoft.com/office/powerpoint/2010/main" val="3716364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7" y="174056"/>
            <a:ext cx="10515600" cy="808583"/>
          </a:xfrm>
        </p:spPr>
        <p:txBody>
          <a:bodyPr/>
          <a:lstStyle/>
          <a:p>
            <a:r>
              <a:rPr lang="en-US" b="1" dirty="0" smtClean="0"/>
              <a:t>Contents</a:t>
            </a:r>
            <a:endParaRPr lang="en-US" dirty="0"/>
          </a:p>
        </p:txBody>
      </p:sp>
      <p:sp>
        <p:nvSpPr>
          <p:cNvPr id="3" name="Content Placeholder 2"/>
          <p:cNvSpPr>
            <a:spLocks noGrp="1"/>
          </p:cNvSpPr>
          <p:nvPr>
            <p:ph idx="1"/>
          </p:nvPr>
        </p:nvSpPr>
        <p:spPr>
          <a:xfrm>
            <a:off x="838200" y="1078174"/>
            <a:ext cx="11090564" cy="5779826"/>
          </a:xfrm>
        </p:spPr>
        <p:txBody>
          <a:bodyPr>
            <a:noAutofit/>
          </a:bodyPr>
          <a:lstStyle/>
          <a:p>
            <a:pPr marL="0" indent="0">
              <a:buNone/>
            </a:pPr>
            <a:r>
              <a:rPr lang="en-US" sz="3200" dirty="0"/>
              <a:t>• Creating a </a:t>
            </a:r>
            <a:r>
              <a:rPr lang="en-US" sz="3200" dirty="0" err="1" smtClean="0"/>
              <a:t>basemap</a:t>
            </a:r>
            <a:endParaRPr lang="en-US" sz="3200" dirty="0"/>
          </a:p>
          <a:p>
            <a:pPr marL="0" indent="0">
              <a:buNone/>
            </a:pPr>
            <a:r>
              <a:rPr lang="en-US" sz="3200" dirty="0"/>
              <a:t>• Adding </a:t>
            </a:r>
            <a:r>
              <a:rPr lang="en-US" sz="3200" dirty="0" smtClean="0"/>
              <a:t>operational layers</a:t>
            </a:r>
            <a:endParaRPr lang="en-US" sz="3200" dirty="0"/>
          </a:p>
          <a:p>
            <a:pPr marL="0" indent="0">
              <a:buNone/>
            </a:pPr>
            <a:r>
              <a:rPr lang="en-US" sz="3200" dirty="0"/>
              <a:t>• </a:t>
            </a:r>
            <a:r>
              <a:rPr lang="en-US" sz="3200" dirty="0" smtClean="0"/>
              <a:t>Multilayered Plot with </a:t>
            </a:r>
            <a:r>
              <a:rPr lang="en-US" sz="3200" dirty="0" err="1" smtClean="0"/>
              <a:t>ggmap</a:t>
            </a:r>
            <a:r>
              <a:rPr lang="en-US" sz="3200" dirty="0" smtClean="0"/>
              <a:t>.</a:t>
            </a:r>
            <a:endParaRPr lang="en-US" sz="3200" dirty="0"/>
          </a:p>
        </p:txBody>
      </p:sp>
      <p:sp>
        <p:nvSpPr>
          <p:cNvPr id="4" name="Slide Number Placeholder 3"/>
          <p:cNvSpPr>
            <a:spLocks noGrp="1"/>
          </p:cNvSpPr>
          <p:nvPr>
            <p:ph type="sldNum" sz="quarter" idx="12"/>
          </p:nvPr>
        </p:nvSpPr>
        <p:spPr/>
        <p:txBody>
          <a:bodyPr/>
          <a:lstStyle/>
          <a:p>
            <a:fld id="{3B2AE6E0-6B8A-4A35-8B79-45936E9DB0A3}" type="slidenum">
              <a:rPr lang="en-US" smtClean="0"/>
              <a:t>2</a:t>
            </a:fld>
            <a:endParaRPr lang="en-US"/>
          </a:p>
        </p:txBody>
      </p:sp>
    </p:spTree>
    <p:extLst>
      <p:ext uri="{BB962C8B-B14F-4D97-AF65-F5344CB8AC3E}">
        <p14:creationId xmlns:p14="http://schemas.microsoft.com/office/powerpoint/2010/main" val="40407241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b="1" u="sng" dirty="0" smtClean="0">
                <a:solidFill>
                  <a:srgbClr val="C00000"/>
                </a:solidFill>
              </a:rPr>
              <a:t>Exercise 1: Creating a </a:t>
            </a:r>
            <a:r>
              <a:rPr lang="en-US" b="1" u="sng" dirty="0" err="1" smtClean="0">
                <a:solidFill>
                  <a:srgbClr val="C00000"/>
                </a:solidFill>
              </a:rPr>
              <a:t>basemap</a:t>
            </a:r>
            <a:r>
              <a:rPr lang="en-US" b="1" u="sng" dirty="0" smtClean="0">
                <a:solidFill>
                  <a:srgbClr val="C00000"/>
                </a:solidFill>
              </a:rPr>
              <a:t> – stamen background</a:t>
            </a:r>
            <a:endParaRPr lang="en-US" b="1" u="sng" dirty="0">
              <a:solidFill>
                <a:srgbClr val="C00000"/>
              </a:solidFill>
            </a:endParaRPr>
          </a:p>
        </p:txBody>
      </p:sp>
      <p:sp>
        <p:nvSpPr>
          <p:cNvPr id="3" name="Content Placeholder 2"/>
          <p:cNvSpPr>
            <a:spLocks noGrp="1"/>
          </p:cNvSpPr>
          <p:nvPr>
            <p:ph idx="1"/>
          </p:nvPr>
        </p:nvSpPr>
        <p:spPr>
          <a:xfrm>
            <a:off x="122830" y="625642"/>
            <a:ext cx="12069170" cy="6256420"/>
          </a:xfrm>
        </p:spPr>
        <p:txBody>
          <a:bodyPr>
            <a:noAutofit/>
          </a:bodyPr>
          <a:lstStyle/>
          <a:p>
            <a:pPr marL="0" indent="0">
              <a:buNone/>
            </a:pPr>
            <a:r>
              <a:rPr lang="en-US" sz="3200" i="1" dirty="0"/>
              <a:t># Library</a:t>
            </a:r>
            <a:r>
              <a:rPr lang="en-US" sz="3200" dirty="0"/>
              <a:t> </a:t>
            </a:r>
            <a:endParaRPr lang="en-US" sz="3200" dirty="0" smtClean="0"/>
          </a:p>
          <a:p>
            <a:pPr lvl="1"/>
            <a:r>
              <a:rPr lang="en-US" sz="3200" b="1" dirty="0" smtClean="0"/>
              <a:t>library</a:t>
            </a:r>
            <a:r>
              <a:rPr lang="en-US" sz="3200" dirty="0" smtClean="0"/>
              <a:t>(</a:t>
            </a:r>
            <a:r>
              <a:rPr lang="en-US" sz="3200" dirty="0" err="1" smtClean="0"/>
              <a:t>ggmap</a:t>
            </a:r>
            <a:r>
              <a:rPr lang="en-US" sz="3200" dirty="0"/>
              <a:t>) </a:t>
            </a:r>
            <a:endParaRPr lang="en-US" sz="3200" dirty="0" smtClean="0"/>
          </a:p>
          <a:p>
            <a:pPr lvl="1"/>
            <a:r>
              <a:rPr lang="en-US" sz="3200" b="1" dirty="0" smtClean="0"/>
              <a:t>library</a:t>
            </a:r>
            <a:r>
              <a:rPr lang="en-US" sz="3200" dirty="0" smtClean="0"/>
              <a:t>(</a:t>
            </a:r>
            <a:r>
              <a:rPr lang="en-US" sz="3200" dirty="0" err="1" smtClean="0"/>
              <a:t>gridExtra</a:t>
            </a:r>
            <a:r>
              <a:rPr lang="en-US" sz="3200" dirty="0"/>
              <a:t>) </a:t>
            </a:r>
            <a:endParaRPr lang="en-US" sz="3200" dirty="0" smtClean="0"/>
          </a:p>
          <a:p>
            <a:pPr marL="0" indent="0">
              <a:buNone/>
            </a:pPr>
            <a:r>
              <a:rPr lang="en-US" sz="3200" i="1" dirty="0" smtClean="0"/>
              <a:t># </a:t>
            </a:r>
            <a:r>
              <a:rPr lang="en-US" sz="3200" i="1" dirty="0"/>
              <a:t>For stamen map, you have to give the extremity of the window you are looking at. here is an example with the watercolor background (Around </a:t>
            </a:r>
            <a:r>
              <a:rPr lang="en-US" sz="3200" i="1" dirty="0" err="1"/>
              <a:t>brisbane</a:t>
            </a:r>
            <a:r>
              <a:rPr lang="en-US" sz="3200" i="1" dirty="0"/>
              <a:t>)</a:t>
            </a:r>
            <a:r>
              <a:rPr lang="en-US" sz="3200" dirty="0"/>
              <a:t> </a:t>
            </a:r>
            <a:endParaRPr lang="en-US" sz="3200" dirty="0" smtClean="0"/>
          </a:p>
          <a:p>
            <a:r>
              <a:rPr lang="en-US" sz="3200" dirty="0" smtClean="0"/>
              <a:t>map </a:t>
            </a:r>
            <a:r>
              <a:rPr lang="en-US" sz="3200" dirty="0"/>
              <a:t>&lt;- </a:t>
            </a:r>
            <a:r>
              <a:rPr lang="en-US" sz="3200" b="1" dirty="0" err="1"/>
              <a:t>get_stamenmap</a:t>
            </a:r>
            <a:r>
              <a:rPr lang="en-US" sz="3200" dirty="0"/>
              <a:t>( </a:t>
            </a:r>
            <a:r>
              <a:rPr lang="en-US" sz="3200" dirty="0" err="1"/>
              <a:t>bbox</a:t>
            </a:r>
            <a:r>
              <a:rPr lang="en-US" sz="3200" dirty="0"/>
              <a:t> = </a:t>
            </a:r>
            <a:r>
              <a:rPr lang="en-US" sz="3200" b="1" dirty="0"/>
              <a:t>c</a:t>
            </a:r>
            <a:r>
              <a:rPr lang="en-US" sz="3200" dirty="0"/>
              <a:t>(left = 110, bottom = -40, right </a:t>
            </a:r>
            <a:r>
              <a:rPr lang="en-US" sz="3200" dirty="0" smtClean="0"/>
              <a:t>=160</a:t>
            </a:r>
            <a:r>
              <a:rPr lang="en-US" sz="3200" dirty="0"/>
              <a:t>, top = -10), zoom = 4, </a:t>
            </a:r>
            <a:r>
              <a:rPr lang="en-US" sz="3200" dirty="0" err="1"/>
              <a:t>maptype</a:t>
            </a:r>
            <a:r>
              <a:rPr lang="en-US" sz="3200" dirty="0"/>
              <a:t> = "watercolor") </a:t>
            </a:r>
            <a:endParaRPr lang="en-US" sz="3200" dirty="0" smtClean="0"/>
          </a:p>
          <a:p>
            <a:endParaRPr lang="en-US" sz="3200" dirty="0" smtClean="0"/>
          </a:p>
          <a:p>
            <a:r>
              <a:rPr lang="en-US" sz="3200" b="1" dirty="0" err="1" smtClean="0"/>
              <a:t>ggmap</a:t>
            </a:r>
            <a:r>
              <a:rPr lang="en-US" sz="3200" dirty="0" smtClean="0"/>
              <a:t>(map</a:t>
            </a:r>
            <a:r>
              <a:rPr lang="en-US" sz="3200" dirty="0"/>
              <a:t>) + </a:t>
            </a:r>
            <a:r>
              <a:rPr lang="en-US" sz="3200" b="1" dirty="0" err="1"/>
              <a:t>theme_void</a:t>
            </a:r>
            <a:r>
              <a:rPr lang="en-US" sz="3200" dirty="0"/>
              <a:t>() + </a:t>
            </a:r>
            <a:r>
              <a:rPr lang="en-US" sz="3200" b="1" dirty="0"/>
              <a:t>theme</a:t>
            </a:r>
            <a:r>
              <a:rPr lang="en-US" sz="3200" dirty="0"/>
              <a:t>( </a:t>
            </a:r>
            <a:r>
              <a:rPr lang="en-US" sz="3200" dirty="0" err="1"/>
              <a:t>plot.title</a:t>
            </a:r>
            <a:r>
              <a:rPr lang="en-US" sz="3200" dirty="0"/>
              <a:t> = </a:t>
            </a:r>
            <a:r>
              <a:rPr lang="en-US" sz="3200" b="1" dirty="0" err="1"/>
              <a:t>element_text</a:t>
            </a:r>
            <a:r>
              <a:rPr lang="en-US" sz="3200" dirty="0"/>
              <a:t>(</a:t>
            </a:r>
            <a:r>
              <a:rPr lang="en-US" sz="3200" dirty="0" err="1"/>
              <a:t>colour</a:t>
            </a:r>
            <a:r>
              <a:rPr lang="en-US" sz="3200" dirty="0"/>
              <a:t> = "orange"), </a:t>
            </a:r>
            <a:r>
              <a:rPr lang="en-US" sz="3200" dirty="0" err="1"/>
              <a:t>panel.border</a:t>
            </a:r>
            <a:r>
              <a:rPr lang="en-US" sz="3200" dirty="0"/>
              <a:t> = </a:t>
            </a:r>
            <a:r>
              <a:rPr lang="en-US" sz="3200" b="1" dirty="0" err="1"/>
              <a:t>element_rect</a:t>
            </a:r>
            <a:r>
              <a:rPr lang="en-US" sz="3200" dirty="0"/>
              <a:t>(</a:t>
            </a:r>
            <a:r>
              <a:rPr lang="en-US" sz="3200" dirty="0" err="1"/>
              <a:t>colour</a:t>
            </a:r>
            <a:r>
              <a:rPr lang="en-US" sz="3200" dirty="0"/>
              <a:t> = "grey", fill=NA, size=2) )</a:t>
            </a:r>
            <a:endParaRPr lang="en-US" sz="3200" dirty="0" smtClean="0"/>
          </a:p>
        </p:txBody>
      </p:sp>
      <p:sp>
        <p:nvSpPr>
          <p:cNvPr id="4" name="Slide Number Placeholder 3"/>
          <p:cNvSpPr>
            <a:spLocks noGrp="1"/>
          </p:cNvSpPr>
          <p:nvPr>
            <p:ph type="sldNum" sz="quarter" idx="12"/>
          </p:nvPr>
        </p:nvSpPr>
        <p:spPr/>
        <p:txBody>
          <a:bodyPr/>
          <a:lstStyle/>
          <a:p>
            <a:fld id="{3B2AE6E0-6B8A-4A35-8B79-45936E9DB0A3}" type="slidenum">
              <a:rPr lang="en-US" smtClean="0"/>
              <a:t>3</a:t>
            </a:fld>
            <a:endParaRPr lang="en-US"/>
          </a:p>
        </p:txBody>
      </p:sp>
    </p:spTree>
    <p:extLst>
      <p:ext uri="{BB962C8B-B14F-4D97-AF65-F5344CB8AC3E}">
        <p14:creationId xmlns:p14="http://schemas.microsoft.com/office/powerpoint/2010/main" val="4051961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a:solidFill>
                  <a:srgbClr val="C00000"/>
                </a:solidFill>
              </a:rPr>
              <a:t>2 </a:t>
            </a:r>
            <a:r>
              <a:rPr lang="en-US" b="1" u="sng" dirty="0" smtClean="0">
                <a:solidFill>
                  <a:srgbClr val="C00000"/>
                </a:solidFill>
              </a:rPr>
              <a:t>: Adding </a:t>
            </a:r>
            <a:r>
              <a:rPr lang="en-US" b="1" u="sng" dirty="0">
                <a:solidFill>
                  <a:srgbClr val="C00000"/>
                </a:solidFill>
              </a:rPr>
              <a:t>Operational data </a:t>
            </a:r>
            <a:r>
              <a:rPr lang="en-US" b="1" u="sng" dirty="0" smtClean="0">
                <a:solidFill>
                  <a:srgbClr val="C00000"/>
                </a:solidFill>
              </a:rPr>
              <a:t>layers</a:t>
            </a:r>
            <a:endParaRPr lang="en-US" dirty="0"/>
          </a:p>
        </p:txBody>
      </p:sp>
      <p:sp>
        <p:nvSpPr>
          <p:cNvPr id="3" name="Content Placeholder 2"/>
          <p:cNvSpPr>
            <a:spLocks noGrp="1"/>
          </p:cNvSpPr>
          <p:nvPr>
            <p:ph idx="1"/>
          </p:nvPr>
        </p:nvSpPr>
        <p:spPr>
          <a:xfrm>
            <a:off x="122830" y="818147"/>
            <a:ext cx="12069170" cy="6039852"/>
          </a:xfrm>
        </p:spPr>
        <p:txBody>
          <a:bodyPr>
            <a:noAutofit/>
          </a:bodyPr>
          <a:lstStyle/>
          <a:p>
            <a:r>
              <a:rPr lang="en-US" sz="3600" dirty="0" smtClean="0"/>
              <a:t> Use </a:t>
            </a:r>
            <a:r>
              <a:rPr lang="en-US" sz="3600" dirty="0" err="1" smtClean="0"/>
              <a:t>get_stamenmap</a:t>
            </a:r>
            <a:r>
              <a:rPr lang="en-US" sz="3600" dirty="0"/>
              <a:t>()</a:t>
            </a:r>
            <a:r>
              <a:rPr lang="en-US" sz="3600" dirty="0"/>
              <a:t> to plot the longitude/latitude maps. </a:t>
            </a:r>
            <a:endParaRPr lang="en-US" sz="3600" dirty="0" smtClean="0"/>
          </a:p>
          <a:p>
            <a:endParaRPr lang="en-US" sz="3600" dirty="0" smtClean="0"/>
          </a:p>
          <a:p>
            <a:pPr>
              <a:tabLst>
                <a:tab pos="11718925" algn="l"/>
              </a:tabLst>
            </a:pPr>
            <a:r>
              <a:rPr lang="en-US" sz="3600" dirty="0" smtClean="0"/>
              <a:t>The data for the following plots is available at     </a:t>
            </a:r>
          </a:p>
          <a:p>
            <a:pPr marL="0" indent="0">
              <a:buNone/>
              <a:tabLst>
                <a:tab pos="11718925" algn="l"/>
              </a:tabLst>
            </a:pPr>
            <a:r>
              <a:rPr lang="en-US" sz="3600" dirty="0"/>
              <a:t> </a:t>
            </a:r>
            <a:r>
              <a:rPr lang="en-US" sz="3600" dirty="0" smtClean="0"/>
              <a:t>         </a:t>
            </a:r>
            <a:r>
              <a:rPr lang="en-US" sz="3600" dirty="0"/>
              <a:t> </a:t>
            </a:r>
            <a:r>
              <a:rPr lang="en-US" sz="3600" dirty="0">
                <a:hlinkClick r:id="rId2"/>
              </a:rPr>
              <a:t>https://simplemaps.com/data/us-cities</a:t>
            </a:r>
            <a:r>
              <a:rPr lang="en-US" sz="3600" dirty="0"/>
              <a:t>. </a:t>
            </a:r>
            <a:endParaRPr lang="en-US" sz="3600" dirty="0" smtClean="0"/>
          </a:p>
          <a:p>
            <a:pPr marL="0" indent="0">
              <a:buNone/>
            </a:pPr>
            <a:endParaRPr lang="en-US" sz="3600" dirty="0" smtClean="0"/>
          </a:p>
          <a:p>
            <a:r>
              <a:rPr lang="en-US" sz="3600" dirty="0"/>
              <a:t> </a:t>
            </a:r>
            <a:r>
              <a:rPr lang="en-US" sz="3600" dirty="0" smtClean="0"/>
              <a:t>The</a:t>
            </a:r>
            <a:r>
              <a:rPr lang="en-US" sz="3600" dirty="0"/>
              <a:t> </a:t>
            </a:r>
            <a:r>
              <a:rPr lang="en-US" sz="3600" dirty="0" err="1"/>
              <a:t>get_stamenmap</a:t>
            </a:r>
            <a:r>
              <a:rPr lang="en-US" sz="3600" dirty="0"/>
              <a:t>()</a:t>
            </a:r>
            <a:r>
              <a:rPr lang="en-US" sz="3600" dirty="0"/>
              <a:t> function </a:t>
            </a:r>
            <a:r>
              <a:rPr lang="en-US" sz="3600" dirty="0" err="1"/>
              <a:t>reqiures</a:t>
            </a:r>
            <a:r>
              <a:rPr lang="en-US" sz="3600" dirty="0"/>
              <a:t> a bounding box, </a:t>
            </a:r>
            <a:r>
              <a:rPr lang="en-US" sz="3600" dirty="0" err="1"/>
              <a:t>i.e</a:t>
            </a:r>
            <a:r>
              <a:rPr lang="en-US" sz="3600" dirty="0"/>
              <a:t> the top, bottom, left and right latitude/longitude of the map you want to plot</a:t>
            </a:r>
            <a:r>
              <a:rPr lang="en-US" sz="3600" dirty="0" smtClean="0"/>
              <a:t>.</a:t>
            </a:r>
          </a:p>
          <a:p>
            <a:pPr marL="0" indent="0">
              <a:buNone/>
            </a:pPr>
            <a:endParaRPr lang="en-US" sz="3600" dirty="0" smtClean="0"/>
          </a:p>
          <a:p>
            <a:r>
              <a:rPr lang="en-US" sz="3600" dirty="0" err="1"/>
              <a:t>bbox</a:t>
            </a:r>
            <a:r>
              <a:rPr lang="en-US" sz="3600" dirty="0"/>
              <a:t> &lt;- c(bottom = 25.75, top = 49 , right = -67, left = -125</a:t>
            </a:r>
            <a:r>
              <a:rPr lang="en-US" sz="3600" dirty="0" smtClean="0"/>
              <a:t>)</a:t>
            </a:r>
          </a:p>
          <a:p>
            <a:endParaRPr lang="en-US" sz="3600" dirty="0" smtClean="0"/>
          </a:p>
        </p:txBody>
      </p:sp>
      <p:sp>
        <p:nvSpPr>
          <p:cNvPr id="4" name="Slide Number Placeholder 3"/>
          <p:cNvSpPr>
            <a:spLocks noGrp="1"/>
          </p:cNvSpPr>
          <p:nvPr>
            <p:ph type="sldNum" sz="quarter" idx="12"/>
          </p:nvPr>
        </p:nvSpPr>
        <p:spPr/>
        <p:txBody>
          <a:bodyPr/>
          <a:lstStyle/>
          <a:p>
            <a:fld id="{3B2AE6E0-6B8A-4A35-8B79-45936E9DB0A3}" type="slidenum">
              <a:rPr lang="en-US" smtClean="0"/>
              <a:t>4</a:t>
            </a:fld>
            <a:endParaRPr lang="en-US"/>
          </a:p>
        </p:txBody>
      </p:sp>
    </p:spTree>
    <p:extLst>
      <p:ext uri="{BB962C8B-B14F-4D97-AF65-F5344CB8AC3E}">
        <p14:creationId xmlns:p14="http://schemas.microsoft.com/office/powerpoint/2010/main" val="16344700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3" name="Content Placeholder 2"/>
          <p:cNvSpPr>
            <a:spLocks noGrp="1"/>
          </p:cNvSpPr>
          <p:nvPr>
            <p:ph idx="1"/>
          </p:nvPr>
        </p:nvSpPr>
        <p:spPr>
          <a:xfrm>
            <a:off x="122830" y="818147"/>
            <a:ext cx="11805934" cy="6039852"/>
          </a:xfrm>
        </p:spPr>
        <p:txBody>
          <a:bodyPr>
            <a:noAutofit/>
          </a:bodyPr>
          <a:lstStyle/>
          <a:p>
            <a:pPr>
              <a:lnSpc>
                <a:spcPct val="100000"/>
              </a:lnSpc>
              <a:spcBef>
                <a:spcPts val="1200"/>
              </a:spcBef>
              <a:spcAft>
                <a:spcPts val="1200"/>
              </a:spcAft>
            </a:pPr>
            <a:r>
              <a:rPr lang="en-US" sz="3400" dirty="0"/>
              <a:t>You can find these values from </a:t>
            </a:r>
            <a:r>
              <a:rPr lang="en-US" sz="3400" dirty="0">
                <a:hlinkClick r:id="rId2"/>
              </a:rPr>
              <a:t>https://www.openstreetmap.org</a:t>
            </a:r>
            <a:r>
              <a:rPr lang="en-US" sz="3400" dirty="0"/>
              <a:t>. </a:t>
            </a:r>
            <a:endParaRPr lang="en-US" sz="3400" dirty="0" smtClean="0"/>
          </a:p>
          <a:p>
            <a:pPr>
              <a:lnSpc>
                <a:spcPct val="100000"/>
              </a:lnSpc>
              <a:spcBef>
                <a:spcPts val="1200"/>
              </a:spcBef>
              <a:spcAft>
                <a:spcPts val="1200"/>
              </a:spcAft>
            </a:pPr>
            <a:r>
              <a:rPr lang="en-US" sz="3400" dirty="0" smtClean="0"/>
              <a:t>The other important parameters of this function are zoom and map type. Higher the zoom level, the more detailed plot.</a:t>
            </a:r>
          </a:p>
          <a:p>
            <a:pPr>
              <a:lnSpc>
                <a:spcPct val="100000"/>
              </a:lnSpc>
              <a:spcBef>
                <a:spcPts val="1200"/>
              </a:spcBef>
              <a:spcAft>
                <a:spcPts val="1200"/>
              </a:spcAft>
            </a:pPr>
            <a:r>
              <a:rPr lang="en-US" sz="3400" dirty="0" smtClean="0"/>
              <a:t> Download the map by connecting </a:t>
            </a:r>
            <a:r>
              <a:rPr lang="en-US" sz="3400" dirty="0" err="1" smtClean="0"/>
              <a:t>ggmap</a:t>
            </a:r>
            <a:r>
              <a:rPr lang="en-US" sz="3400" dirty="0" smtClean="0"/>
              <a:t> to Stamen Map.</a:t>
            </a:r>
          </a:p>
          <a:p>
            <a:pPr>
              <a:lnSpc>
                <a:spcPct val="100000"/>
              </a:lnSpc>
              <a:spcBef>
                <a:spcPts val="1200"/>
              </a:spcBef>
              <a:spcAft>
                <a:spcPts val="1200"/>
              </a:spcAft>
            </a:pPr>
            <a:r>
              <a:rPr lang="en-US" sz="3400" dirty="0" smtClean="0"/>
              <a:t> Downloading of the map will take some time when the zoom level is high.</a:t>
            </a:r>
          </a:p>
          <a:p>
            <a:pPr>
              <a:lnSpc>
                <a:spcPct val="100000"/>
              </a:lnSpc>
              <a:spcBef>
                <a:spcPts val="1200"/>
              </a:spcBef>
              <a:spcAft>
                <a:spcPts val="1200"/>
              </a:spcAft>
            </a:pPr>
            <a:r>
              <a:rPr lang="en-US" sz="3400" dirty="0" smtClean="0"/>
              <a:t>The different types of plots available via Stamen Map are terrain, watercolor, toner which can be set to map type parameter.</a:t>
            </a:r>
          </a:p>
        </p:txBody>
      </p:sp>
      <p:sp>
        <p:nvSpPr>
          <p:cNvPr id="4" name="Slide Number Placeholder 3"/>
          <p:cNvSpPr>
            <a:spLocks noGrp="1"/>
          </p:cNvSpPr>
          <p:nvPr>
            <p:ph type="sldNum" sz="quarter" idx="12"/>
          </p:nvPr>
        </p:nvSpPr>
        <p:spPr/>
        <p:txBody>
          <a:bodyPr/>
          <a:lstStyle/>
          <a:p>
            <a:fld id="{3B2AE6E0-6B8A-4A35-8B79-45936E9DB0A3}" type="slidenum">
              <a:rPr lang="en-US" smtClean="0"/>
              <a:t>5</a:t>
            </a:fld>
            <a:endParaRPr lang="en-US"/>
          </a:p>
        </p:txBody>
      </p:sp>
    </p:spTree>
    <p:extLst>
      <p:ext uri="{BB962C8B-B14F-4D97-AF65-F5344CB8AC3E}">
        <p14:creationId xmlns:p14="http://schemas.microsoft.com/office/powerpoint/2010/main" val="2122159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3" name="Content Placeholder 2"/>
          <p:cNvSpPr>
            <a:spLocks noGrp="1"/>
          </p:cNvSpPr>
          <p:nvPr>
            <p:ph idx="1"/>
          </p:nvPr>
        </p:nvSpPr>
        <p:spPr>
          <a:xfrm>
            <a:off x="122830" y="818147"/>
            <a:ext cx="11805934" cy="6039852"/>
          </a:xfrm>
        </p:spPr>
        <p:txBody>
          <a:bodyPr>
            <a:noAutofit/>
          </a:bodyPr>
          <a:lstStyle/>
          <a:p>
            <a:pPr>
              <a:lnSpc>
                <a:spcPct val="100000"/>
              </a:lnSpc>
              <a:spcBef>
                <a:spcPts val="1200"/>
              </a:spcBef>
              <a:spcAft>
                <a:spcPts val="1200"/>
              </a:spcAft>
            </a:pPr>
            <a:r>
              <a:rPr lang="en-US" sz="3200" dirty="0"/>
              <a:t>library(</a:t>
            </a:r>
            <a:r>
              <a:rPr lang="en-US" sz="3200" dirty="0" err="1"/>
              <a:t>ggmap</a:t>
            </a:r>
            <a:r>
              <a:rPr lang="en-US" sz="3200" dirty="0"/>
              <a:t>)</a:t>
            </a:r>
          </a:p>
          <a:p>
            <a:pPr>
              <a:lnSpc>
                <a:spcPct val="100000"/>
              </a:lnSpc>
              <a:spcBef>
                <a:spcPts val="1200"/>
              </a:spcBef>
              <a:spcAft>
                <a:spcPts val="1200"/>
              </a:spcAft>
            </a:pPr>
            <a:r>
              <a:rPr lang="en-US" sz="3200" dirty="0" err="1"/>
              <a:t>usmap</a:t>
            </a:r>
            <a:r>
              <a:rPr lang="en-US" sz="3200" dirty="0"/>
              <a:t> &lt;- </a:t>
            </a:r>
            <a:r>
              <a:rPr lang="en-US" sz="3200" dirty="0" err="1"/>
              <a:t>get_stamenmap</a:t>
            </a:r>
            <a:r>
              <a:rPr lang="en-US" sz="3200" dirty="0"/>
              <a:t>(</a:t>
            </a:r>
            <a:r>
              <a:rPr lang="en-US" sz="3200" dirty="0" err="1"/>
              <a:t>bbox</a:t>
            </a:r>
            <a:r>
              <a:rPr lang="en-US" sz="3200" dirty="0"/>
              <a:t> = </a:t>
            </a:r>
            <a:r>
              <a:rPr lang="en-US" sz="3200" dirty="0" err="1"/>
              <a:t>bbox</a:t>
            </a:r>
            <a:r>
              <a:rPr lang="en-US" sz="3200" dirty="0"/>
              <a:t>, zoom = 6, </a:t>
            </a:r>
            <a:r>
              <a:rPr lang="en-US" sz="3200" dirty="0" err="1"/>
              <a:t>maptype</a:t>
            </a:r>
            <a:r>
              <a:rPr lang="en-US" sz="3200" dirty="0"/>
              <a:t> = 'toner-lite') </a:t>
            </a:r>
          </a:p>
          <a:p>
            <a:pPr>
              <a:lnSpc>
                <a:spcPct val="100000"/>
              </a:lnSpc>
              <a:spcBef>
                <a:spcPts val="1200"/>
              </a:spcBef>
              <a:spcAft>
                <a:spcPts val="1200"/>
              </a:spcAft>
            </a:pPr>
            <a:r>
              <a:rPr lang="en-US" sz="3200" dirty="0" err="1"/>
              <a:t>ggmap</a:t>
            </a:r>
            <a:r>
              <a:rPr lang="en-US" sz="3200" dirty="0"/>
              <a:t>(</a:t>
            </a:r>
            <a:r>
              <a:rPr lang="en-US" sz="3200" dirty="0" err="1"/>
              <a:t>usmap</a:t>
            </a:r>
            <a:r>
              <a:rPr lang="en-US" sz="3200" dirty="0"/>
              <a:t>)</a:t>
            </a:r>
            <a:endParaRPr lang="en-US" sz="3200" dirty="0" smtClean="0"/>
          </a:p>
        </p:txBody>
      </p:sp>
      <p:sp>
        <p:nvSpPr>
          <p:cNvPr id="4" name="Slide Number Placeholder 3"/>
          <p:cNvSpPr>
            <a:spLocks noGrp="1"/>
          </p:cNvSpPr>
          <p:nvPr>
            <p:ph type="sldNum" sz="quarter" idx="12"/>
          </p:nvPr>
        </p:nvSpPr>
        <p:spPr/>
        <p:txBody>
          <a:bodyPr/>
          <a:lstStyle/>
          <a:p>
            <a:fld id="{3B2AE6E0-6B8A-4A35-8B79-45936E9DB0A3}" type="slidenum">
              <a:rPr lang="en-US" smtClean="0"/>
              <a:t>6</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8526" y="2646947"/>
            <a:ext cx="8646695" cy="4211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7242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3" name="Content Placeholder 2"/>
          <p:cNvSpPr>
            <a:spLocks noGrp="1"/>
          </p:cNvSpPr>
          <p:nvPr>
            <p:ph idx="1"/>
          </p:nvPr>
        </p:nvSpPr>
        <p:spPr>
          <a:xfrm>
            <a:off x="122830" y="818147"/>
            <a:ext cx="12069170" cy="6039852"/>
          </a:xfrm>
        </p:spPr>
        <p:txBody>
          <a:bodyPr>
            <a:noAutofit/>
          </a:bodyPr>
          <a:lstStyle/>
          <a:p>
            <a:pPr>
              <a:lnSpc>
                <a:spcPct val="100000"/>
              </a:lnSpc>
              <a:spcBef>
                <a:spcPts val="1800"/>
              </a:spcBef>
              <a:spcAft>
                <a:spcPts val="1200"/>
              </a:spcAft>
            </a:pPr>
            <a:r>
              <a:rPr lang="en-US" sz="3200" dirty="0" smtClean="0"/>
              <a:t>Load the </a:t>
            </a:r>
            <a:r>
              <a:rPr lang="en-US" sz="3200" dirty="0" err="1" smtClean="0"/>
              <a:t>dplyr</a:t>
            </a:r>
            <a:r>
              <a:rPr lang="en-US" sz="3200" dirty="0" smtClean="0"/>
              <a:t> package:  library(</a:t>
            </a:r>
            <a:r>
              <a:rPr lang="en-US" sz="3200" dirty="0" err="1" smtClean="0"/>
              <a:t>dplyr</a:t>
            </a:r>
            <a:r>
              <a:rPr lang="en-US" sz="3200" dirty="0"/>
              <a:t>)</a:t>
            </a:r>
          </a:p>
          <a:p>
            <a:pPr>
              <a:lnSpc>
                <a:spcPct val="100000"/>
              </a:lnSpc>
              <a:spcBef>
                <a:spcPts val="1800"/>
              </a:spcBef>
              <a:spcAft>
                <a:spcPts val="1200"/>
              </a:spcAft>
            </a:pPr>
            <a:r>
              <a:rPr lang="en-US" sz="3200" dirty="0" err="1"/>
              <a:t>df</a:t>
            </a:r>
            <a:r>
              <a:rPr lang="en-US" sz="3200" dirty="0"/>
              <a:t> &lt;- read.csv</a:t>
            </a:r>
            <a:r>
              <a:rPr lang="en-US" sz="3200" dirty="0" smtClean="0"/>
              <a:t>('uscities.csv')</a:t>
            </a:r>
            <a:endParaRPr lang="en-US" sz="3200" dirty="0"/>
          </a:p>
          <a:p>
            <a:pPr marL="0" indent="0">
              <a:lnSpc>
                <a:spcPct val="100000"/>
              </a:lnSpc>
              <a:spcBef>
                <a:spcPts val="1800"/>
              </a:spcBef>
              <a:spcAft>
                <a:spcPts val="1200"/>
              </a:spcAft>
              <a:buNone/>
            </a:pPr>
            <a:r>
              <a:rPr lang="en-US" sz="3200" dirty="0"/>
              <a:t># Removing data of Alaska from dataset</a:t>
            </a:r>
          </a:p>
          <a:p>
            <a:pPr>
              <a:lnSpc>
                <a:spcPct val="100000"/>
              </a:lnSpc>
              <a:spcBef>
                <a:spcPts val="1800"/>
              </a:spcBef>
              <a:spcAft>
                <a:spcPts val="1200"/>
              </a:spcAft>
            </a:pPr>
            <a:r>
              <a:rPr lang="en-US" sz="3200" dirty="0" err="1"/>
              <a:t>df</a:t>
            </a:r>
            <a:r>
              <a:rPr lang="en-US" sz="3200" dirty="0"/>
              <a:t> &lt;- </a:t>
            </a:r>
            <a:r>
              <a:rPr lang="en-US" sz="3200" dirty="0" err="1"/>
              <a:t>df</a:t>
            </a:r>
            <a:r>
              <a:rPr lang="en-US" sz="3200" dirty="0"/>
              <a:t> %&gt;% filter(</a:t>
            </a:r>
            <a:r>
              <a:rPr lang="en-US" sz="3200" dirty="0" err="1"/>
              <a:t>state_name</a:t>
            </a:r>
            <a:r>
              <a:rPr lang="en-US" sz="3200" dirty="0"/>
              <a:t> != 'Alaska</a:t>
            </a:r>
            <a:r>
              <a:rPr lang="en-US" sz="3200" dirty="0" smtClean="0"/>
              <a:t>')</a:t>
            </a:r>
          </a:p>
          <a:p>
            <a:pPr marL="0" indent="0">
              <a:lnSpc>
                <a:spcPct val="100000"/>
              </a:lnSpc>
              <a:spcBef>
                <a:spcPts val="1800"/>
              </a:spcBef>
              <a:spcAft>
                <a:spcPts val="1200"/>
              </a:spcAft>
              <a:buNone/>
            </a:pPr>
            <a:r>
              <a:rPr lang="en-US" sz="3200" dirty="0"/>
              <a:t># Spread of counties across US using </a:t>
            </a:r>
            <a:r>
              <a:rPr lang="en-US" sz="3200" dirty="0" smtClean="0"/>
              <a:t>points</a:t>
            </a:r>
          </a:p>
          <a:p>
            <a:pPr lvl="1">
              <a:lnSpc>
                <a:spcPct val="100000"/>
              </a:lnSpc>
              <a:spcBef>
                <a:spcPts val="1800"/>
              </a:spcBef>
              <a:spcAft>
                <a:spcPts val="1200"/>
              </a:spcAft>
            </a:pPr>
            <a:r>
              <a:rPr lang="en-US" sz="3400" dirty="0" smtClean="0"/>
              <a:t>A </a:t>
            </a:r>
            <a:r>
              <a:rPr lang="en-US" sz="3400" dirty="0"/>
              <a:t>county is a geographical region of a country used for administrative or other purposes in certain modern nations. </a:t>
            </a:r>
            <a:endParaRPr lang="en-US" sz="3400" dirty="0"/>
          </a:p>
        </p:txBody>
      </p:sp>
      <p:sp>
        <p:nvSpPr>
          <p:cNvPr id="4" name="Slide Number Placeholder 3"/>
          <p:cNvSpPr>
            <a:spLocks noGrp="1"/>
          </p:cNvSpPr>
          <p:nvPr>
            <p:ph type="sldNum" sz="quarter" idx="12"/>
          </p:nvPr>
        </p:nvSpPr>
        <p:spPr/>
        <p:txBody>
          <a:bodyPr/>
          <a:lstStyle/>
          <a:p>
            <a:fld id="{3B2AE6E0-6B8A-4A35-8B79-45936E9DB0A3}" type="slidenum">
              <a:rPr lang="en-US" smtClean="0"/>
              <a:t>7</a:t>
            </a:fld>
            <a:endParaRPr lang="en-US"/>
          </a:p>
        </p:txBody>
      </p:sp>
    </p:spTree>
    <p:extLst>
      <p:ext uri="{BB962C8B-B14F-4D97-AF65-F5344CB8AC3E}">
        <p14:creationId xmlns:p14="http://schemas.microsoft.com/office/powerpoint/2010/main" val="2977217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4" name="Slide Number Placeholder 3"/>
          <p:cNvSpPr>
            <a:spLocks noGrp="1"/>
          </p:cNvSpPr>
          <p:nvPr>
            <p:ph type="sldNum" sz="quarter" idx="12"/>
          </p:nvPr>
        </p:nvSpPr>
        <p:spPr/>
        <p:txBody>
          <a:bodyPr/>
          <a:lstStyle/>
          <a:p>
            <a:fld id="{3B2AE6E0-6B8A-4A35-8B79-45936E9DB0A3}" type="slidenum">
              <a:rPr lang="en-US" smtClean="0"/>
              <a:t>8</a:t>
            </a:fld>
            <a:endParaRPr lang="en-US"/>
          </a:p>
        </p:txBody>
      </p:sp>
      <p:sp>
        <p:nvSpPr>
          <p:cNvPr id="3" name="Rectangle 2"/>
          <p:cNvSpPr/>
          <p:nvPr/>
        </p:nvSpPr>
        <p:spPr>
          <a:xfrm>
            <a:off x="312820" y="937100"/>
            <a:ext cx="11694695" cy="1661993"/>
          </a:xfrm>
          <a:prstGeom prst="rect">
            <a:avLst/>
          </a:prstGeom>
        </p:spPr>
        <p:txBody>
          <a:bodyPr wrap="square">
            <a:spAutoFit/>
          </a:bodyPr>
          <a:lstStyle/>
          <a:p>
            <a:pPr marL="457200" indent="-457200">
              <a:lnSpc>
                <a:spcPct val="100000"/>
              </a:lnSpc>
              <a:spcBef>
                <a:spcPts val="1800"/>
              </a:spcBef>
              <a:spcAft>
                <a:spcPts val="1200"/>
              </a:spcAft>
              <a:buFont typeface="Arial" pitchFamily="34" charset="0"/>
              <a:buChar char="•"/>
            </a:pPr>
            <a:r>
              <a:rPr lang="en-US" sz="3400" dirty="0" err="1"/>
              <a:t>ggmap</a:t>
            </a:r>
            <a:r>
              <a:rPr lang="en-US" sz="3400" dirty="0"/>
              <a:t>(</a:t>
            </a:r>
            <a:r>
              <a:rPr lang="en-US" sz="3400" dirty="0" err="1"/>
              <a:t>usmap</a:t>
            </a:r>
            <a:r>
              <a:rPr lang="en-US" sz="3400" dirty="0"/>
              <a:t>) +   </a:t>
            </a:r>
            <a:r>
              <a:rPr lang="en-US" sz="3400" dirty="0" err="1"/>
              <a:t>geom_point</a:t>
            </a:r>
            <a:r>
              <a:rPr lang="en-US" sz="3400" dirty="0"/>
              <a:t>(data = </a:t>
            </a:r>
            <a:r>
              <a:rPr lang="en-US" sz="3400" dirty="0" err="1"/>
              <a:t>df</a:t>
            </a:r>
            <a:r>
              <a:rPr lang="en-US" sz="3400" dirty="0"/>
              <a:t>, mapping = </a:t>
            </a:r>
            <a:r>
              <a:rPr lang="en-US" sz="3400" dirty="0" err="1"/>
              <a:t>aes</a:t>
            </a:r>
            <a:r>
              <a:rPr lang="en-US" sz="3400" dirty="0"/>
              <a:t>(x = </a:t>
            </a:r>
            <a:r>
              <a:rPr lang="en-US" sz="3400" dirty="0" err="1"/>
              <a:t>lng</a:t>
            </a:r>
            <a:r>
              <a:rPr lang="en-US" sz="3400" dirty="0"/>
              <a:t>, y = </a:t>
            </a:r>
            <a:r>
              <a:rPr lang="en-US" sz="3400" dirty="0" err="1"/>
              <a:t>lat</a:t>
            </a:r>
            <a:r>
              <a:rPr lang="en-US" sz="3400" dirty="0"/>
              <a:t>, color = population)) +   </a:t>
            </a:r>
            <a:r>
              <a:rPr lang="en-US" sz="3400" dirty="0" err="1"/>
              <a:t>ggtitle</a:t>
            </a:r>
            <a:r>
              <a:rPr lang="en-US" sz="3400" dirty="0"/>
              <a:t>('Spread of counties across US')</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4532" y="2599093"/>
            <a:ext cx="8366710" cy="401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3151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4" name="Slide Number Placeholder 3"/>
          <p:cNvSpPr>
            <a:spLocks noGrp="1"/>
          </p:cNvSpPr>
          <p:nvPr>
            <p:ph type="sldNum" sz="quarter" idx="12"/>
          </p:nvPr>
        </p:nvSpPr>
        <p:spPr/>
        <p:txBody>
          <a:bodyPr/>
          <a:lstStyle/>
          <a:p>
            <a:fld id="{3B2AE6E0-6B8A-4A35-8B79-45936E9DB0A3}" type="slidenum">
              <a:rPr lang="en-US" smtClean="0"/>
              <a:t>9</a:t>
            </a:fld>
            <a:endParaRPr lang="en-US"/>
          </a:p>
        </p:txBody>
      </p:sp>
      <p:sp>
        <p:nvSpPr>
          <p:cNvPr id="5" name="Rectangle 4"/>
          <p:cNvSpPr/>
          <p:nvPr/>
        </p:nvSpPr>
        <p:spPr>
          <a:xfrm>
            <a:off x="190500" y="739676"/>
            <a:ext cx="11792953" cy="5678478"/>
          </a:xfrm>
          <a:prstGeom prst="rect">
            <a:avLst/>
          </a:prstGeom>
        </p:spPr>
        <p:txBody>
          <a:bodyPr wrap="square">
            <a:spAutoFit/>
          </a:bodyPr>
          <a:lstStyle/>
          <a:p>
            <a:pPr marL="457200" indent="-457200">
              <a:spcBef>
                <a:spcPts val="1800"/>
              </a:spcBef>
              <a:spcAft>
                <a:spcPts val="1200"/>
              </a:spcAft>
              <a:buFont typeface="Arial" pitchFamily="34" charset="0"/>
              <a:buChar char="•"/>
            </a:pPr>
            <a:r>
              <a:rPr lang="en-US" sz="3600" dirty="0" smtClean="0"/>
              <a:t>As can seen in the above graph, most </a:t>
            </a:r>
            <a:r>
              <a:rPr lang="en-US" sz="3600" dirty="0"/>
              <a:t>of the points are overlapping and thus it is not easy to interpret what’s going </a:t>
            </a:r>
            <a:r>
              <a:rPr lang="en-US" sz="3600" dirty="0" smtClean="0"/>
              <a:t>on.  </a:t>
            </a:r>
          </a:p>
          <a:p>
            <a:pPr marL="457200" indent="-457200">
              <a:spcBef>
                <a:spcPts val="1800"/>
              </a:spcBef>
              <a:spcAft>
                <a:spcPts val="1200"/>
              </a:spcAft>
              <a:buFont typeface="Arial" pitchFamily="34" charset="0"/>
              <a:buChar char="•"/>
            </a:pPr>
            <a:r>
              <a:rPr lang="en-US" sz="3600" dirty="0" smtClean="0"/>
              <a:t>So try </a:t>
            </a:r>
            <a:r>
              <a:rPr lang="en-US" sz="3600" dirty="0"/>
              <a:t>alpha blending and reduce the size of points</a:t>
            </a:r>
            <a:r>
              <a:rPr lang="en-US" sz="3600" dirty="0" smtClean="0"/>
              <a:t>.</a:t>
            </a:r>
          </a:p>
          <a:p>
            <a:pPr>
              <a:spcBef>
                <a:spcPts val="1800"/>
              </a:spcBef>
              <a:spcAft>
                <a:spcPts val="1200"/>
              </a:spcAft>
            </a:pPr>
            <a:r>
              <a:rPr lang="en-US" sz="3600" dirty="0"/>
              <a:t># Spread of counties across US using points</a:t>
            </a:r>
          </a:p>
          <a:p>
            <a:pPr marL="457200" indent="-457200">
              <a:spcBef>
                <a:spcPts val="1800"/>
              </a:spcBef>
              <a:spcAft>
                <a:spcPts val="1200"/>
              </a:spcAft>
              <a:buFont typeface="Arial" pitchFamily="34" charset="0"/>
              <a:buChar char="•"/>
            </a:pPr>
            <a:r>
              <a:rPr lang="en-US" sz="3600" dirty="0" err="1"/>
              <a:t>ggmap</a:t>
            </a:r>
            <a:r>
              <a:rPr lang="en-US" sz="3600" dirty="0"/>
              <a:t>(</a:t>
            </a:r>
            <a:r>
              <a:rPr lang="en-US" sz="3600" dirty="0" err="1"/>
              <a:t>usmap</a:t>
            </a:r>
            <a:r>
              <a:rPr lang="en-US" sz="3600" dirty="0"/>
              <a:t>) + </a:t>
            </a:r>
            <a:r>
              <a:rPr lang="en-US" sz="3600" dirty="0" smtClean="0"/>
              <a:t> </a:t>
            </a:r>
            <a:r>
              <a:rPr lang="en-US" sz="3600" dirty="0" err="1" smtClean="0"/>
              <a:t>geom_point</a:t>
            </a:r>
            <a:r>
              <a:rPr lang="en-US" sz="3600" dirty="0" smtClean="0"/>
              <a:t>(data </a:t>
            </a:r>
            <a:r>
              <a:rPr lang="en-US" sz="3600" dirty="0"/>
              <a:t>= </a:t>
            </a:r>
            <a:r>
              <a:rPr lang="en-US" sz="3600" dirty="0" err="1"/>
              <a:t>df</a:t>
            </a:r>
            <a:r>
              <a:rPr lang="en-US" sz="3600" dirty="0"/>
              <a:t>, </a:t>
            </a:r>
            <a:r>
              <a:rPr lang="en-US" sz="3600" dirty="0" smtClean="0"/>
              <a:t> mapping </a:t>
            </a:r>
            <a:r>
              <a:rPr lang="en-US" sz="3600" dirty="0"/>
              <a:t>= </a:t>
            </a:r>
            <a:r>
              <a:rPr lang="en-US" sz="3600" dirty="0" err="1"/>
              <a:t>aes</a:t>
            </a:r>
            <a:r>
              <a:rPr lang="en-US" sz="3600" dirty="0"/>
              <a:t>(x = </a:t>
            </a:r>
            <a:r>
              <a:rPr lang="en-US" sz="3600" dirty="0" err="1"/>
              <a:t>lng</a:t>
            </a:r>
            <a:r>
              <a:rPr lang="en-US" sz="3600" dirty="0"/>
              <a:t>, y = </a:t>
            </a:r>
            <a:r>
              <a:rPr lang="en-US" sz="3600" dirty="0" err="1"/>
              <a:t>lat</a:t>
            </a:r>
            <a:r>
              <a:rPr lang="en-US" sz="3600" dirty="0"/>
              <a:t>, color = population</a:t>
            </a:r>
            <a:r>
              <a:rPr lang="en-US" sz="3600" dirty="0" smtClean="0"/>
              <a:t>),  size </a:t>
            </a:r>
            <a:r>
              <a:rPr lang="en-US" sz="3600" dirty="0"/>
              <a:t>= 0.8</a:t>
            </a:r>
            <a:r>
              <a:rPr lang="en-US" sz="3600" dirty="0" smtClean="0"/>
              <a:t>, stroke</a:t>
            </a:r>
            <a:r>
              <a:rPr lang="en-US" sz="3600" dirty="0"/>
              <a:t>= 0, alpha = 0.4) </a:t>
            </a:r>
            <a:r>
              <a:rPr lang="en-US" sz="3600" dirty="0" smtClean="0"/>
              <a:t>+   </a:t>
            </a:r>
            <a:r>
              <a:rPr lang="en-US" sz="3600" dirty="0" err="1"/>
              <a:t>ggtitle</a:t>
            </a:r>
            <a:r>
              <a:rPr lang="en-US" sz="3600" dirty="0"/>
              <a:t>('Spread of counties across US')</a:t>
            </a:r>
            <a:endParaRPr lang="en-US" sz="3600" dirty="0"/>
          </a:p>
        </p:txBody>
      </p:sp>
    </p:spTree>
    <p:extLst>
      <p:ext uri="{BB962C8B-B14F-4D97-AF65-F5344CB8AC3E}">
        <p14:creationId xmlns:p14="http://schemas.microsoft.com/office/powerpoint/2010/main" val="7124303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4" name="Slide Number Placeholder 3"/>
          <p:cNvSpPr>
            <a:spLocks noGrp="1"/>
          </p:cNvSpPr>
          <p:nvPr>
            <p:ph type="sldNum" sz="quarter" idx="12"/>
          </p:nvPr>
        </p:nvSpPr>
        <p:spPr/>
        <p:txBody>
          <a:bodyPr/>
          <a:lstStyle/>
          <a:p>
            <a:fld id="{3B2AE6E0-6B8A-4A35-8B79-45936E9DB0A3}" type="slidenum">
              <a:rPr lang="en-US" smtClean="0"/>
              <a:t>10</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326" y="938463"/>
            <a:ext cx="11333748" cy="5317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7794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4" name="Slide Number Placeholder 3"/>
          <p:cNvSpPr>
            <a:spLocks noGrp="1"/>
          </p:cNvSpPr>
          <p:nvPr>
            <p:ph type="sldNum" sz="quarter" idx="12"/>
          </p:nvPr>
        </p:nvSpPr>
        <p:spPr/>
        <p:txBody>
          <a:bodyPr/>
          <a:lstStyle/>
          <a:p>
            <a:fld id="{3B2AE6E0-6B8A-4A35-8B79-45936E9DB0A3}" type="slidenum">
              <a:rPr lang="en-US" smtClean="0"/>
              <a:t>11</a:t>
            </a:fld>
            <a:endParaRPr lang="en-US"/>
          </a:p>
        </p:txBody>
      </p:sp>
      <p:sp>
        <p:nvSpPr>
          <p:cNvPr id="5" name="Rectangle 4"/>
          <p:cNvSpPr/>
          <p:nvPr/>
        </p:nvSpPr>
        <p:spPr>
          <a:xfrm>
            <a:off x="190500" y="739676"/>
            <a:ext cx="11868150" cy="584775"/>
          </a:xfrm>
          <a:prstGeom prst="rect">
            <a:avLst/>
          </a:prstGeom>
        </p:spPr>
        <p:txBody>
          <a:bodyPr wrap="square">
            <a:spAutoFit/>
          </a:bodyPr>
          <a:lstStyle/>
          <a:p>
            <a:endParaRPr lang="en-US" sz="3200" dirty="0"/>
          </a:p>
        </p:txBody>
      </p:sp>
      <p:sp>
        <p:nvSpPr>
          <p:cNvPr id="3" name="Rectangle 2"/>
          <p:cNvSpPr/>
          <p:nvPr/>
        </p:nvSpPr>
        <p:spPr>
          <a:xfrm>
            <a:off x="190500" y="764881"/>
            <a:ext cx="11868150" cy="5355312"/>
          </a:xfrm>
          <a:prstGeom prst="rect">
            <a:avLst/>
          </a:prstGeom>
        </p:spPr>
        <p:txBody>
          <a:bodyPr wrap="square">
            <a:spAutoFit/>
          </a:bodyPr>
          <a:lstStyle/>
          <a:p>
            <a:pPr marL="457200" indent="-457200">
              <a:buFont typeface="Arial" pitchFamily="34" charset="0"/>
              <a:buChar char="•"/>
            </a:pPr>
            <a:r>
              <a:rPr lang="en-US" sz="3400" dirty="0" smtClean="0"/>
              <a:t>In the above plot there </a:t>
            </a:r>
            <a:r>
              <a:rPr lang="en-US" sz="3400" dirty="0"/>
              <a:t>is no light blue dot visible on the plot. </a:t>
            </a:r>
            <a:endParaRPr lang="en-US" sz="3400" dirty="0" smtClean="0"/>
          </a:p>
          <a:p>
            <a:pPr marL="457200" indent="-457200">
              <a:buFont typeface="Arial" pitchFamily="34" charset="0"/>
              <a:buChar char="•"/>
            </a:pPr>
            <a:r>
              <a:rPr lang="en-US" sz="3400" dirty="0" smtClean="0"/>
              <a:t>This </a:t>
            </a:r>
            <a:r>
              <a:rPr lang="en-US" sz="3400" dirty="0"/>
              <a:t>is because it must be lying somewhere between those dense areas. </a:t>
            </a:r>
            <a:endParaRPr lang="en-US" sz="3400" dirty="0" smtClean="0"/>
          </a:p>
          <a:p>
            <a:pPr marL="457200" indent="-457200">
              <a:buFont typeface="Arial" pitchFamily="34" charset="0"/>
              <a:buChar char="•"/>
            </a:pPr>
            <a:r>
              <a:rPr lang="en-US" sz="3400" dirty="0" smtClean="0"/>
              <a:t>Another </a:t>
            </a:r>
            <a:r>
              <a:rPr lang="en-US" sz="3400" dirty="0"/>
              <a:t>reason is that when you use alpha blending, your colors fade and thus it becomes difficult to identify such points</a:t>
            </a:r>
            <a:r>
              <a:rPr lang="en-US" sz="3400" dirty="0" smtClean="0"/>
              <a:t>.</a:t>
            </a:r>
          </a:p>
          <a:p>
            <a:pPr marL="457200" indent="-457200">
              <a:buFont typeface="Arial" pitchFamily="34" charset="0"/>
              <a:buChar char="•"/>
            </a:pPr>
            <a:r>
              <a:rPr lang="en-US" sz="3400" dirty="0" smtClean="0"/>
              <a:t>So use </a:t>
            </a:r>
            <a:r>
              <a:rPr lang="en-US" sz="3600" dirty="0" err="1"/>
              <a:t>geom_density</a:t>
            </a:r>
            <a:r>
              <a:rPr lang="en-US" sz="3600" dirty="0"/>
              <a:t> </a:t>
            </a:r>
            <a:r>
              <a:rPr lang="en-US" sz="3600" dirty="0" smtClean="0"/>
              <a:t> to get insight of spread </a:t>
            </a:r>
            <a:r>
              <a:rPr lang="en-US" sz="3600" dirty="0"/>
              <a:t>of </a:t>
            </a:r>
            <a:r>
              <a:rPr lang="en-US" sz="3600" dirty="0" smtClean="0"/>
              <a:t>counties.</a:t>
            </a:r>
          </a:p>
          <a:p>
            <a:pPr marL="457200" indent="-457200">
              <a:buFont typeface="Arial" pitchFamily="34" charset="0"/>
              <a:buChar char="•"/>
            </a:pPr>
            <a:r>
              <a:rPr lang="en-US" sz="3400" dirty="0"/>
              <a:t># spread of counties across US using Density_2d</a:t>
            </a:r>
          </a:p>
          <a:p>
            <a:pPr marL="457200" indent="-457200">
              <a:buFont typeface="Arial" pitchFamily="34" charset="0"/>
              <a:buChar char="•"/>
            </a:pPr>
            <a:r>
              <a:rPr lang="en-US" sz="3400" dirty="0" err="1"/>
              <a:t>ggmap</a:t>
            </a:r>
            <a:r>
              <a:rPr lang="en-US" sz="3400" dirty="0"/>
              <a:t>(</a:t>
            </a:r>
            <a:r>
              <a:rPr lang="en-US" sz="3400" dirty="0" err="1"/>
              <a:t>usmap</a:t>
            </a:r>
            <a:r>
              <a:rPr lang="en-US" sz="3400" dirty="0"/>
              <a:t>) + </a:t>
            </a:r>
            <a:r>
              <a:rPr lang="en-US" sz="3400" dirty="0" smtClean="0"/>
              <a:t>  </a:t>
            </a:r>
            <a:r>
              <a:rPr lang="en-US" sz="3400" dirty="0"/>
              <a:t>geom_density_2d(data = </a:t>
            </a:r>
            <a:r>
              <a:rPr lang="en-US" sz="3400" dirty="0" err="1"/>
              <a:t>df</a:t>
            </a:r>
            <a:r>
              <a:rPr lang="en-US" sz="3400" dirty="0"/>
              <a:t>, </a:t>
            </a:r>
            <a:r>
              <a:rPr lang="en-US" sz="3400" dirty="0" smtClean="0"/>
              <a:t>mapping </a:t>
            </a:r>
            <a:r>
              <a:rPr lang="en-US" sz="3400" dirty="0"/>
              <a:t>= </a:t>
            </a:r>
            <a:r>
              <a:rPr lang="en-US" sz="3400" dirty="0" err="1"/>
              <a:t>aes</a:t>
            </a:r>
            <a:r>
              <a:rPr lang="en-US" sz="3400" dirty="0"/>
              <a:t>(x = </a:t>
            </a:r>
            <a:r>
              <a:rPr lang="en-US" sz="3400" dirty="0" err="1"/>
              <a:t>lng</a:t>
            </a:r>
            <a:r>
              <a:rPr lang="en-US" sz="3400" dirty="0"/>
              <a:t>, y = </a:t>
            </a:r>
            <a:r>
              <a:rPr lang="en-US" sz="3400" dirty="0" err="1"/>
              <a:t>lat</a:t>
            </a:r>
            <a:r>
              <a:rPr lang="en-US" sz="3400" dirty="0"/>
              <a:t>, color = population)) </a:t>
            </a:r>
            <a:r>
              <a:rPr lang="en-US" sz="3400" dirty="0" smtClean="0"/>
              <a:t>+   </a:t>
            </a:r>
            <a:r>
              <a:rPr lang="en-US" sz="3400" dirty="0" err="1"/>
              <a:t>ggtitle</a:t>
            </a:r>
            <a:r>
              <a:rPr lang="en-US" sz="3400" dirty="0"/>
              <a:t>('Spread of counties across US')</a:t>
            </a:r>
          </a:p>
        </p:txBody>
      </p:sp>
    </p:spTree>
    <p:extLst>
      <p:ext uri="{BB962C8B-B14F-4D97-AF65-F5344CB8AC3E}">
        <p14:creationId xmlns:p14="http://schemas.microsoft.com/office/powerpoint/2010/main" val="14401996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2(</a:t>
            </a:r>
            <a:r>
              <a:rPr lang="en-US" b="1" u="sng" dirty="0" err="1" smtClean="0">
                <a:solidFill>
                  <a:srgbClr val="C00000"/>
                </a:solidFill>
              </a:rPr>
              <a:t>cont</a:t>
            </a:r>
            <a:r>
              <a:rPr lang="en-US" b="1" u="sng" dirty="0" smtClean="0">
                <a:solidFill>
                  <a:srgbClr val="C00000"/>
                </a:solidFill>
              </a:rPr>
              <a:t>…)</a:t>
            </a:r>
            <a:endParaRPr lang="en-US" dirty="0"/>
          </a:p>
        </p:txBody>
      </p:sp>
      <p:sp>
        <p:nvSpPr>
          <p:cNvPr id="4" name="Slide Number Placeholder 3"/>
          <p:cNvSpPr>
            <a:spLocks noGrp="1"/>
          </p:cNvSpPr>
          <p:nvPr>
            <p:ph type="sldNum" sz="quarter" idx="12"/>
          </p:nvPr>
        </p:nvSpPr>
        <p:spPr/>
        <p:txBody>
          <a:bodyPr/>
          <a:lstStyle/>
          <a:p>
            <a:fld id="{3B2AE6E0-6B8A-4A35-8B79-45936E9DB0A3}" type="slidenum">
              <a:rPr lang="en-US" smtClean="0"/>
              <a:t>12</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505" y="770021"/>
            <a:ext cx="11718758" cy="5727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04288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76" y="0"/>
            <a:ext cx="10515600" cy="770021"/>
          </a:xfrm>
        </p:spPr>
        <p:txBody>
          <a:bodyPr>
            <a:normAutofit/>
          </a:bodyPr>
          <a:lstStyle/>
          <a:p>
            <a:pPr marL="0" indent="0"/>
            <a:r>
              <a:rPr lang="en-US" b="1" u="sng" dirty="0">
                <a:solidFill>
                  <a:srgbClr val="C00000"/>
                </a:solidFill>
              </a:rPr>
              <a:t>Exercise </a:t>
            </a:r>
            <a:r>
              <a:rPr lang="en-US" b="1" u="sng" dirty="0" smtClean="0">
                <a:solidFill>
                  <a:srgbClr val="C00000"/>
                </a:solidFill>
              </a:rPr>
              <a:t>3</a:t>
            </a:r>
            <a:r>
              <a:rPr lang="en-US" b="1" u="sng" dirty="0" smtClean="0">
                <a:solidFill>
                  <a:srgbClr val="C00000"/>
                </a:solidFill>
              </a:rPr>
              <a:t> : </a:t>
            </a:r>
            <a:r>
              <a:rPr lang="en-US" b="1" u="sng" dirty="0" err="1" smtClean="0">
                <a:solidFill>
                  <a:srgbClr val="C00000"/>
                </a:solidFill>
              </a:rPr>
              <a:t>Multilayerd</a:t>
            </a:r>
            <a:r>
              <a:rPr lang="en-US" b="1" u="sng" dirty="0" smtClean="0">
                <a:solidFill>
                  <a:srgbClr val="C00000"/>
                </a:solidFill>
              </a:rPr>
              <a:t> plots with </a:t>
            </a:r>
            <a:r>
              <a:rPr lang="en-US" b="1" u="sng" dirty="0" err="1" smtClean="0">
                <a:solidFill>
                  <a:srgbClr val="C00000"/>
                </a:solidFill>
              </a:rPr>
              <a:t>ggmap</a:t>
            </a:r>
            <a:endParaRPr lang="en-US" dirty="0"/>
          </a:p>
        </p:txBody>
      </p:sp>
      <p:sp>
        <p:nvSpPr>
          <p:cNvPr id="3" name="Content Placeholder 2"/>
          <p:cNvSpPr>
            <a:spLocks noGrp="1"/>
          </p:cNvSpPr>
          <p:nvPr>
            <p:ph idx="1"/>
          </p:nvPr>
        </p:nvSpPr>
        <p:spPr>
          <a:xfrm>
            <a:off x="122830" y="818147"/>
            <a:ext cx="12069170" cy="6039852"/>
          </a:xfrm>
        </p:spPr>
        <p:txBody>
          <a:bodyPr>
            <a:noAutofit/>
          </a:bodyPr>
          <a:lstStyle/>
          <a:p>
            <a:r>
              <a:rPr lang="en-US" sz="3600" dirty="0" smtClean="0"/>
              <a:t> Multiple layers can be added to the plot. For example: Adding the </a:t>
            </a:r>
            <a:r>
              <a:rPr lang="en-US" sz="3600" dirty="0"/>
              <a:t>location of military stations located across US along with population density</a:t>
            </a:r>
            <a:r>
              <a:rPr lang="en-US" sz="3600" dirty="0" smtClean="0"/>
              <a:t>.</a:t>
            </a:r>
          </a:p>
          <a:p>
            <a:pPr marL="0" indent="0">
              <a:buNone/>
            </a:pPr>
            <a:r>
              <a:rPr lang="en-US" sz="3600" dirty="0"/>
              <a:t># Location of Military units </a:t>
            </a:r>
          </a:p>
          <a:p>
            <a:r>
              <a:rPr lang="en-US" sz="3600" dirty="0"/>
              <a:t>df1 &lt;- </a:t>
            </a:r>
            <a:r>
              <a:rPr lang="en-US" sz="3600" dirty="0" err="1"/>
              <a:t>df</a:t>
            </a:r>
            <a:r>
              <a:rPr lang="en-US" sz="3600" dirty="0"/>
              <a:t> %&gt;% filter(military == TRUE) </a:t>
            </a:r>
          </a:p>
          <a:p>
            <a:r>
              <a:rPr lang="en-US" sz="3600" dirty="0" err="1" smtClean="0"/>
              <a:t>ggmap</a:t>
            </a:r>
            <a:r>
              <a:rPr lang="en-US" sz="3600" dirty="0" smtClean="0"/>
              <a:t>(</a:t>
            </a:r>
            <a:r>
              <a:rPr lang="en-US" sz="3600" dirty="0" err="1" smtClean="0"/>
              <a:t>usmap</a:t>
            </a:r>
            <a:r>
              <a:rPr lang="en-US" sz="3600" dirty="0"/>
              <a:t>) + </a:t>
            </a:r>
            <a:r>
              <a:rPr lang="en-US" sz="3600" dirty="0" smtClean="0"/>
              <a:t>  </a:t>
            </a:r>
            <a:r>
              <a:rPr lang="en-US" sz="3600" dirty="0" err="1"/>
              <a:t>geom_point</a:t>
            </a:r>
            <a:r>
              <a:rPr lang="en-US" sz="3600" dirty="0"/>
              <a:t>(data = </a:t>
            </a:r>
            <a:r>
              <a:rPr lang="en-US" sz="3600" dirty="0" err="1"/>
              <a:t>df</a:t>
            </a:r>
            <a:r>
              <a:rPr lang="en-US" sz="3600" dirty="0"/>
              <a:t>, </a:t>
            </a:r>
            <a:r>
              <a:rPr lang="en-US" sz="3600" dirty="0" smtClean="0"/>
              <a:t>mapping </a:t>
            </a:r>
            <a:r>
              <a:rPr lang="en-US" sz="3600" dirty="0"/>
              <a:t>= </a:t>
            </a:r>
            <a:r>
              <a:rPr lang="en-US" sz="3600" dirty="0" err="1"/>
              <a:t>aes</a:t>
            </a:r>
            <a:r>
              <a:rPr lang="en-US" sz="3600" dirty="0"/>
              <a:t>(x = </a:t>
            </a:r>
            <a:r>
              <a:rPr lang="en-US" sz="3600" dirty="0" err="1"/>
              <a:t>lng</a:t>
            </a:r>
            <a:r>
              <a:rPr lang="en-US" sz="3600" dirty="0"/>
              <a:t>, y = </a:t>
            </a:r>
            <a:r>
              <a:rPr lang="en-US" sz="3600" dirty="0" err="1"/>
              <a:t>lat</a:t>
            </a:r>
            <a:r>
              <a:rPr lang="en-US" sz="3600" dirty="0"/>
              <a:t>, color = population, text = city</a:t>
            </a:r>
            <a:r>
              <a:rPr lang="en-US" sz="3600" dirty="0" smtClean="0"/>
              <a:t>), </a:t>
            </a:r>
            <a:r>
              <a:rPr lang="en-US" sz="3600" dirty="0" err="1" smtClean="0"/>
              <a:t>show.legend</a:t>
            </a:r>
            <a:r>
              <a:rPr lang="en-US" sz="3600" dirty="0" smtClean="0"/>
              <a:t> </a:t>
            </a:r>
            <a:r>
              <a:rPr lang="en-US" sz="3600" dirty="0"/>
              <a:t>= F</a:t>
            </a:r>
            <a:r>
              <a:rPr lang="en-US" sz="3600" dirty="0" smtClean="0"/>
              <a:t>,              </a:t>
            </a:r>
            <a:r>
              <a:rPr lang="en-US" sz="3600" dirty="0"/>
              <a:t>size = 0.8</a:t>
            </a:r>
            <a:r>
              <a:rPr lang="en-US" sz="3600" dirty="0" smtClean="0"/>
              <a:t>, stroke</a:t>
            </a:r>
            <a:r>
              <a:rPr lang="en-US" sz="3600" dirty="0"/>
              <a:t>= 0, alpha = 0.4) </a:t>
            </a:r>
            <a:r>
              <a:rPr lang="en-US" sz="3600" dirty="0" smtClean="0"/>
              <a:t>+ </a:t>
            </a:r>
            <a:r>
              <a:rPr lang="en-US" sz="3600" dirty="0" err="1" smtClean="0"/>
              <a:t>geom_point</a:t>
            </a:r>
            <a:r>
              <a:rPr lang="en-US" sz="3600" dirty="0" smtClean="0"/>
              <a:t>(data </a:t>
            </a:r>
            <a:r>
              <a:rPr lang="en-US" sz="3600" dirty="0"/>
              <a:t>= df1, </a:t>
            </a:r>
            <a:r>
              <a:rPr lang="en-US" sz="3600" dirty="0" smtClean="0"/>
              <a:t>              </a:t>
            </a:r>
            <a:r>
              <a:rPr lang="en-US" sz="3600" dirty="0"/>
              <a:t>mapping = </a:t>
            </a:r>
            <a:r>
              <a:rPr lang="en-US" sz="3600" dirty="0" err="1"/>
              <a:t>aes</a:t>
            </a:r>
            <a:r>
              <a:rPr lang="en-US" sz="3600" dirty="0"/>
              <a:t>(x = </a:t>
            </a:r>
            <a:r>
              <a:rPr lang="en-US" sz="3600" dirty="0" err="1"/>
              <a:t>lng</a:t>
            </a:r>
            <a:r>
              <a:rPr lang="en-US" sz="3600" dirty="0"/>
              <a:t>, y = </a:t>
            </a:r>
            <a:r>
              <a:rPr lang="en-US" sz="3600" dirty="0" err="1"/>
              <a:t>lat</a:t>
            </a:r>
            <a:r>
              <a:rPr lang="en-US" sz="3600" dirty="0"/>
              <a:t> , text = city), </a:t>
            </a:r>
            <a:r>
              <a:rPr lang="en-US" sz="3600" dirty="0" err="1" smtClean="0"/>
              <a:t>show.legend</a:t>
            </a:r>
            <a:r>
              <a:rPr lang="en-US" sz="3600" dirty="0" smtClean="0"/>
              <a:t> </a:t>
            </a:r>
            <a:r>
              <a:rPr lang="en-US" sz="3600" dirty="0"/>
              <a:t>= F</a:t>
            </a:r>
            <a:r>
              <a:rPr lang="en-US" sz="3600" dirty="0" smtClean="0"/>
              <a:t>,              </a:t>
            </a:r>
            <a:r>
              <a:rPr lang="en-US" sz="3600" dirty="0"/>
              <a:t>size = 0.9</a:t>
            </a:r>
            <a:r>
              <a:rPr lang="en-US" sz="3600" dirty="0" smtClean="0"/>
              <a:t>, color </a:t>
            </a:r>
            <a:r>
              <a:rPr lang="en-US" sz="3600" dirty="0"/>
              <a:t>= 'red') + </a:t>
            </a:r>
            <a:r>
              <a:rPr lang="en-US" sz="3600" dirty="0" smtClean="0"/>
              <a:t> </a:t>
            </a:r>
            <a:r>
              <a:rPr lang="en-US" sz="3600" dirty="0" err="1" smtClean="0"/>
              <a:t>ggtitle</a:t>
            </a:r>
            <a:r>
              <a:rPr lang="en-US" sz="3600" dirty="0"/>
              <a:t>('Military stations across US')</a:t>
            </a:r>
            <a:endParaRPr lang="en-US" sz="3600" dirty="0" smtClean="0"/>
          </a:p>
          <a:p>
            <a:endParaRPr lang="en-US" sz="3600" dirty="0" smtClean="0"/>
          </a:p>
        </p:txBody>
      </p:sp>
      <p:sp>
        <p:nvSpPr>
          <p:cNvPr id="4" name="Slide Number Placeholder 3"/>
          <p:cNvSpPr>
            <a:spLocks noGrp="1"/>
          </p:cNvSpPr>
          <p:nvPr>
            <p:ph type="sldNum" sz="quarter" idx="12"/>
          </p:nvPr>
        </p:nvSpPr>
        <p:spPr/>
        <p:txBody>
          <a:bodyPr/>
          <a:lstStyle/>
          <a:p>
            <a:fld id="{3B2AE6E0-6B8A-4A35-8B79-45936E9DB0A3}" type="slidenum">
              <a:rPr lang="en-US" smtClean="0"/>
              <a:t>13</a:t>
            </a:fld>
            <a:endParaRPr lang="en-US"/>
          </a:p>
        </p:txBody>
      </p:sp>
    </p:spTree>
    <p:extLst>
      <p:ext uri="{BB962C8B-B14F-4D97-AF65-F5344CB8AC3E}">
        <p14:creationId xmlns:p14="http://schemas.microsoft.com/office/powerpoint/2010/main" val="34376719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2AE6E0-6B8A-4A35-8B79-45936E9DB0A3}" type="slidenum">
              <a:rPr lang="en-US" smtClean="0"/>
              <a:t>14</a:t>
            </a:fld>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262" y="866274"/>
            <a:ext cx="11405937" cy="599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257675" y="0"/>
            <a:ext cx="11701713" cy="770021"/>
          </a:xfrm>
        </p:spPr>
        <p:txBody>
          <a:bodyPr>
            <a:normAutofit/>
          </a:bodyPr>
          <a:lstStyle/>
          <a:p>
            <a:pPr marL="0" indent="0"/>
            <a:r>
              <a:rPr lang="en-US" b="1" u="sng" dirty="0">
                <a:solidFill>
                  <a:srgbClr val="C00000"/>
                </a:solidFill>
              </a:rPr>
              <a:t>Exercise </a:t>
            </a:r>
            <a:r>
              <a:rPr lang="en-US" b="1" u="sng" dirty="0" smtClean="0">
                <a:solidFill>
                  <a:srgbClr val="C00000"/>
                </a:solidFill>
              </a:rPr>
              <a:t>3</a:t>
            </a:r>
            <a:r>
              <a:rPr lang="en-US" b="1" u="sng" dirty="0" smtClean="0">
                <a:solidFill>
                  <a:srgbClr val="C00000"/>
                </a:solidFill>
              </a:rPr>
              <a:t> : </a:t>
            </a:r>
            <a:r>
              <a:rPr lang="en-US" b="1" u="sng" dirty="0" err="1" smtClean="0">
                <a:solidFill>
                  <a:srgbClr val="C00000"/>
                </a:solidFill>
              </a:rPr>
              <a:t>Multilayerd</a:t>
            </a:r>
            <a:r>
              <a:rPr lang="en-US" b="1" u="sng" dirty="0" smtClean="0">
                <a:solidFill>
                  <a:srgbClr val="C00000"/>
                </a:solidFill>
              </a:rPr>
              <a:t> plots with </a:t>
            </a:r>
            <a:r>
              <a:rPr lang="en-US" b="1" u="sng" dirty="0" err="1" smtClean="0">
                <a:solidFill>
                  <a:srgbClr val="C00000"/>
                </a:solidFill>
              </a:rPr>
              <a:t>ggmap</a:t>
            </a:r>
            <a:r>
              <a:rPr lang="en-US" b="1" u="sng" dirty="0" smtClean="0">
                <a:solidFill>
                  <a:srgbClr val="C00000"/>
                </a:solidFill>
              </a:rPr>
              <a:t> (</a:t>
            </a:r>
            <a:r>
              <a:rPr lang="en-US" b="1" u="sng" dirty="0" err="1" smtClean="0">
                <a:solidFill>
                  <a:srgbClr val="C00000"/>
                </a:solidFill>
              </a:rPr>
              <a:t>cont</a:t>
            </a:r>
            <a:r>
              <a:rPr lang="en-US" b="1" u="sng" dirty="0" smtClean="0">
                <a:solidFill>
                  <a:srgbClr val="C00000"/>
                </a:solidFill>
              </a:rPr>
              <a:t>…)</a:t>
            </a:r>
            <a:endParaRPr lang="en-US" dirty="0"/>
          </a:p>
        </p:txBody>
      </p:sp>
    </p:spTree>
    <p:extLst>
      <p:ext uri="{BB962C8B-B14F-4D97-AF65-F5344CB8AC3E}">
        <p14:creationId xmlns:p14="http://schemas.microsoft.com/office/powerpoint/2010/main" val="9796454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830" y="1082842"/>
            <a:ext cx="11805934" cy="5775157"/>
          </a:xfrm>
        </p:spPr>
        <p:txBody>
          <a:bodyPr>
            <a:noAutofit/>
          </a:bodyPr>
          <a:lstStyle/>
          <a:p>
            <a:pPr>
              <a:spcBef>
                <a:spcPts val="1200"/>
              </a:spcBef>
              <a:spcAft>
                <a:spcPts val="1800"/>
              </a:spcAft>
            </a:pPr>
            <a:r>
              <a:rPr lang="en-US" sz="3600" dirty="0" smtClean="0"/>
              <a:t>In the  exercise 2, 3 layers are added to the </a:t>
            </a:r>
            <a:r>
              <a:rPr lang="en-US" sz="3600" dirty="0"/>
              <a:t>plot. </a:t>
            </a:r>
            <a:endParaRPr lang="en-US" sz="3600" dirty="0" smtClean="0"/>
          </a:p>
          <a:p>
            <a:pPr>
              <a:spcBef>
                <a:spcPts val="1200"/>
              </a:spcBef>
              <a:spcAft>
                <a:spcPts val="1800"/>
              </a:spcAft>
            </a:pPr>
            <a:r>
              <a:rPr lang="en-US" sz="3600" dirty="0" smtClean="0"/>
              <a:t>First </a:t>
            </a:r>
            <a:r>
              <a:rPr lang="en-US" sz="3600" dirty="0"/>
              <a:t>base layer consists of US map, </a:t>
            </a:r>
            <a:endParaRPr lang="en-US" sz="3600" dirty="0" smtClean="0"/>
          </a:p>
          <a:p>
            <a:pPr>
              <a:spcBef>
                <a:spcPts val="1200"/>
              </a:spcBef>
              <a:spcAft>
                <a:spcPts val="1800"/>
              </a:spcAft>
            </a:pPr>
            <a:r>
              <a:rPr lang="en-US" sz="3600" dirty="0" smtClean="0"/>
              <a:t>Second </a:t>
            </a:r>
            <a:r>
              <a:rPr lang="en-US" sz="3600" dirty="0"/>
              <a:t>layer consists of spread of counties across US and </a:t>
            </a:r>
            <a:endParaRPr lang="en-US" sz="3600" dirty="0" smtClean="0"/>
          </a:p>
          <a:p>
            <a:pPr>
              <a:spcBef>
                <a:spcPts val="1200"/>
              </a:spcBef>
              <a:spcAft>
                <a:spcPts val="1800"/>
              </a:spcAft>
            </a:pPr>
            <a:r>
              <a:rPr lang="en-US" sz="3600" dirty="0" smtClean="0"/>
              <a:t>Third </a:t>
            </a:r>
            <a:r>
              <a:rPr lang="en-US" sz="3600" dirty="0"/>
              <a:t>layer consists of location of military bases. </a:t>
            </a:r>
            <a:endParaRPr lang="en-US" sz="3600" dirty="0" smtClean="0"/>
          </a:p>
          <a:p>
            <a:pPr>
              <a:spcBef>
                <a:spcPts val="1200"/>
              </a:spcBef>
              <a:spcAft>
                <a:spcPts val="1800"/>
              </a:spcAft>
            </a:pPr>
            <a:r>
              <a:rPr lang="en-US" sz="3600" dirty="0" smtClean="0"/>
              <a:t>It </a:t>
            </a:r>
            <a:r>
              <a:rPr lang="en-US" sz="3600" dirty="0"/>
              <a:t>is not easy to plot such multilayered graphs using other packages.</a:t>
            </a:r>
            <a:endParaRPr lang="en-US" sz="3600" dirty="0" smtClean="0"/>
          </a:p>
        </p:txBody>
      </p:sp>
      <p:sp>
        <p:nvSpPr>
          <p:cNvPr id="4" name="Slide Number Placeholder 3"/>
          <p:cNvSpPr>
            <a:spLocks noGrp="1"/>
          </p:cNvSpPr>
          <p:nvPr>
            <p:ph type="sldNum" sz="quarter" idx="12"/>
          </p:nvPr>
        </p:nvSpPr>
        <p:spPr/>
        <p:txBody>
          <a:bodyPr/>
          <a:lstStyle/>
          <a:p>
            <a:fld id="{3B2AE6E0-6B8A-4A35-8B79-45936E9DB0A3}" type="slidenum">
              <a:rPr lang="en-US" smtClean="0"/>
              <a:t>15</a:t>
            </a:fld>
            <a:endParaRPr lang="en-US"/>
          </a:p>
        </p:txBody>
      </p:sp>
      <p:sp>
        <p:nvSpPr>
          <p:cNvPr id="7" name="Title 1"/>
          <p:cNvSpPr>
            <a:spLocks noGrp="1"/>
          </p:cNvSpPr>
          <p:nvPr>
            <p:ph type="title"/>
          </p:nvPr>
        </p:nvSpPr>
        <p:spPr>
          <a:xfrm>
            <a:off x="257675" y="0"/>
            <a:ext cx="11701713" cy="770021"/>
          </a:xfrm>
        </p:spPr>
        <p:txBody>
          <a:bodyPr>
            <a:normAutofit/>
          </a:bodyPr>
          <a:lstStyle/>
          <a:p>
            <a:pPr marL="0" indent="0"/>
            <a:r>
              <a:rPr lang="en-US" b="1" u="sng" dirty="0" smtClean="0">
                <a:solidFill>
                  <a:srgbClr val="C00000"/>
                </a:solidFill>
              </a:rPr>
              <a:t>Conclusion</a:t>
            </a:r>
            <a:endParaRPr lang="en-US" dirty="0"/>
          </a:p>
        </p:txBody>
      </p:sp>
    </p:spTree>
    <p:extLst>
      <p:ext uri="{BB962C8B-B14F-4D97-AF65-F5344CB8AC3E}">
        <p14:creationId xmlns:p14="http://schemas.microsoft.com/office/powerpoint/2010/main" val="42531745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5040</TotalTime>
  <Words>716</Words>
  <Application>Microsoft Office PowerPoint</Application>
  <PresentationFormat>Custom</PresentationFormat>
  <Paragraphs>85</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Module 8</vt:lpstr>
      <vt:lpstr>Contents</vt:lpstr>
      <vt:lpstr>Exercise 1: Creating a basemap – stamen background</vt:lpstr>
      <vt:lpstr>Exercise 2 : Adding Operational data layers</vt:lpstr>
      <vt:lpstr>Exercise 2(cont…)</vt:lpstr>
      <vt:lpstr>Exercise 2(cont…)</vt:lpstr>
      <vt:lpstr>Exercise 2(cont…)</vt:lpstr>
      <vt:lpstr>Exercise 2(cont…)</vt:lpstr>
      <vt:lpstr>Exercise 2(cont…)</vt:lpstr>
      <vt:lpstr>Exercise 2(cont…)</vt:lpstr>
      <vt:lpstr>Exercise 2(cont…)</vt:lpstr>
      <vt:lpstr>Exercise 2(cont…)</vt:lpstr>
      <vt:lpstr>Exercise 3 : Multilayerd plots with ggmap</vt:lpstr>
      <vt:lpstr>Exercise 3 : Multilayerd plots with ggmap (cont…)</vt:lpstr>
      <vt:lpstr>Conclusion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MOHD HAQ</dc:creator>
  <cp:lastModifiedBy>Windows User</cp:lastModifiedBy>
  <cp:revision>191</cp:revision>
  <dcterms:created xsi:type="dcterms:W3CDTF">2021-01-17T15:40:32Z</dcterms:created>
  <dcterms:modified xsi:type="dcterms:W3CDTF">2021-03-10T21:55:11Z</dcterms:modified>
</cp:coreProperties>
</file>