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84" r:id="rId3"/>
    <p:sldId id="286" r:id="rId4"/>
    <p:sldId id="291" r:id="rId5"/>
    <p:sldId id="289" r:id="rId6"/>
    <p:sldId id="288" r:id="rId7"/>
    <p:sldId id="287" r:id="rId8"/>
    <p:sldId id="1053" r:id="rId9"/>
    <p:sldId id="290" r:id="rId10"/>
    <p:sldId id="285" r:id="rId11"/>
    <p:sldId id="292" r:id="rId12"/>
    <p:sldId id="293" r:id="rId13"/>
    <p:sldId id="294" r:id="rId14"/>
    <p:sldId id="295" r:id="rId15"/>
    <p:sldId id="296" r:id="rId16"/>
    <p:sldId id="1054" r:id="rId17"/>
    <p:sldId id="1055" r:id="rId18"/>
    <p:sldId id="1056" r:id="rId19"/>
    <p:sldId id="1057" r:id="rId20"/>
    <p:sldId id="104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A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9" autoAdjust="0"/>
    <p:restoredTop sz="94660"/>
  </p:normalViewPr>
  <p:slideViewPr>
    <p:cSldViewPr snapToGrid="0">
      <p:cViewPr varScale="1">
        <p:scale>
          <a:sx n="78" d="100"/>
          <a:sy n="78" d="100"/>
        </p:scale>
        <p:origin x="7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4BB31-0115-4F58-86CE-9B38A48E2D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CD34F7-6967-49C1-9DFA-8A2D156235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BE42B0-6486-44CE-88D4-E501016AD400}"/>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5" name="Footer Placeholder 4">
            <a:extLst>
              <a:ext uri="{FF2B5EF4-FFF2-40B4-BE49-F238E27FC236}">
                <a16:creationId xmlns:a16="http://schemas.microsoft.com/office/drawing/2014/main" id="{A1F89C2E-A3A5-456D-94D3-D9397B699B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39AC7-325C-4D76-870A-0D864DC7FFC8}"/>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3784328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62376-8941-4811-89A2-9209EFD061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78F1E5-8E01-4204-8996-2FC6BB62AB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41D4B8-AFFC-48EE-892B-FC489831CFD5}"/>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5" name="Footer Placeholder 4">
            <a:extLst>
              <a:ext uri="{FF2B5EF4-FFF2-40B4-BE49-F238E27FC236}">
                <a16:creationId xmlns:a16="http://schemas.microsoft.com/office/drawing/2014/main" id="{5142E52E-1DEE-48E0-BBFD-B2AFC0CA0E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7FDD30-7129-448A-BDF6-3B821A03043B}"/>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4125572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477F5-6729-4ECF-BCD9-FB295A433C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C1C666-8748-44D1-AEB5-D940C59476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B5C031-C1DA-4200-8C3E-321BF0C4B42B}"/>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5" name="Footer Placeholder 4">
            <a:extLst>
              <a:ext uri="{FF2B5EF4-FFF2-40B4-BE49-F238E27FC236}">
                <a16:creationId xmlns:a16="http://schemas.microsoft.com/office/drawing/2014/main" id="{35BC3955-DF84-4204-98EC-C5196FC4F0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1E9FAF-EB47-46E6-861E-E935EF1BC3A5}"/>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1091434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3FD51-7F7E-4A0F-9938-9B4A8C585D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F33211-1A58-44C8-A604-1E62D803DE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68F2E9-C6CC-4A2A-93DD-D190D5A584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2A0A18-BD34-48E5-B421-681388317021}"/>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6" name="Footer Placeholder 5">
            <a:extLst>
              <a:ext uri="{FF2B5EF4-FFF2-40B4-BE49-F238E27FC236}">
                <a16:creationId xmlns:a16="http://schemas.microsoft.com/office/drawing/2014/main" id="{8D0FD720-0859-4DDE-A349-C85CE774E0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8D7862-3500-4623-90CB-99AC419992BF}"/>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1622007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6AE19-38EB-4B93-9FD0-6584AFC3FD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BB71BF-0E32-45CC-B43A-37B804147C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4F2D75-702B-4E78-8155-EE9707ED03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AFCA24-1680-4E74-9BE0-D5D8E86662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88D38E-648A-4294-BA90-BCB019FFD2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208044-77AC-4A20-AE64-236483A508D7}"/>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8" name="Footer Placeholder 7">
            <a:extLst>
              <a:ext uri="{FF2B5EF4-FFF2-40B4-BE49-F238E27FC236}">
                <a16:creationId xmlns:a16="http://schemas.microsoft.com/office/drawing/2014/main" id="{E5FE7DA1-F80C-4819-8287-1B435D644F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739F0A-6952-405B-93FE-DAAEC8BB198D}"/>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499078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D9809-54D8-4347-98EE-3A3C949D1B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D2B4D8-1855-4442-A55A-AA2E02A32E44}"/>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4" name="Footer Placeholder 3">
            <a:extLst>
              <a:ext uri="{FF2B5EF4-FFF2-40B4-BE49-F238E27FC236}">
                <a16:creationId xmlns:a16="http://schemas.microsoft.com/office/drawing/2014/main" id="{86278DF2-596F-4D90-8D22-B8C08F9EDE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6E190D-5245-43F2-BD98-AD001299318F}"/>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2226793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A4E5E-5380-494B-937D-3BFEBC72F2F4}"/>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3" name="Footer Placeholder 2">
            <a:extLst>
              <a:ext uri="{FF2B5EF4-FFF2-40B4-BE49-F238E27FC236}">
                <a16:creationId xmlns:a16="http://schemas.microsoft.com/office/drawing/2014/main" id="{4A59CF33-DC07-4E05-A732-DAC763B785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B7B31D-95FF-40FC-A496-1E1F44469D6F}"/>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3936691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3C939-BBCE-4816-95DA-3FC58D4BB7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D69924-C477-451C-BF5A-7A8F51B4AE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54E14E-3FD6-4A12-8171-A4E97328B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6FBBEB-636B-4C2B-82BF-92C08307C0A3}"/>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6" name="Footer Placeholder 5">
            <a:extLst>
              <a:ext uri="{FF2B5EF4-FFF2-40B4-BE49-F238E27FC236}">
                <a16:creationId xmlns:a16="http://schemas.microsoft.com/office/drawing/2014/main" id="{ED53BAD3-1507-4574-BDF5-3B5679B42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70EDEC-9F8A-4887-8EA0-A4905B34373F}"/>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1801322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08637-5294-48EB-A8C5-DCAADBA7E1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4E93C2-ADA2-4830-AC77-1EBA98B119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515CAB-382A-4795-9A9F-DAB09D838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EA2E4-1824-426E-BFE1-018AEED9B74E}"/>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6" name="Footer Placeholder 5">
            <a:extLst>
              <a:ext uri="{FF2B5EF4-FFF2-40B4-BE49-F238E27FC236}">
                <a16:creationId xmlns:a16="http://schemas.microsoft.com/office/drawing/2014/main" id="{37F51CFA-048D-4443-9047-0587E847D3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2E17AB-FA9B-457C-BDA5-5E8BF92914A2}"/>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641331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E0A3-28D6-414E-98A4-82F3B84CEE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182EB5-0A84-4B5A-9ED5-95E9590B13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E3E075-EE8C-4F39-AD4A-338A004F148A}"/>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5" name="Footer Placeholder 4">
            <a:extLst>
              <a:ext uri="{FF2B5EF4-FFF2-40B4-BE49-F238E27FC236}">
                <a16:creationId xmlns:a16="http://schemas.microsoft.com/office/drawing/2014/main" id="{F2F7F200-9647-448A-BB0F-6A26C22477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4AFFFE-8BDD-476B-AA20-64C8A7376B39}"/>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434703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C52DBC-2EA1-45F8-8D51-33318A5EC3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A687A1-013B-4EF0-B2CE-0926FD4BB6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B814F4-0D8E-40CC-9C78-6076FEBB5562}"/>
              </a:ext>
            </a:extLst>
          </p:cNvPr>
          <p:cNvSpPr>
            <a:spLocks noGrp="1"/>
          </p:cNvSpPr>
          <p:nvPr>
            <p:ph type="dt" sz="half" idx="10"/>
          </p:nvPr>
        </p:nvSpPr>
        <p:spPr/>
        <p:txBody>
          <a:bodyPr/>
          <a:lstStyle/>
          <a:p>
            <a:fld id="{DCBF5B86-A44D-4A46-B9F5-16D6150E4D6A}" type="datetimeFigureOut">
              <a:rPr lang="en-US" smtClean="0"/>
              <a:t>4/22/2025</a:t>
            </a:fld>
            <a:endParaRPr lang="en-US"/>
          </a:p>
        </p:txBody>
      </p:sp>
      <p:sp>
        <p:nvSpPr>
          <p:cNvPr id="5" name="Footer Placeholder 4">
            <a:extLst>
              <a:ext uri="{FF2B5EF4-FFF2-40B4-BE49-F238E27FC236}">
                <a16:creationId xmlns:a16="http://schemas.microsoft.com/office/drawing/2014/main" id="{7104F448-D96B-437C-83A3-ECE1ACADA6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46BB2-ABCC-4B21-B692-6363C23A978E}"/>
              </a:ext>
            </a:extLst>
          </p:cNvPr>
          <p:cNvSpPr>
            <a:spLocks noGrp="1"/>
          </p:cNvSpPr>
          <p:nvPr>
            <p:ph type="sldNum" sz="quarter" idx="12"/>
          </p:nvPr>
        </p:nvSpPr>
        <p:spPr/>
        <p:txBody>
          <a:bodyPr/>
          <a:lstStyle/>
          <a:p>
            <a:fld id="{EF0D844E-7285-4752-8152-88F815BF170F}" type="slidenum">
              <a:rPr lang="en-US" smtClean="0"/>
              <a:t>‹#›</a:t>
            </a:fld>
            <a:endParaRPr lang="en-US"/>
          </a:p>
        </p:txBody>
      </p:sp>
    </p:spTree>
    <p:extLst>
      <p:ext uri="{BB962C8B-B14F-4D97-AF65-F5344CB8AC3E}">
        <p14:creationId xmlns:p14="http://schemas.microsoft.com/office/powerpoint/2010/main" val="1770973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3B09A5-F8A9-4DD3-8A5C-434A07FE5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390692-4721-441F-AA3B-73D1C42939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D228DD-BED0-4286-9169-EA69E29FB9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BF5B86-A44D-4A46-B9F5-16D6150E4D6A}" type="datetimeFigureOut">
              <a:rPr lang="en-US" smtClean="0"/>
              <a:t>4/22/2025</a:t>
            </a:fld>
            <a:endParaRPr lang="en-US"/>
          </a:p>
        </p:txBody>
      </p:sp>
      <p:sp>
        <p:nvSpPr>
          <p:cNvPr id="5" name="Footer Placeholder 4">
            <a:extLst>
              <a:ext uri="{FF2B5EF4-FFF2-40B4-BE49-F238E27FC236}">
                <a16:creationId xmlns:a16="http://schemas.microsoft.com/office/drawing/2014/main" id="{5C716D6D-DDB3-4C6C-8217-60C3E32EF9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D1B65A1-08DA-4157-9D60-0D585F4C0A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D844E-7285-4752-8152-88F815BF170F}" type="slidenum">
              <a:rPr lang="en-US" smtClean="0"/>
              <a:t>‹#›</a:t>
            </a:fld>
            <a:endParaRPr lang="en-US"/>
          </a:p>
        </p:txBody>
      </p:sp>
    </p:spTree>
    <p:extLst>
      <p:ext uri="{BB962C8B-B14F-4D97-AF65-F5344CB8AC3E}">
        <p14:creationId xmlns:p14="http://schemas.microsoft.com/office/powerpoint/2010/main" val="290171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Arrow: Pentagon 30">
            <a:extLst>
              <a:ext uri="{FF2B5EF4-FFF2-40B4-BE49-F238E27FC236}">
                <a16:creationId xmlns:a16="http://schemas.microsoft.com/office/drawing/2014/main" id="{53CE876F-9700-D791-0730-DF3E3C5ED50E}"/>
              </a:ext>
            </a:extLst>
          </p:cNvPr>
          <p:cNvSpPr/>
          <p:nvPr/>
        </p:nvSpPr>
        <p:spPr>
          <a:xfrm flipH="1">
            <a:off x="5047056" y="0"/>
            <a:ext cx="7144943" cy="6858000"/>
          </a:xfrm>
          <a:prstGeom prst="homePlate">
            <a:avLst>
              <a:gd name="adj" fmla="val 33519"/>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chemeClr val="accent3">
                  <a:lumMod val="75000"/>
                </a:schemeClr>
              </a:solidFill>
            </a:endParaRPr>
          </a:p>
        </p:txBody>
      </p:sp>
      <p:grpSp>
        <p:nvGrpSpPr>
          <p:cNvPr id="30" name="Group 29">
            <a:extLst>
              <a:ext uri="{FF2B5EF4-FFF2-40B4-BE49-F238E27FC236}">
                <a16:creationId xmlns:a16="http://schemas.microsoft.com/office/drawing/2014/main" id="{4C26A952-9E8F-B1D3-5B64-8DC9E9A2D1F3}"/>
              </a:ext>
            </a:extLst>
          </p:cNvPr>
          <p:cNvGrpSpPr/>
          <p:nvPr/>
        </p:nvGrpSpPr>
        <p:grpSpPr>
          <a:xfrm>
            <a:off x="-67075" y="1781040"/>
            <a:ext cx="5817869" cy="4511225"/>
            <a:chOff x="228666" y="-93377"/>
            <a:chExt cx="5817869" cy="4511225"/>
          </a:xfrm>
        </p:grpSpPr>
        <p:sp>
          <p:nvSpPr>
            <p:cNvPr id="28" name="TextBox 27">
              <a:extLst>
                <a:ext uri="{FF2B5EF4-FFF2-40B4-BE49-F238E27FC236}">
                  <a16:creationId xmlns:a16="http://schemas.microsoft.com/office/drawing/2014/main" id="{F0C6FCAD-5CDA-0320-07DD-972ECB9BFBCC}"/>
                </a:ext>
              </a:extLst>
            </p:cNvPr>
            <p:cNvSpPr txBox="1"/>
            <p:nvPr/>
          </p:nvSpPr>
          <p:spPr>
            <a:xfrm>
              <a:off x="228666" y="-93377"/>
              <a:ext cx="5817869" cy="2585323"/>
            </a:xfrm>
            <a:prstGeom prst="rect">
              <a:avLst/>
            </a:prstGeom>
            <a:noFill/>
          </p:spPr>
          <p:txBody>
            <a:bodyPr wrap="square" rtlCol="0">
              <a:spAutoFit/>
            </a:bodyPr>
            <a:lstStyle/>
            <a:p>
              <a:pPr algn="ctr" rtl="1"/>
              <a:r>
                <a:rPr lang="en-US" sz="5400" b="1" dirty="0">
                  <a:solidFill>
                    <a:schemeClr val="accent3">
                      <a:lumMod val="75000"/>
                    </a:schemeClr>
                  </a:solidFill>
                  <a:latin typeface="Lora" pitchFamily="2" charset="0"/>
                </a:rPr>
                <a:t>accidents in the Kingdom of Saudi Arabia</a:t>
              </a:r>
              <a:endParaRPr lang="en-IN" sz="5400" b="1" dirty="0">
                <a:solidFill>
                  <a:schemeClr val="accent3">
                    <a:lumMod val="75000"/>
                  </a:schemeClr>
                </a:solidFill>
                <a:latin typeface="Lora" pitchFamily="2" charset="0"/>
              </a:endParaRPr>
            </a:p>
          </p:txBody>
        </p:sp>
        <p:sp>
          <p:nvSpPr>
            <p:cNvPr id="29" name="TextBox 28">
              <a:extLst>
                <a:ext uri="{FF2B5EF4-FFF2-40B4-BE49-F238E27FC236}">
                  <a16:creationId xmlns:a16="http://schemas.microsoft.com/office/drawing/2014/main" id="{BE034502-3BD6-70DF-8524-8F8B58F7259C}"/>
                </a:ext>
              </a:extLst>
            </p:cNvPr>
            <p:cNvSpPr txBox="1"/>
            <p:nvPr/>
          </p:nvSpPr>
          <p:spPr>
            <a:xfrm>
              <a:off x="564164" y="2601966"/>
              <a:ext cx="5347735" cy="1815882"/>
            </a:xfrm>
            <a:prstGeom prst="rect">
              <a:avLst/>
            </a:prstGeom>
            <a:noFill/>
          </p:spPr>
          <p:txBody>
            <a:bodyPr wrap="square" rtlCol="0">
              <a:spAutoFit/>
            </a:bodyPr>
            <a:lstStyle/>
            <a:p>
              <a:r>
                <a:rPr lang="en-US" sz="1600" b="1" spc="600" dirty="0">
                  <a:solidFill>
                    <a:schemeClr val="accent3">
                      <a:lumMod val="75000"/>
                    </a:schemeClr>
                  </a:solidFill>
                  <a:latin typeface="Lora" pitchFamily="2" charset="0"/>
                </a:rPr>
                <a:t>By:</a:t>
              </a:r>
            </a:p>
            <a:p>
              <a:endParaRPr lang="en-US" sz="1600" b="1" spc="600" dirty="0">
                <a:solidFill>
                  <a:schemeClr val="accent5"/>
                </a:solidFill>
                <a:latin typeface="Lora" pitchFamily="2" charset="0"/>
              </a:endParaRPr>
            </a:p>
            <a:p>
              <a:r>
                <a:rPr lang="en-US" sz="1600" b="1" spc="600" dirty="0">
                  <a:solidFill>
                    <a:schemeClr val="accent3">
                      <a:lumMod val="75000"/>
                    </a:schemeClr>
                  </a:solidFill>
                  <a:latin typeface="Lora" pitchFamily="2" charset="0"/>
                </a:rPr>
                <a:t>Ziad Othman Al-Abduljabbar </a:t>
              </a:r>
            </a:p>
            <a:p>
              <a:r>
                <a:rPr lang="en-US" sz="1600" b="1" spc="600" dirty="0">
                  <a:solidFill>
                    <a:schemeClr val="accent3">
                      <a:lumMod val="75000"/>
                    </a:schemeClr>
                  </a:solidFill>
                  <a:latin typeface="Lora" pitchFamily="2" charset="0"/>
                </a:rPr>
                <a:t>441100931</a:t>
              </a:r>
            </a:p>
            <a:p>
              <a:endParaRPr lang="en-US" sz="1600" b="1" spc="600" dirty="0">
                <a:solidFill>
                  <a:schemeClr val="accent3">
                    <a:lumMod val="75000"/>
                  </a:schemeClr>
                </a:solidFill>
                <a:latin typeface="Lora" pitchFamily="2" charset="0"/>
              </a:endParaRPr>
            </a:p>
            <a:p>
              <a:r>
                <a:rPr lang="en-US" sz="1600" b="1" spc="600" dirty="0">
                  <a:solidFill>
                    <a:schemeClr val="accent3">
                      <a:lumMod val="75000"/>
                    </a:schemeClr>
                  </a:solidFill>
                  <a:latin typeface="Lora" pitchFamily="2" charset="0"/>
                </a:rPr>
                <a:t>Mohammed Ahmed </a:t>
              </a:r>
              <a:r>
                <a:rPr lang="en-US" sz="1600" b="1" spc="600" dirty="0" err="1">
                  <a:solidFill>
                    <a:schemeClr val="accent3">
                      <a:lumMod val="75000"/>
                    </a:schemeClr>
                  </a:solidFill>
                  <a:latin typeface="Lora" pitchFamily="2" charset="0"/>
                </a:rPr>
                <a:t>Alghanam</a:t>
              </a:r>
              <a:endParaRPr lang="en-US" sz="1600" b="1" spc="600" dirty="0">
                <a:solidFill>
                  <a:schemeClr val="accent3">
                    <a:lumMod val="75000"/>
                  </a:schemeClr>
                </a:solidFill>
                <a:latin typeface="Lora" pitchFamily="2" charset="0"/>
              </a:endParaRPr>
            </a:p>
            <a:p>
              <a:r>
                <a:rPr lang="en-US" sz="1600" b="1" spc="600" dirty="0">
                  <a:solidFill>
                    <a:schemeClr val="accent3">
                      <a:lumMod val="75000"/>
                    </a:schemeClr>
                  </a:solidFill>
                  <a:latin typeface="Lora" pitchFamily="2" charset="0"/>
                </a:rPr>
                <a:t>441101802</a:t>
              </a:r>
            </a:p>
          </p:txBody>
        </p:sp>
      </p:grpSp>
      <p:pic>
        <p:nvPicPr>
          <p:cNvPr id="12" name="Picture 11" descr="A car crash on the road&#10;&#10;AI-generated content may be incorrect.">
            <a:extLst>
              <a:ext uri="{FF2B5EF4-FFF2-40B4-BE49-F238E27FC236}">
                <a16:creationId xmlns:a16="http://schemas.microsoft.com/office/drawing/2014/main" id="{F16DAABA-ED7C-4B93-A129-6B67ED8EA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flipV="1">
            <a:off x="5519059" y="0"/>
            <a:ext cx="6672941" cy="6858000"/>
          </a:xfrm>
          <a:prstGeom prst="homePlate">
            <a:avLst>
              <a:gd name="adj" fmla="val 32562"/>
            </a:avLst>
          </a:prstGeom>
        </p:spPr>
      </p:pic>
    </p:spTree>
    <p:extLst>
      <p:ext uri="{BB962C8B-B14F-4D97-AF65-F5344CB8AC3E}">
        <p14:creationId xmlns:p14="http://schemas.microsoft.com/office/powerpoint/2010/main" val="431105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21D77445-C8EC-ECD5-8107-396584F93C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40380"/>
            <a:ext cx="5769849" cy="3838204"/>
          </a:xfrm>
          <a:prstGeom prst="roundRect">
            <a:avLst>
              <a:gd name="adj" fmla="val 24063"/>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41FFCB00-5FFE-D606-78FC-EAC32650C97F}"/>
              </a:ext>
            </a:extLst>
          </p:cNvPr>
          <p:cNvSpPr/>
          <p:nvPr/>
        </p:nvSpPr>
        <p:spPr>
          <a:xfrm>
            <a:off x="4371158" y="329425"/>
            <a:ext cx="7184571" cy="4630057"/>
          </a:xfrm>
          <a:prstGeom prst="roundRect">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solidFill>
                <a:schemeClr val="accent3">
                  <a:lumMod val="75000"/>
                </a:schemeClr>
              </a:solidFill>
            </a:endParaRPr>
          </a:p>
        </p:txBody>
      </p:sp>
      <p:grpSp>
        <p:nvGrpSpPr>
          <p:cNvPr id="9" name="Group 8">
            <a:extLst>
              <a:ext uri="{FF2B5EF4-FFF2-40B4-BE49-F238E27FC236}">
                <a16:creationId xmlns:a16="http://schemas.microsoft.com/office/drawing/2014/main" id="{29A0B750-C1AF-19B1-0ED8-8DAD9CC69708}"/>
              </a:ext>
            </a:extLst>
          </p:cNvPr>
          <p:cNvGrpSpPr/>
          <p:nvPr/>
        </p:nvGrpSpPr>
        <p:grpSpPr>
          <a:xfrm>
            <a:off x="4821850" y="760038"/>
            <a:ext cx="6283186" cy="3645446"/>
            <a:chOff x="5203964" y="1323848"/>
            <a:chExt cx="5541818" cy="3645446"/>
          </a:xfrm>
        </p:grpSpPr>
        <p:sp>
          <p:nvSpPr>
            <p:cNvPr id="6" name="TextBox 5">
              <a:extLst>
                <a:ext uri="{FF2B5EF4-FFF2-40B4-BE49-F238E27FC236}">
                  <a16:creationId xmlns:a16="http://schemas.microsoft.com/office/drawing/2014/main" id="{0B5ED4D8-4504-9A42-01F9-0F79852B50A4}"/>
                </a:ext>
              </a:extLst>
            </p:cNvPr>
            <p:cNvSpPr txBox="1"/>
            <p:nvPr/>
          </p:nvSpPr>
          <p:spPr>
            <a:xfrm>
              <a:off x="5203964" y="2164680"/>
              <a:ext cx="5541818" cy="2804614"/>
            </a:xfrm>
            <a:prstGeom prst="rect">
              <a:avLst/>
            </a:prstGeom>
            <a:noFill/>
          </p:spPr>
          <p:txBody>
            <a:bodyPr wrap="square">
              <a:spAutoFit/>
            </a:bodyPr>
            <a:lstStyle/>
            <a:p>
              <a:pPr>
                <a:lnSpc>
                  <a:spcPct val="150000"/>
                </a:lnSpc>
              </a:pPr>
              <a:r>
                <a:rPr lang="en-US" sz="2400" dirty="0">
                  <a:solidFill>
                    <a:schemeClr val="bg1"/>
                  </a:solidFill>
                </a:rPr>
                <a:t>In this presentation, we will explore the study of traffic accidents that occurred in the Kingdom of Saudi Arabia from 2016 to 2019. The analysis is based on the dataset titled "Saudi Arabia Traffic Accidents and Casualties (Injured and Dead).</a:t>
              </a:r>
              <a:endParaRPr lang="en-IN" sz="2400" dirty="0">
                <a:solidFill>
                  <a:schemeClr val="bg1"/>
                </a:solidFill>
                <a:latin typeface="Lora" pitchFamily="2" charset="0"/>
              </a:endParaRPr>
            </a:p>
          </p:txBody>
        </p:sp>
        <p:sp>
          <p:nvSpPr>
            <p:cNvPr id="8" name="TextBox 7">
              <a:extLst>
                <a:ext uri="{FF2B5EF4-FFF2-40B4-BE49-F238E27FC236}">
                  <a16:creationId xmlns:a16="http://schemas.microsoft.com/office/drawing/2014/main" id="{CE4D0602-7FD8-0986-3518-63CED6B68A19}"/>
                </a:ext>
              </a:extLst>
            </p:cNvPr>
            <p:cNvSpPr txBox="1"/>
            <p:nvPr/>
          </p:nvSpPr>
          <p:spPr>
            <a:xfrm>
              <a:off x="5203964" y="1323848"/>
              <a:ext cx="5541818" cy="646331"/>
            </a:xfrm>
            <a:prstGeom prst="rect">
              <a:avLst/>
            </a:prstGeom>
            <a:noFill/>
          </p:spPr>
          <p:txBody>
            <a:bodyPr wrap="square">
              <a:spAutoFit/>
            </a:bodyPr>
            <a:lstStyle/>
            <a:p>
              <a:r>
                <a:rPr lang="en-US" sz="3600" b="1" dirty="0">
                  <a:solidFill>
                    <a:schemeClr val="bg1"/>
                  </a:solidFill>
                </a:rPr>
                <a:t>INTRODUCTION: </a:t>
              </a:r>
              <a:endParaRPr lang="en-IN" sz="3600" b="1" dirty="0">
                <a:solidFill>
                  <a:schemeClr val="bg1"/>
                </a:solidFill>
              </a:endParaRPr>
            </a:p>
          </p:txBody>
        </p:sp>
      </p:grpSp>
    </p:spTree>
    <p:extLst>
      <p:ext uri="{BB962C8B-B14F-4D97-AF65-F5344CB8AC3E}">
        <p14:creationId xmlns:p14="http://schemas.microsoft.com/office/powerpoint/2010/main" val="4245495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B36235-BEE0-2ADF-FAE6-C0DB75CB50D8}"/>
              </a:ext>
            </a:extLst>
          </p:cNvPr>
          <p:cNvSpPr/>
          <p:nvPr/>
        </p:nvSpPr>
        <p:spPr>
          <a:xfrm>
            <a:off x="9332686" y="0"/>
            <a:ext cx="2859314" cy="685800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a:extLst>
              <a:ext uri="{FF2B5EF4-FFF2-40B4-BE49-F238E27FC236}">
                <a16:creationId xmlns:a16="http://schemas.microsoft.com/office/drawing/2014/main" id="{DFD0F7A2-7F56-1615-01A9-15E7CAFD1806}"/>
              </a:ext>
            </a:extLst>
          </p:cNvPr>
          <p:cNvGrpSpPr/>
          <p:nvPr/>
        </p:nvGrpSpPr>
        <p:grpSpPr>
          <a:xfrm>
            <a:off x="330004" y="700211"/>
            <a:ext cx="5748310" cy="1636533"/>
            <a:chOff x="5524003" y="1581571"/>
            <a:chExt cx="7651001" cy="1636533"/>
          </a:xfrm>
        </p:grpSpPr>
        <p:sp>
          <p:nvSpPr>
            <p:cNvPr id="4" name="TextBox 3">
              <a:extLst>
                <a:ext uri="{FF2B5EF4-FFF2-40B4-BE49-F238E27FC236}">
                  <a16:creationId xmlns:a16="http://schemas.microsoft.com/office/drawing/2014/main" id="{D2ADAC98-6459-597D-5295-AF56E16D1CB5}"/>
                </a:ext>
              </a:extLst>
            </p:cNvPr>
            <p:cNvSpPr txBox="1"/>
            <p:nvPr/>
          </p:nvSpPr>
          <p:spPr>
            <a:xfrm>
              <a:off x="5524003" y="2253609"/>
              <a:ext cx="7651001" cy="964495"/>
            </a:xfrm>
            <a:prstGeom prst="rect">
              <a:avLst/>
            </a:prstGeom>
            <a:noFill/>
          </p:spPr>
          <p:txBody>
            <a:bodyPr wrap="square">
              <a:spAutoFit/>
            </a:bodyPr>
            <a:lstStyle/>
            <a:p>
              <a:pPr>
                <a:lnSpc>
                  <a:spcPct val="150000"/>
                </a:lnSpc>
              </a:pPr>
              <a:r>
                <a:rPr lang="en-US" sz="2000" b="1" dirty="0">
                  <a:solidFill>
                    <a:schemeClr val="accent3">
                      <a:lumMod val="75000"/>
                    </a:schemeClr>
                  </a:solidFill>
                  <a:latin typeface="Segoe UI Web (West European)"/>
                </a:rPr>
                <a:t>Loading the required libraries and data set and select the required columns</a:t>
              </a:r>
              <a:endParaRPr lang="en-IN" sz="2000" b="1" dirty="0">
                <a:solidFill>
                  <a:schemeClr val="accent3">
                    <a:lumMod val="75000"/>
                  </a:schemeClr>
                </a:solidFill>
                <a:latin typeface="Lora" pitchFamily="2" charset="0"/>
              </a:endParaRPr>
            </a:p>
          </p:txBody>
        </p:sp>
        <p:sp>
          <p:nvSpPr>
            <p:cNvPr id="5" name="TextBox 4">
              <a:extLst>
                <a:ext uri="{FF2B5EF4-FFF2-40B4-BE49-F238E27FC236}">
                  <a16:creationId xmlns:a16="http://schemas.microsoft.com/office/drawing/2014/main" id="{65B8AE0B-BFB9-B9BF-42D2-D0088F568022}"/>
                </a:ext>
              </a:extLst>
            </p:cNvPr>
            <p:cNvSpPr txBox="1"/>
            <p:nvPr/>
          </p:nvSpPr>
          <p:spPr>
            <a:xfrm>
              <a:off x="5524004" y="1581571"/>
              <a:ext cx="5541818" cy="646331"/>
            </a:xfrm>
            <a:prstGeom prst="rect">
              <a:avLst/>
            </a:prstGeom>
            <a:noFill/>
          </p:spPr>
          <p:txBody>
            <a:bodyPr wrap="square">
              <a:spAutoFit/>
            </a:bodyPr>
            <a:lstStyle/>
            <a:p>
              <a:r>
                <a:rPr lang="en-US" sz="3600" b="1" i="0" dirty="0">
                  <a:solidFill>
                    <a:schemeClr val="accent3">
                      <a:lumMod val="75000"/>
                    </a:schemeClr>
                  </a:solidFill>
                  <a:effectLst/>
                  <a:latin typeface="Lora" pitchFamily="2" charset="0"/>
                </a:rPr>
                <a:t>First step </a:t>
              </a:r>
              <a:endParaRPr lang="en-IN" sz="3600" b="1" dirty="0">
                <a:solidFill>
                  <a:schemeClr val="accent3">
                    <a:lumMod val="75000"/>
                  </a:schemeClr>
                </a:solidFill>
              </a:endParaRPr>
            </a:p>
          </p:txBody>
        </p:sp>
      </p:grpSp>
      <p:pic>
        <p:nvPicPr>
          <p:cNvPr id="13" name="Picture 12">
            <a:extLst>
              <a:ext uri="{FF2B5EF4-FFF2-40B4-BE49-F238E27FC236}">
                <a16:creationId xmlns:a16="http://schemas.microsoft.com/office/drawing/2014/main" id="{BCFCF001-26F1-E486-DDD9-DE20F774AFFB}"/>
              </a:ext>
            </a:extLst>
          </p:cNvPr>
          <p:cNvPicPr>
            <a:picLocks noChangeAspect="1"/>
          </p:cNvPicPr>
          <p:nvPr/>
        </p:nvPicPr>
        <p:blipFill>
          <a:blip r:embed="rId2"/>
          <a:stretch>
            <a:fillRect/>
          </a:stretch>
        </p:blipFill>
        <p:spPr>
          <a:xfrm>
            <a:off x="155868" y="3341982"/>
            <a:ext cx="11465824" cy="1412898"/>
          </a:xfrm>
          <a:prstGeom prst="rect">
            <a:avLst/>
          </a:prstGeom>
        </p:spPr>
      </p:pic>
    </p:spTree>
    <p:extLst>
      <p:ext uri="{BB962C8B-B14F-4D97-AF65-F5344CB8AC3E}">
        <p14:creationId xmlns:p14="http://schemas.microsoft.com/office/powerpoint/2010/main" val="432091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AE21ADA-B28E-256C-05C2-724F80A0F0FC}"/>
              </a:ext>
            </a:extLst>
          </p:cNvPr>
          <p:cNvGrpSpPr/>
          <p:nvPr/>
        </p:nvGrpSpPr>
        <p:grpSpPr>
          <a:xfrm>
            <a:off x="0" y="454660"/>
            <a:ext cx="12192000" cy="5948680"/>
            <a:chOff x="4574286" y="1407886"/>
            <a:chExt cx="7617714" cy="4064000"/>
          </a:xfrm>
          <a:solidFill>
            <a:schemeClr val="accent3">
              <a:lumMod val="75000"/>
            </a:schemeClr>
          </a:solidFill>
        </p:grpSpPr>
        <p:sp>
          <p:nvSpPr>
            <p:cNvPr id="7" name="Rectangle 6">
              <a:extLst>
                <a:ext uri="{FF2B5EF4-FFF2-40B4-BE49-F238E27FC236}">
                  <a16:creationId xmlns:a16="http://schemas.microsoft.com/office/drawing/2014/main" id="{A280D040-F24D-EE3A-086C-6DC657021AB2}"/>
                </a:ext>
              </a:extLst>
            </p:cNvPr>
            <p:cNvSpPr/>
            <p:nvPr/>
          </p:nvSpPr>
          <p:spPr>
            <a:xfrm>
              <a:off x="4574286" y="1407886"/>
              <a:ext cx="7617714" cy="4064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4159D5D-4F47-537A-C224-CF0718EBA573}"/>
                </a:ext>
              </a:extLst>
            </p:cNvPr>
            <p:cNvSpPr txBox="1"/>
            <p:nvPr/>
          </p:nvSpPr>
          <p:spPr>
            <a:xfrm>
              <a:off x="4726940" y="1407886"/>
              <a:ext cx="5038017" cy="646331"/>
            </a:xfrm>
            <a:prstGeom prst="rect">
              <a:avLst/>
            </a:prstGeom>
            <a:grpFill/>
          </p:spPr>
          <p:txBody>
            <a:bodyPr wrap="square">
              <a:spAutoFit/>
            </a:bodyPr>
            <a:lstStyle/>
            <a:p>
              <a:r>
                <a:rPr lang="en-US" sz="3600" b="1" i="0" dirty="0">
                  <a:solidFill>
                    <a:schemeClr val="bg1"/>
                  </a:solidFill>
                  <a:effectLst/>
                  <a:latin typeface="Lora" pitchFamily="2" charset="0"/>
                </a:rPr>
                <a:t>Dataset:</a:t>
              </a:r>
              <a:endParaRPr lang="en-IN" sz="3600" b="1" dirty="0">
                <a:solidFill>
                  <a:schemeClr val="bg1"/>
                </a:solidFill>
              </a:endParaRPr>
            </a:p>
          </p:txBody>
        </p:sp>
      </p:grpSp>
      <p:pic>
        <p:nvPicPr>
          <p:cNvPr id="9" name="Picture 8" descr="A screenshot of a computer&#10;&#10;AI-generated content may be incorrect.">
            <a:extLst>
              <a:ext uri="{FF2B5EF4-FFF2-40B4-BE49-F238E27FC236}">
                <a16:creationId xmlns:a16="http://schemas.microsoft.com/office/drawing/2014/main" id="{286CEBCC-55F5-B8BA-B1B4-7C8C7D0D1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1" y="1021078"/>
            <a:ext cx="11978639" cy="4838704"/>
          </a:xfrm>
          <a:prstGeom prst="rect">
            <a:avLst/>
          </a:prstGeom>
        </p:spPr>
      </p:pic>
    </p:spTree>
    <p:extLst>
      <p:ext uri="{BB962C8B-B14F-4D97-AF65-F5344CB8AC3E}">
        <p14:creationId xmlns:p14="http://schemas.microsoft.com/office/powerpoint/2010/main" val="29325702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FED2F8-EFB0-B0FD-16CE-27B4B2826538}"/>
              </a:ext>
            </a:extLst>
          </p:cNvPr>
          <p:cNvSpPr/>
          <p:nvPr/>
        </p:nvSpPr>
        <p:spPr>
          <a:xfrm>
            <a:off x="0" y="0"/>
            <a:ext cx="3722748" cy="685800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a:extLst>
              <a:ext uri="{FF2B5EF4-FFF2-40B4-BE49-F238E27FC236}">
                <a16:creationId xmlns:a16="http://schemas.microsoft.com/office/drawing/2014/main" id="{94F6720E-8796-0619-CCA8-F475C9AE23BD}"/>
              </a:ext>
            </a:extLst>
          </p:cNvPr>
          <p:cNvGrpSpPr/>
          <p:nvPr/>
        </p:nvGrpSpPr>
        <p:grpSpPr>
          <a:xfrm>
            <a:off x="-221785" y="2040066"/>
            <a:ext cx="3534409" cy="2503270"/>
            <a:chOff x="5524004" y="2781900"/>
            <a:chExt cx="5880682" cy="2503270"/>
          </a:xfrm>
        </p:grpSpPr>
        <p:sp>
          <p:nvSpPr>
            <p:cNvPr id="4" name="TextBox 3">
              <a:extLst>
                <a:ext uri="{FF2B5EF4-FFF2-40B4-BE49-F238E27FC236}">
                  <a16:creationId xmlns:a16="http://schemas.microsoft.com/office/drawing/2014/main" id="{5B6ADDDA-461E-5CC3-8657-CE6C2D5E8B2A}"/>
                </a:ext>
              </a:extLst>
            </p:cNvPr>
            <p:cNvSpPr txBox="1"/>
            <p:nvPr/>
          </p:nvSpPr>
          <p:spPr>
            <a:xfrm>
              <a:off x="5524004" y="2781900"/>
              <a:ext cx="5541818" cy="463204"/>
            </a:xfrm>
            <a:prstGeom prst="rect">
              <a:avLst/>
            </a:prstGeom>
            <a:noFill/>
          </p:spPr>
          <p:txBody>
            <a:bodyPr wrap="square">
              <a:spAutoFit/>
            </a:bodyPr>
            <a:lstStyle/>
            <a:p>
              <a:pPr algn="r">
                <a:lnSpc>
                  <a:spcPct val="150000"/>
                </a:lnSpc>
              </a:pPr>
              <a:endParaRPr lang="en-IN" dirty="0">
                <a:solidFill>
                  <a:schemeClr val="tx1">
                    <a:lumMod val="85000"/>
                    <a:lumOff val="15000"/>
                  </a:schemeClr>
                </a:solidFill>
                <a:latin typeface="Lora" pitchFamily="2" charset="0"/>
              </a:endParaRPr>
            </a:p>
          </p:txBody>
        </p:sp>
        <p:sp>
          <p:nvSpPr>
            <p:cNvPr id="5" name="TextBox 4">
              <a:extLst>
                <a:ext uri="{FF2B5EF4-FFF2-40B4-BE49-F238E27FC236}">
                  <a16:creationId xmlns:a16="http://schemas.microsoft.com/office/drawing/2014/main" id="{0030B9C2-3D1B-1D0B-F2EE-F0B3016A8F39}"/>
                </a:ext>
              </a:extLst>
            </p:cNvPr>
            <p:cNvSpPr txBox="1"/>
            <p:nvPr/>
          </p:nvSpPr>
          <p:spPr>
            <a:xfrm>
              <a:off x="6575396" y="2976846"/>
              <a:ext cx="4829290" cy="2308324"/>
            </a:xfrm>
            <a:prstGeom prst="rect">
              <a:avLst/>
            </a:prstGeom>
            <a:noFill/>
          </p:spPr>
          <p:txBody>
            <a:bodyPr wrap="square">
              <a:spAutoFit/>
            </a:bodyPr>
            <a:lstStyle/>
            <a:p>
              <a:pPr algn="ctr"/>
              <a:r>
                <a:rPr lang="en-US" sz="3600" b="1" dirty="0">
                  <a:solidFill>
                    <a:schemeClr val="bg1"/>
                  </a:solidFill>
                  <a:latin typeface="Lora" pitchFamily="2" charset="0"/>
                </a:rPr>
                <a:t>Cases that we will review and study</a:t>
              </a:r>
              <a:endParaRPr lang="en-IN" sz="3600" b="1" dirty="0">
                <a:solidFill>
                  <a:schemeClr val="bg1"/>
                </a:solidFill>
              </a:endParaRPr>
            </a:p>
          </p:txBody>
        </p:sp>
      </p:grpSp>
      <p:sp>
        <p:nvSpPr>
          <p:cNvPr id="8" name="Rectangle: Rounded Corners 7">
            <a:extLst>
              <a:ext uri="{FF2B5EF4-FFF2-40B4-BE49-F238E27FC236}">
                <a16:creationId xmlns:a16="http://schemas.microsoft.com/office/drawing/2014/main" id="{DA2DF008-09D9-A318-F723-FBE7239C3235}"/>
              </a:ext>
            </a:extLst>
          </p:cNvPr>
          <p:cNvSpPr/>
          <p:nvPr/>
        </p:nvSpPr>
        <p:spPr>
          <a:xfrm>
            <a:off x="4324365" y="1145145"/>
            <a:ext cx="1874520" cy="1354266"/>
          </a:xfrm>
          <a:prstGeom prst="round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cs typeface="+mj-cs"/>
              </a:rPr>
              <a:t>Number of Accidents by region </a:t>
            </a:r>
            <a:endParaRPr lang="ar-SA" b="1" dirty="0">
              <a:cs typeface="+mj-cs"/>
            </a:endParaRPr>
          </a:p>
        </p:txBody>
      </p:sp>
      <p:sp>
        <p:nvSpPr>
          <p:cNvPr id="11" name="Rectangle: Rounded Corners 10">
            <a:extLst>
              <a:ext uri="{FF2B5EF4-FFF2-40B4-BE49-F238E27FC236}">
                <a16:creationId xmlns:a16="http://schemas.microsoft.com/office/drawing/2014/main" id="{1C105FCC-1C29-56FC-2A4A-5F57E92BC25C}"/>
              </a:ext>
            </a:extLst>
          </p:cNvPr>
          <p:cNvSpPr/>
          <p:nvPr/>
        </p:nvSpPr>
        <p:spPr>
          <a:xfrm>
            <a:off x="9265929" y="1149004"/>
            <a:ext cx="2369820" cy="1354266"/>
          </a:xfrm>
          <a:prstGeom prst="round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b="1" dirty="0" err="1">
                <a:cs typeface="+mj-cs"/>
              </a:rPr>
              <a:t>Comparison</a:t>
            </a:r>
            <a:r>
              <a:rPr lang="ar-SA" b="1" dirty="0">
                <a:cs typeface="+mj-cs"/>
              </a:rPr>
              <a:t> </a:t>
            </a:r>
            <a:r>
              <a:rPr lang="ar-SA" b="1" dirty="0" err="1">
                <a:cs typeface="+mj-cs"/>
              </a:rPr>
              <a:t>of</a:t>
            </a:r>
            <a:r>
              <a:rPr lang="ar-SA" b="1" dirty="0">
                <a:cs typeface="+mj-cs"/>
              </a:rPr>
              <a:t> </a:t>
            </a:r>
            <a:r>
              <a:rPr lang="ar-SA" b="1" dirty="0" err="1">
                <a:cs typeface="+mj-cs"/>
              </a:rPr>
              <a:t>Accidents</a:t>
            </a:r>
            <a:r>
              <a:rPr lang="ar-SA" b="1" dirty="0">
                <a:cs typeface="+mj-cs"/>
              </a:rPr>
              <a:t> ,</a:t>
            </a:r>
            <a:r>
              <a:rPr lang="ar-SA" b="1" dirty="0" err="1">
                <a:cs typeface="+mj-cs"/>
              </a:rPr>
              <a:t>Deaths</a:t>
            </a:r>
            <a:r>
              <a:rPr lang="ar-SA" b="1" dirty="0">
                <a:cs typeface="+mj-cs"/>
              </a:rPr>
              <a:t> </a:t>
            </a:r>
            <a:r>
              <a:rPr lang="ar-SA" b="1" dirty="0" err="1">
                <a:cs typeface="+mj-cs"/>
              </a:rPr>
              <a:t>and</a:t>
            </a:r>
            <a:r>
              <a:rPr lang="ar-SA" b="1" dirty="0">
                <a:cs typeface="+mj-cs"/>
              </a:rPr>
              <a:t> </a:t>
            </a:r>
            <a:r>
              <a:rPr lang="ar-SA" b="1" dirty="0" err="1">
                <a:cs typeface="+mj-cs"/>
              </a:rPr>
              <a:t>Injuries</a:t>
            </a:r>
            <a:r>
              <a:rPr lang="ar-SA" b="1" dirty="0">
                <a:cs typeface="+mj-cs"/>
              </a:rPr>
              <a:t> </a:t>
            </a:r>
            <a:r>
              <a:rPr lang="ar-SA" b="1" dirty="0" err="1">
                <a:cs typeface="+mj-cs"/>
              </a:rPr>
              <a:t>by</a:t>
            </a:r>
            <a:r>
              <a:rPr lang="ar-SA" b="1" dirty="0">
                <a:cs typeface="+mj-cs"/>
              </a:rPr>
              <a:t> </a:t>
            </a:r>
            <a:r>
              <a:rPr lang="ar-SA" b="1" dirty="0" err="1">
                <a:cs typeface="+mj-cs"/>
              </a:rPr>
              <a:t>Year</a:t>
            </a:r>
            <a:endParaRPr lang="ar-SA" b="1" dirty="0">
              <a:cs typeface="+mj-cs"/>
            </a:endParaRPr>
          </a:p>
        </p:txBody>
      </p:sp>
      <p:sp>
        <p:nvSpPr>
          <p:cNvPr id="14" name="Rectangle: Rounded Corners 13">
            <a:extLst>
              <a:ext uri="{FF2B5EF4-FFF2-40B4-BE49-F238E27FC236}">
                <a16:creationId xmlns:a16="http://schemas.microsoft.com/office/drawing/2014/main" id="{6B237AA9-FD4F-2A33-E13F-75D58EDFE91E}"/>
              </a:ext>
            </a:extLst>
          </p:cNvPr>
          <p:cNvSpPr/>
          <p:nvPr/>
        </p:nvSpPr>
        <p:spPr>
          <a:xfrm>
            <a:off x="9265929" y="4207481"/>
            <a:ext cx="2369820" cy="1354266"/>
          </a:xfrm>
          <a:prstGeom prst="round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cs typeface="+mj-cs"/>
              </a:rPr>
              <a:t>Number of Deaths by Region (2016–2019)</a:t>
            </a:r>
            <a:endParaRPr lang="ar-SA" b="1" dirty="0">
              <a:cs typeface="+mj-cs"/>
            </a:endParaRPr>
          </a:p>
        </p:txBody>
      </p:sp>
      <p:sp>
        <p:nvSpPr>
          <p:cNvPr id="9" name="Rectangle: Rounded Corners 8">
            <a:extLst>
              <a:ext uri="{FF2B5EF4-FFF2-40B4-BE49-F238E27FC236}">
                <a16:creationId xmlns:a16="http://schemas.microsoft.com/office/drawing/2014/main" id="{826DBA05-58A6-E811-65D2-5CE3B5130F67}"/>
              </a:ext>
            </a:extLst>
          </p:cNvPr>
          <p:cNvSpPr/>
          <p:nvPr/>
        </p:nvSpPr>
        <p:spPr>
          <a:xfrm>
            <a:off x="4076715" y="4207481"/>
            <a:ext cx="2369820" cy="1354266"/>
          </a:xfrm>
          <a:prstGeom prst="round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1800" b="1" dirty="0">
                <a:solidFill>
                  <a:schemeClr val="bg1"/>
                </a:solidFill>
                <a:cs typeface="+mj-cs"/>
              </a:rPr>
              <a:t>The relationship between injury and death across all regions</a:t>
            </a:r>
            <a:endParaRPr lang="en-US" b="1" dirty="0">
              <a:cs typeface="+mj-cs"/>
            </a:endParaRPr>
          </a:p>
        </p:txBody>
      </p:sp>
    </p:spTree>
    <p:extLst>
      <p:ext uri="{BB962C8B-B14F-4D97-AF65-F5344CB8AC3E}">
        <p14:creationId xmlns:p14="http://schemas.microsoft.com/office/powerpoint/2010/main" val="1764060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6757E2-99A4-8A61-686C-649AE7F46E82}"/>
              </a:ext>
            </a:extLst>
          </p:cNvPr>
          <p:cNvSpPr/>
          <p:nvPr/>
        </p:nvSpPr>
        <p:spPr>
          <a:xfrm>
            <a:off x="0" y="0"/>
            <a:ext cx="12192000" cy="1280160"/>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E94668E-74B1-FA7C-6C3A-D863806CD8CE}"/>
              </a:ext>
            </a:extLst>
          </p:cNvPr>
          <p:cNvSpPr txBox="1"/>
          <p:nvPr/>
        </p:nvSpPr>
        <p:spPr>
          <a:xfrm>
            <a:off x="778549" y="207107"/>
            <a:ext cx="10634903" cy="1569660"/>
          </a:xfrm>
          <a:prstGeom prst="rect">
            <a:avLst/>
          </a:prstGeom>
          <a:noFill/>
        </p:spPr>
        <p:txBody>
          <a:bodyPr wrap="square">
            <a:spAutoFit/>
          </a:bodyPr>
          <a:lstStyle/>
          <a:p>
            <a:pPr algn="ctr"/>
            <a:r>
              <a:rPr lang="en-US" sz="4800" b="1" i="0" dirty="0">
                <a:solidFill>
                  <a:schemeClr val="bg1"/>
                </a:solidFill>
                <a:effectLst/>
                <a:latin typeface="Agency FB" panose="020B0503020202020204" pitchFamily="34" charset="0"/>
              </a:rPr>
              <a:t>Case 1: </a:t>
            </a:r>
            <a:r>
              <a:rPr lang="en-US" sz="4800" b="1" dirty="0">
                <a:solidFill>
                  <a:schemeClr val="bg1"/>
                </a:solidFill>
                <a:latin typeface="Agency FB" panose="020B0503020202020204" pitchFamily="34" charset="0"/>
                <a:cs typeface="+mj-cs"/>
              </a:rPr>
              <a:t>Number of Accidents by region </a:t>
            </a:r>
            <a:endParaRPr lang="ar-SA" sz="4800" b="1" dirty="0">
              <a:solidFill>
                <a:schemeClr val="bg1"/>
              </a:solidFill>
              <a:latin typeface="Agency FB" panose="020B0503020202020204" pitchFamily="34" charset="0"/>
              <a:cs typeface="+mj-cs"/>
            </a:endParaRPr>
          </a:p>
          <a:p>
            <a:pPr algn="ctr"/>
            <a:r>
              <a:rPr lang="en-US" sz="4800" b="1" i="0" dirty="0">
                <a:solidFill>
                  <a:schemeClr val="accent5"/>
                </a:solidFill>
                <a:effectLst/>
                <a:latin typeface="Lora" pitchFamily="2" charset="0"/>
              </a:rPr>
              <a:t> </a:t>
            </a:r>
            <a:endParaRPr lang="en-IN" sz="4800" b="1" dirty="0">
              <a:solidFill>
                <a:schemeClr val="accent5"/>
              </a:solidFill>
            </a:endParaRPr>
          </a:p>
        </p:txBody>
      </p:sp>
      <p:sp>
        <p:nvSpPr>
          <p:cNvPr id="7" name="TextBox 6">
            <a:extLst>
              <a:ext uri="{FF2B5EF4-FFF2-40B4-BE49-F238E27FC236}">
                <a16:creationId xmlns:a16="http://schemas.microsoft.com/office/drawing/2014/main" id="{32C37A4F-68E5-A04B-8063-93CAE805169F}"/>
              </a:ext>
            </a:extLst>
          </p:cNvPr>
          <p:cNvSpPr txBox="1"/>
          <p:nvPr/>
        </p:nvSpPr>
        <p:spPr>
          <a:xfrm>
            <a:off x="-101562" y="1133324"/>
            <a:ext cx="1760220" cy="4278094"/>
          </a:xfrm>
          <a:prstGeom prst="rect">
            <a:avLst/>
          </a:prstGeom>
          <a:noFill/>
        </p:spPr>
        <p:txBody>
          <a:bodyPr wrap="square">
            <a:spAutoFit/>
          </a:bodyPr>
          <a:lstStyle/>
          <a:p>
            <a:pPr algn="ctr"/>
            <a:r>
              <a:rPr lang="en-US" sz="4000" b="1" dirty="0">
                <a:solidFill>
                  <a:schemeClr val="accent3">
                    <a:lumMod val="75000"/>
                  </a:schemeClr>
                </a:solidFill>
                <a:latin typeface="+mj-lt"/>
                <a:cs typeface="+mj-cs"/>
              </a:rPr>
              <a:t>Codes:</a:t>
            </a:r>
          </a:p>
          <a:p>
            <a:r>
              <a:rPr lang="en-US" sz="3200" b="1" dirty="0">
                <a:solidFill>
                  <a:schemeClr val="accent3">
                    <a:lumMod val="75000"/>
                  </a:schemeClr>
                </a:solidFill>
                <a:latin typeface="+mj-lt"/>
                <a:cs typeface="+mj-cs"/>
              </a:rPr>
              <a:t>  1</a:t>
            </a:r>
          </a:p>
          <a:p>
            <a:pPr algn="ctr"/>
            <a:endParaRPr lang="en-US" sz="4000" b="1" dirty="0">
              <a:solidFill>
                <a:schemeClr val="accent3">
                  <a:lumMod val="75000"/>
                </a:schemeClr>
              </a:solidFill>
              <a:latin typeface="+mj-lt"/>
              <a:cs typeface="+mj-cs"/>
            </a:endParaRPr>
          </a:p>
          <a:p>
            <a:pPr algn="ctr"/>
            <a:endParaRPr lang="en-US" sz="4000" b="1" dirty="0">
              <a:solidFill>
                <a:schemeClr val="accent3">
                  <a:lumMod val="75000"/>
                </a:schemeClr>
              </a:solidFill>
              <a:latin typeface="+mj-lt"/>
              <a:cs typeface="+mj-cs"/>
            </a:endParaRPr>
          </a:p>
          <a:p>
            <a:pPr algn="ctr"/>
            <a:endParaRPr lang="en-US" sz="4000" b="1" dirty="0">
              <a:solidFill>
                <a:schemeClr val="accent3">
                  <a:lumMod val="75000"/>
                </a:schemeClr>
              </a:solidFill>
              <a:latin typeface="+mj-lt"/>
              <a:cs typeface="+mj-cs"/>
            </a:endParaRPr>
          </a:p>
          <a:p>
            <a:pPr algn="ctr"/>
            <a:endParaRPr lang="en-US" sz="4000" b="1" dirty="0">
              <a:solidFill>
                <a:schemeClr val="accent3">
                  <a:lumMod val="75000"/>
                </a:schemeClr>
              </a:solidFill>
              <a:latin typeface="+mj-lt"/>
              <a:cs typeface="+mj-cs"/>
            </a:endParaRPr>
          </a:p>
          <a:p>
            <a:r>
              <a:rPr lang="en-US" sz="4000" b="1" dirty="0">
                <a:solidFill>
                  <a:schemeClr val="accent3">
                    <a:lumMod val="75000"/>
                  </a:schemeClr>
                </a:solidFill>
                <a:latin typeface="+mj-lt"/>
                <a:cs typeface="+mj-cs"/>
              </a:rPr>
              <a:t>  </a:t>
            </a:r>
            <a:r>
              <a:rPr lang="en-US" sz="3600" b="1" dirty="0">
                <a:solidFill>
                  <a:schemeClr val="accent3">
                    <a:lumMod val="75000"/>
                  </a:schemeClr>
                </a:solidFill>
                <a:latin typeface="+mj-lt"/>
                <a:cs typeface="+mj-cs"/>
              </a:rPr>
              <a:t>2</a:t>
            </a:r>
            <a:endParaRPr lang="ar-SA" sz="4000" b="1" dirty="0">
              <a:solidFill>
                <a:schemeClr val="accent3">
                  <a:lumMod val="75000"/>
                </a:schemeClr>
              </a:solidFill>
              <a:latin typeface="+mj-lt"/>
              <a:cs typeface="+mj-cs"/>
            </a:endParaRPr>
          </a:p>
        </p:txBody>
      </p:sp>
      <p:pic>
        <p:nvPicPr>
          <p:cNvPr id="10" name="Picture 9" descr="A computer screen shot of a computer code&#10;&#10;AI-generated content may be incorrect.">
            <a:extLst>
              <a:ext uri="{FF2B5EF4-FFF2-40B4-BE49-F238E27FC236}">
                <a16:creationId xmlns:a16="http://schemas.microsoft.com/office/drawing/2014/main" id="{9771F39E-ECC8-54BB-38EB-E4755D671C5D}"/>
              </a:ext>
            </a:extLst>
          </p:cNvPr>
          <p:cNvPicPr>
            <a:picLocks noChangeAspect="1"/>
          </p:cNvPicPr>
          <p:nvPr/>
        </p:nvPicPr>
        <p:blipFill>
          <a:blip r:embed="rId2">
            <a:extLst>
              <a:ext uri="{28A0092B-C50C-407E-A947-70E740481C1C}">
                <a14:useLocalDpi xmlns:a14="http://schemas.microsoft.com/office/drawing/2010/main" val="0"/>
              </a:ext>
            </a:extLst>
          </a:blip>
          <a:srcRect t="15469"/>
          <a:stretch/>
        </p:blipFill>
        <p:spPr>
          <a:xfrm>
            <a:off x="0" y="2253851"/>
            <a:ext cx="12455146" cy="2117790"/>
          </a:xfrm>
          <a:prstGeom prst="rect">
            <a:avLst/>
          </a:prstGeom>
        </p:spPr>
      </p:pic>
      <p:pic>
        <p:nvPicPr>
          <p:cNvPr id="12" name="Picture 11">
            <a:extLst>
              <a:ext uri="{FF2B5EF4-FFF2-40B4-BE49-F238E27FC236}">
                <a16:creationId xmlns:a16="http://schemas.microsoft.com/office/drawing/2014/main" id="{56E67669-C9F6-1CFC-6A98-6389810975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920" y="5411418"/>
            <a:ext cx="12070080" cy="495843"/>
          </a:xfrm>
          <a:prstGeom prst="rect">
            <a:avLst/>
          </a:prstGeom>
        </p:spPr>
      </p:pic>
      <p:sp>
        <p:nvSpPr>
          <p:cNvPr id="3" name="Circle: Hollow 2">
            <a:extLst>
              <a:ext uri="{FF2B5EF4-FFF2-40B4-BE49-F238E27FC236}">
                <a16:creationId xmlns:a16="http://schemas.microsoft.com/office/drawing/2014/main" id="{B0E6D252-63BE-62D5-A7CA-03FB730C0F93}"/>
              </a:ext>
            </a:extLst>
          </p:cNvPr>
          <p:cNvSpPr/>
          <p:nvPr/>
        </p:nvSpPr>
        <p:spPr>
          <a:xfrm>
            <a:off x="11251928" y="5942656"/>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249187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8358B5-F0E3-23BB-54B6-3C1F6E7F2846}"/>
              </a:ext>
            </a:extLst>
          </p:cNvPr>
          <p:cNvSpPr/>
          <p:nvPr/>
        </p:nvSpPr>
        <p:spPr>
          <a:xfrm>
            <a:off x="144780" y="871845"/>
            <a:ext cx="11902440" cy="5483235"/>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FE95235-1877-36A1-379A-011D0C8054BA}"/>
              </a:ext>
            </a:extLst>
          </p:cNvPr>
          <p:cNvSpPr txBox="1"/>
          <p:nvPr/>
        </p:nvSpPr>
        <p:spPr>
          <a:xfrm>
            <a:off x="109891" y="225514"/>
            <a:ext cx="5038017" cy="646331"/>
          </a:xfrm>
          <a:prstGeom prst="rect">
            <a:avLst/>
          </a:prstGeom>
          <a:noFill/>
        </p:spPr>
        <p:txBody>
          <a:bodyPr wrap="square">
            <a:spAutoFit/>
          </a:bodyPr>
          <a:lstStyle/>
          <a:p>
            <a:r>
              <a:rPr lang="en-US" sz="3600" b="1" i="0" dirty="0">
                <a:solidFill>
                  <a:schemeClr val="accent3">
                    <a:lumMod val="75000"/>
                  </a:schemeClr>
                </a:solidFill>
                <a:effectLst/>
                <a:latin typeface="Lora" pitchFamily="2" charset="0"/>
              </a:rPr>
              <a:t>Output: 1</a:t>
            </a:r>
            <a:endParaRPr lang="en-IN" sz="3600" b="1" dirty="0">
              <a:solidFill>
                <a:schemeClr val="accent3">
                  <a:lumMod val="75000"/>
                </a:schemeClr>
              </a:solidFill>
            </a:endParaRPr>
          </a:p>
        </p:txBody>
      </p:sp>
      <p:sp>
        <p:nvSpPr>
          <p:cNvPr id="6" name="Circle: Hollow 5">
            <a:extLst>
              <a:ext uri="{FF2B5EF4-FFF2-40B4-BE49-F238E27FC236}">
                <a16:creationId xmlns:a16="http://schemas.microsoft.com/office/drawing/2014/main" id="{B1753631-F808-736A-1CEC-46BFC33D6970}"/>
              </a:ext>
            </a:extLst>
          </p:cNvPr>
          <p:cNvSpPr/>
          <p:nvPr/>
        </p:nvSpPr>
        <p:spPr>
          <a:xfrm>
            <a:off x="-727066" y="5861478"/>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16" name="Picture 15" descr="A graph with different colored squares&#10;&#10;AI-generated content may be incorrect.">
            <a:extLst>
              <a:ext uri="{FF2B5EF4-FFF2-40B4-BE49-F238E27FC236}">
                <a16:creationId xmlns:a16="http://schemas.microsoft.com/office/drawing/2014/main" id="{0CA44B4B-B118-AF74-99EC-5C1B992D7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961" y="1365447"/>
            <a:ext cx="11240078" cy="4496031"/>
          </a:xfrm>
          <a:prstGeom prst="rect">
            <a:avLst/>
          </a:prstGeom>
        </p:spPr>
      </p:pic>
    </p:spTree>
    <p:extLst>
      <p:ext uri="{BB962C8B-B14F-4D97-AF65-F5344CB8AC3E}">
        <p14:creationId xmlns:p14="http://schemas.microsoft.com/office/powerpoint/2010/main" val="3783133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1B904-AC33-C3D7-91EB-3A918CD0876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E5F5B1-FA34-177B-81AF-2DAE5CB39BCE}"/>
              </a:ext>
            </a:extLst>
          </p:cNvPr>
          <p:cNvSpPr/>
          <p:nvPr/>
        </p:nvSpPr>
        <p:spPr>
          <a:xfrm>
            <a:off x="144780" y="871845"/>
            <a:ext cx="11902440" cy="5483235"/>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C0A5223-93F6-2DCB-26B6-351082680AA0}"/>
              </a:ext>
            </a:extLst>
          </p:cNvPr>
          <p:cNvSpPr txBox="1"/>
          <p:nvPr/>
        </p:nvSpPr>
        <p:spPr>
          <a:xfrm>
            <a:off x="109891" y="225514"/>
            <a:ext cx="5038017" cy="646331"/>
          </a:xfrm>
          <a:prstGeom prst="rect">
            <a:avLst/>
          </a:prstGeom>
          <a:noFill/>
        </p:spPr>
        <p:txBody>
          <a:bodyPr wrap="square">
            <a:spAutoFit/>
          </a:bodyPr>
          <a:lstStyle/>
          <a:p>
            <a:r>
              <a:rPr lang="en-US" sz="3600" b="1" i="0" dirty="0">
                <a:solidFill>
                  <a:schemeClr val="accent3">
                    <a:lumMod val="75000"/>
                  </a:schemeClr>
                </a:solidFill>
                <a:effectLst/>
                <a:latin typeface="Lora" pitchFamily="2" charset="0"/>
              </a:rPr>
              <a:t>Output: 2</a:t>
            </a:r>
            <a:endParaRPr lang="en-IN" sz="3600" b="1" dirty="0">
              <a:solidFill>
                <a:schemeClr val="accent3">
                  <a:lumMod val="75000"/>
                </a:schemeClr>
              </a:solidFill>
            </a:endParaRPr>
          </a:p>
        </p:txBody>
      </p:sp>
      <p:sp>
        <p:nvSpPr>
          <p:cNvPr id="6" name="Circle: Hollow 5">
            <a:extLst>
              <a:ext uri="{FF2B5EF4-FFF2-40B4-BE49-F238E27FC236}">
                <a16:creationId xmlns:a16="http://schemas.microsoft.com/office/drawing/2014/main" id="{9B9C22C9-AB02-600E-B8AC-FDFEC5BFA83D}"/>
              </a:ext>
            </a:extLst>
          </p:cNvPr>
          <p:cNvSpPr/>
          <p:nvPr/>
        </p:nvSpPr>
        <p:spPr>
          <a:xfrm>
            <a:off x="6814366" y="635508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8" name="Picture 7" descr="A graph of a number of people&#10;&#10;AI-generated content may be incorrect.">
            <a:extLst>
              <a:ext uri="{FF2B5EF4-FFF2-40B4-BE49-F238E27FC236}">
                <a16:creationId xmlns:a16="http://schemas.microsoft.com/office/drawing/2014/main" id="{CE717898-7E86-5D19-5637-375081B240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961" y="1365447"/>
            <a:ext cx="11240078" cy="4496031"/>
          </a:xfrm>
          <a:prstGeom prst="rect">
            <a:avLst/>
          </a:prstGeom>
        </p:spPr>
      </p:pic>
    </p:spTree>
    <p:extLst>
      <p:ext uri="{BB962C8B-B14F-4D97-AF65-F5344CB8AC3E}">
        <p14:creationId xmlns:p14="http://schemas.microsoft.com/office/powerpoint/2010/main" val="501064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1B02E1-691C-1FE7-C6C0-AD1F80533FA2}"/>
              </a:ext>
            </a:extLst>
          </p:cNvPr>
          <p:cNvSpPr/>
          <p:nvPr/>
        </p:nvSpPr>
        <p:spPr>
          <a:xfrm>
            <a:off x="1280160" y="1440180"/>
            <a:ext cx="9715500" cy="4389120"/>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ircle: Hollow 5">
            <a:extLst>
              <a:ext uri="{FF2B5EF4-FFF2-40B4-BE49-F238E27FC236}">
                <a16:creationId xmlns:a16="http://schemas.microsoft.com/office/drawing/2014/main" id="{D5635D94-D778-ADAC-217C-74D255CEB248}"/>
              </a:ext>
            </a:extLst>
          </p:cNvPr>
          <p:cNvSpPr/>
          <p:nvPr/>
        </p:nvSpPr>
        <p:spPr>
          <a:xfrm>
            <a:off x="-768976" y="582930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3" name="Group 2">
            <a:extLst>
              <a:ext uri="{FF2B5EF4-FFF2-40B4-BE49-F238E27FC236}">
                <a16:creationId xmlns:a16="http://schemas.microsoft.com/office/drawing/2014/main" id="{E3546B20-FAE6-0507-CB77-0C00EDB2DBB3}"/>
              </a:ext>
            </a:extLst>
          </p:cNvPr>
          <p:cNvGrpSpPr/>
          <p:nvPr/>
        </p:nvGrpSpPr>
        <p:grpSpPr>
          <a:xfrm>
            <a:off x="102870" y="203351"/>
            <a:ext cx="10808970" cy="5970654"/>
            <a:chOff x="5524004" y="2135569"/>
            <a:chExt cx="13078854" cy="5970654"/>
          </a:xfrm>
        </p:grpSpPr>
        <p:sp>
          <p:nvSpPr>
            <p:cNvPr id="4" name="TextBox 3">
              <a:extLst>
                <a:ext uri="{FF2B5EF4-FFF2-40B4-BE49-F238E27FC236}">
                  <a16:creationId xmlns:a16="http://schemas.microsoft.com/office/drawing/2014/main" id="{1B421D2F-9305-AB6D-224C-D5635DAB153F}"/>
                </a:ext>
              </a:extLst>
            </p:cNvPr>
            <p:cNvSpPr txBox="1"/>
            <p:nvPr/>
          </p:nvSpPr>
          <p:spPr>
            <a:xfrm>
              <a:off x="7086828" y="3343509"/>
              <a:ext cx="11516030" cy="476271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solidFill>
                    <a:schemeClr val="bg1"/>
                  </a:solidFill>
                </a:rPr>
                <a:t>The chart shows that </a:t>
              </a:r>
              <a:r>
                <a:rPr lang="en-US" sz="2800" b="1" dirty="0">
                  <a:solidFill>
                    <a:schemeClr val="bg1"/>
                  </a:solidFill>
                </a:rPr>
                <a:t>Makkah</a:t>
              </a:r>
              <a:r>
                <a:rPr lang="en-US" sz="2800" dirty="0">
                  <a:solidFill>
                    <a:schemeClr val="bg1"/>
                  </a:solidFill>
                </a:rPr>
                <a:t> had the highest number of accidents throughout the entire period (2016–2019), while </a:t>
              </a:r>
              <a:r>
                <a:rPr lang="en-US" sz="2800" b="1" dirty="0">
                  <a:solidFill>
                    <a:schemeClr val="bg1"/>
                  </a:solidFill>
                </a:rPr>
                <a:t>Al-Baha</a:t>
              </a:r>
              <a:r>
                <a:rPr lang="en-US" sz="2800" dirty="0">
                  <a:solidFill>
                    <a:schemeClr val="bg1"/>
                  </a:solidFill>
                </a:rPr>
                <a:t> recorded the lowest.</a:t>
              </a:r>
              <a:endParaRPr lang="en-US" sz="2800" dirty="0">
                <a:solidFill>
                  <a:schemeClr val="bg1"/>
                </a:solidFill>
                <a:latin typeface="Lora" pitchFamily="2" charset="0"/>
              </a:endParaRPr>
            </a:p>
            <a:p>
              <a:pPr marL="457200" indent="-457200">
                <a:buFont typeface="Arial" panose="020B0604020202020204" pitchFamily="34" charset="0"/>
                <a:buChar char="•"/>
              </a:pPr>
              <a:r>
                <a:rPr lang="en-US" sz="2800" dirty="0">
                  <a:solidFill>
                    <a:schemeClr val="bg1"/>
                  </a:solidFill>
                </a:rPr>
                <a:t>The ranking of regions from highest to lowest in terms of accidents is as follows:</a:t>
              </a:r>
            </a:p>
            <a:p>
              <a:r>
                <a:rPr lang="en-US" sz="2800" dirty="0">
                  <a:solidFill>
                    <a:schemeClr val="bg1"/>
                  </a:solidFill>
                </a:rPr>
                <a:t>{ Makkah &gt; Riyadh &gt; Eastern Region &gt; Asir &gt; </a:t>
              </a:r>
              <a:r>
                <a:rPr lang="en-US" sz="2800" dirty="0" err="1">
                  <a:solidFill>
                    <a:schemeClr val="bg1"/>
                  </a:solidFill>
                </a:rPr>
                <a:t>Jazan</a:t>
              </a:r>
              <a:r>
                <a:rPr lang="en-US" sz="2800" dirty="0">
                  <a:solidFill>
                    <a:schemeClr val="bg1"/>
                  </a:solidFill>
                </a:rPr>
                <a:t> &gt; Qassim &gt; Madinah &gt; </a:t>
              </a:r>
              <a:r>
                <a:rPr lang="en-US" sz="2800" dirty="0" err="1">
                  <a:solidFill>
                    <a:schemeClr val="bg1"/>
                  </a:solidFill>
                </a:rPr>
                <a:t>Tabouk</a:t>
              </a:r>
              <a:r>
                <a:rPr lang="en-US" sz="2800" dirty="0">
                  <a:solidFill>
                    <a:schemeClr val="bg1"/>
                  </a:solidFill>
                </a:rPr>
                <a:t> &gt; Northern Borders &gt; Al-</a:t>
              </a:r>
              <a:r>
                <a:rPr lang="en-US" sz="2800" dirty="0" err="1">
                  <a:solidFill>
                    <a:schemeClr val="bg1"/>
                  </a:solidFill>
                </a:rPr>
                <a:t>Jouf</a:t>
              </a:r>
              <a:r>
                <a:rPr lang="en-US" sz="2800" dirty="0">
                  <a:solidFill>
                    <a:schemeClr val="bg1"/>
                  </a:solidFill>
                </a:rPr>
                <a:t> &gt; Hail &gt; Najran &gt; </a:t>
              </a:r>
            </a:p>
            <a:p>
              <a:r>
                <a:rPr lang="en-US" sz="2800" dirty="0">
                  <a:solidFill>
                    <a:schemeClr val="bg1"/>
                  </a:solidFill>
                </a:rPr>
                <a:t>Al-Baha }</a:t>
              </a:r>
            </a:p>
            <a:p>
              <a:pPr marL="457200" indent="-457200">
                <a:lnSpc>
                  <a:spcPct val="150000"/>
                </a:lnSpc>
                <a:buFont typeface="Arial" panose="020B0604020202020204" pitchFamily="34" charset="0"/>
                <a:buChar char="•"/>
              </a:pPr>
              <a:endParaRPr lang="en-IN" sz="2800" dirty="0">
                <a:solidFill>
                  <a:schemeClr val="bg1"/>
                </a:solidFill>
                <a:latin typeface="Lora" pitchFamily="2" charset="0"/>
              </a:endParaRPr>
            </a:p>
          </p:txBody>
        </p:sp>
        <p:sp>
          <p:nvSpPr>
            <p:cNvPr id="5" name="TextBox 4">
              <a:extLst>
                <a:ext uri="{FF2B5EF4-FFF2-40B4-BE49-F238E27FC236}">
                  <a16:creationId xmlns:a16="http://schemas.microsoft.com/office/drawing/2014/main" id="{375A584C-CD7D-4B3F-7E93-50A958BD0543}"/>
                </a:ext>
              </a:extLst>
            </p:cNvPr>
            <p:cNvSpPr txBox="1"/>
            <p:nvPr/>
          </p:nvSpPr>
          <p:spPr>
            <a:xfrm>
              <a:off x="5524004" y="2135569"/>
              <a:ext cx="5541818" cy="646331"/>
            </a:xfrm>
            <a:prstGeom prst="rect">
              <a:avLst/>
            </a:prstGeom>
            <a:noFill/>
          </p:spPr>
          <p:txBody>
            <a:bodyPr wrap="square">
              <a:spAutoFit/>
            </a:bodyPr>
            <a:lstStyle/>
            <a:p>
              <a:r>
                <a:rPr lang="en-US" sz="3600" b="1" i="0" dirty="0">
                  <a:solidFill>
                    <a:schemeClr val="accent3">
                      <a:lumMod val="75000"/>
                    </a:schemeClr>
                  </a:solidFill>
                  <a:effectLst/>
                  <a:latin typeface="Lora" pitchFamily="2" charset="0"/>
                </a:rPr>
                <a:t>Understand:</a:t>
              </a:r>
              <a:endParaRPr lang="en-IN" sz="3600" b="1" dirty="0">
                <a:solidFill>
                  <a:schemeClr val="accent3">
                    <a:lumMod val="75000"/>
                  </a:schemeClr>
                </a:solidFill>
              </a:endParaRPr>
            </a:p>
          </p:txBody>
        </p:sp>
      </p:grpSp>
    </p:spTree>
    <p:extLst>
      <p:ext uri="{BB962C8B-B14F-4D97-AF65-F5344CB8AC3E}">
        <p14:creationId xmlns:p14="http://schemas.microsoft.com/office/powerpoint/2010/main" val="1782152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D6BB3F-1F51-2CCC-9FD5-F54FE0FC3484}"/>
              </a:ext>
            </a:extLst>
          </p:cNvPr>
          <p:cNvSpPr/>
          <p:nvPr/>
        </p:nvSpPr>
        <p:spPr>
          <a:xfrm>
            <a:off x="0" y="0"/>
            <a:ext cx="2656114" cy="6858000"/>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8C971FA-1DB5-430E-3FE4-9259073251FA}"/>
              </a:ext>
            </a:extLst>
          </p:cNvPr>
          <p:cNvSpPr txBox="1"/>
          <p:nvPr/>
        </p:nvSpPr>
        <p:spPr>
          <a:xfrm>
            <a:off x="0" y="1255905"/>
            <a:ext cx="2656114" cy="3416320"/>
          </a:xfrm>
          <a:prstGeom prst="rect">
            <a:avLst/>
          </a:prstGeom>
          <a:noFill/>
          <a:ln>
            <a:noFill/>
          </a:ln>
        </p:spPr>
        <p:txBody>
          <a:bodyPr wrap="square">
            <a:spAutoFit/>
          </a:bodyPr>
          <a:lstStyle/>
          <a:p>
            <a:pPr algn="ctr"/>
            <a:r>
              <a:rPr lang="en-US" sz="3600" b="1" dirty="0">
                <a:solidFill>
                  <a:schemeClr val="bg1"/>
                </a:solidFill>
                <a:latin typeface="Agency FB" panose="020B0503020202020204" pitchFamily="34" charset="0"/>
                <a:cs typeface="+mj-cs"/>
              </a:rPr>
              <a:t>Case 2: </a:t>
            </a:r>
            <a:r>
              <a:rPr lang="ar-SA" sz="3600" b="1" dirty="0" err="1">
                <a:solidFill>
                  <a:schemeClr val="bg1"/>
                </a:solidFill>
                <a:latin typeface="Agency FB" panose="020B0503020202020204" pitchFamily="34" charset="0"/>
                <a:cs typeface="+mj-cs"/>
              </a:rPr>
              <a:t>Comparison</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of</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Accidents</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Deaths</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and</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Injuries</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by</a:t>
            </a:r>
            <a:r>
              <a:rPr lang="ar-SA" sz="3600" b="1" dirty="0">
                <a:solidFill>
                  <a:schemeClr val="bg1"/>
                </a:solidFill>
                <a:latin typeface="Agency FB" panose="020B0503020202020204" pitchFamily="34" charset="0"/>
                <a:cs typeface="+mj-cs"/>
              </a:rPr>
              <a:t> </a:t>
            </a:r>
            <a:r>
              <a:rPr lang="ar-SA" sz="3600" b="1" dirty="0" err="1">
                <a:solidFill>
                  <a:schemeClr val="bg1"/>
                </a:solidFill>
                <a:latin typeface="Agency FB" panose="020B0503020202020204" pitchFamily="34" charset="0"/>
                <a:cs typeface="+mj-cs"/>
              </a:rPr>
              <a:t>Year</a:t>
            </a:r>
            <a:endParaRPr lang="ar-SA" sz="3600" b="1" dirty="0">
              <a:solidFill>
                <a:schemeClr val="bg1"/>
              </a:solidFill>
              <a:latin typeface="Agency FB" panose="020B0503020202020204" pitchFamily="34" charset="0"/>
              <a:cs typeface="+mj-cs"/>
            </a:endParaRPr>
          </a:p>
        </p:txBody>
      </p:sp>
      <p:sp>
        <p:nvSpPr>
          <p:cNvPr id="6" name="Circle: Hollow 5">
            <a:extLst>
              <a:ext uri="{FF2B5EF4-FFF2-40B4-BE49-F238E27FC236}">
                <a16:creationId xmlns:a16="http://schemas.microsoft.com/office/drawing/2014/main" id="{30546D4E-B042-0C72-71CE-973CE91AE7BC}"/>
              </a:ext>
            </a:extLst>
          </p:cNvPr>
          <p:cNvSpPr/>
          <p:nvPr/>
        </p:nvSpPr>
        <p:spPr>
          <a:xfrm>
            <a:off x="11320154" y="-745071"/>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4" name="Picture 3">
            <a:extLst>
              <a:ext uri="{FF2B5EF4-FFF2-40B4-BE49-F238E27FC236}">
                <a16:creationId xmlns:a16="http://schemas.microsoft.com/office/drawing/2014/main" id="{7C1C6F95-F22D-C1FD-CF6F-E193BC17A724}"/>
              </a:ext>
            </a:extLst>
          </p:cNvPr>
          <p:cNvPicPr>
            <a:picLocks noChangeAspect="1"/>
          </p:cNvPicPr>
          <p:nvPr/>
        </p:nvPicPr>
        <p:blipFill>
          <a:blip r:embed="rId2"/>
          <a:stretch>
            <a:fillRect/>
          </a:stretch>
        </p:blipFill>
        <p:spPr>
          <a:xfrm>
            <a:off x="2654808" y="1764842"/>
            <a:ext cx="9537192" cy="3739014"/>
          </a:xfrm>
          <a:prstGeom prst="rect">
            <a:avLst/>
          </a:prstGeom>
        </p:spPr>
      </p:pic>
    </p:spTree>
    <p:extLst>
      <p:ext uri="{BB962C8B-B14F-4D97-AF65-F5344CB8AC3E}">
        <p14:creationId xmlns:p14="http://schemas.microsoft.com/office/powerpoint/2010/main" val="303490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8F28CF-2E25-17DC-8ED3-C95A138AE01C}"/>
              </a:ext>
            </a:extLst>
          </p:cNvPr>
          <p:cNvSpPr/>
          <p:nvPr/>
        </p:nvSpPr>
        <p:spPr>
          <a:xfrm>
            <a:off x="457200" y="851346"/>
            <a:ext cx="11219935" cy="5438243"/>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5234A130-2AF2-2BD8-91AC-29536936736D}"/>
              </a:ext>
            </a:extLst>
          </p:cNvPr>
          <p:cNvSpPr txBox="1"/>
          <p:nvPr/>
        </p:nvSpPr>
        <p:spPr>
          <a:xfrm>
            <a:off x="106335" y="205015"/>
            <a:ext cx="2419695" cy="646331"/>
          </a:xfrm>
          <a:prstGeom prst="rect">
            <a:avLst/>
          </a:prstGeom>
          <a:noFill/>
        </p:spPr>
        <p:txBody>
          <a:bodyPr wrap="square">
            <a:spAutoFit/>
          </a:bodyPr>
          <a:lstStyle/>
          <a:p>
            <a:r>
              <a:rPr lang="en-US" sz="3600" b="1" dirty="0">
                <a:solidFill>
                  <a:schemeClr val="accent3">
                    <a:lumMod val="75000"/>
                  </a:schemeClr>
                </a:solidFill>
                <a:latin typeface="Lora" pitchFamily="2" charset="0"/>
              </a:rPr>
              <a:t>Output:</a:t>
            </a:r>
            <a:endParaRPr lang="en-IN" sz="3600" b="1" dirty="0">
              <a:solidFill>
                <a:schemeClr val="accent3">
                  <a:lumMod val="75000"/>
                </a:schemeClr>
              </a:solidFill>
            </a:endParaRPr>
          </a:p>
        </p:txBody>
      </p:sp>
      <p:sp>
        <p:nvSpPr>
          <p:cNvPr id="3" name="Circle: Hollow 2">
            <a:extLst>
              <a:ext uri="{FF2B5EF4-FFF2-40B4-BE49-F238E27FC236}">
                <a16:creationId xmlns:a16="http://schemas.microsoft.com/office/drawing/2014/main" id="{46ED516B-EF6A-1088-D0DC-E1F390127BD2}"/>
              </a:ext>
            </a:extLst>
          </p:cNvPr>
          <p:cNvSpPr/>
          <p:nvPr/>
        </p:nvSpPr>
        <p:spPr>
          <a:xfrm>
            <a:off x="5224154" y="610118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9" name="Picture 8">
            <a:extLst>
              <a:ext uri="{FF2B5EF4-FFF2-40B4-BE49-F238E27FC236}">
                <a16:creationId xmlns:a16="http://schemas.microsoft.com/office/drawing/2014/main" id="{9D3C1722-533F-62D2-6A35-4AE2CBC8C0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455" y="1322452"/>
            <a:ext cx="10497089" cy="4496031"/>
          </a:xfrm>
          <a:prstGeom prst="rect">
            <a:avLst/>
          </a:prstGeom>
        </p:spPr>
      </p:pic>
    </p:spTree>
    <p:extLst>
      <p:ext uri="{BB962C8B-B14F-4D97-AF65-F5344CB8AC3E}">
        <p14:creationId xmlns:p14="http://schemas.microsoft.com/office/powerpoint/2010/main" val="3451447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8638CF-E500-571A-845F-A0AE25E6A74C}"/>
              </a:ext>
            </a:extLst>
          </p:cNvPr>
          <p:cNvSpPr/>
          <p:nvPr/>
        </p:nvSpPr>
        <p:spPr>
          <a:xfrm>
            <a:off x="855760" y="2159000"/>
            <a:ext cx="10480479" cy="2540000"/>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Font typeface="Arial" panose="020B0604020202020204" pitchFamily="34" charset="0"/>
              <a:buChar char="•"/>
            </a:pPr>
            <a:r>
              <a:rPr lang="en-US" sz="2800" dirty="0"/>
              <a:t>The chart shows that </a:t>
            </a:r>
            <a:r>
              <a:rPr lang="en-US" sz="2800" b="1" dirty="0"/>
              <a:t>most accidents had no injuries or deaths</a:t>
            </a:r>
            <a:r>
              <a:rPr lang="en-US" sz="2800" dirty="0"/>
              <a:t> in all the years.</a:t>
            </a:r>
            <a:br>
              <a:rPr lang="en-US" sz="2800" dirty="0"/>
            </a:br>
            <a:endParaRPr lang="en-US" sz="2800" dirty="0"/>
          </a:p>
          <a:p>
            <a:pPr marL="457200" indent="-457200" algn="ctr">
              <a:buFont typeface="Arial" panose="020B0604020202020204" pitchFamily="34" charset="0"/>
              <a:buChar char="•"/>
            </a:pPr>
            <a:r>
              <a:rPr lang="en-US" sz="2800" dirty="0"/>
              <a:t>It also shows that </a:t>
            </a:r>
            <a:r>
              <a:rPr lang="en-US" sz="2800" b="1" dirty="0"/>
              <a:t>2016 had the highest number of accidents</a:t>
            </a:r>
            <a:r>
              <a:rPr lang="en-US" sz="2800" dirty="0"/>
              <a:t> compared to the other years.</a:t>
            </a:r>
            <a:endParaRPr lang="en-IN" sz="2800" dirty="0"/>
          </a:p>
        </p:txBody>
      </p:sp>
      <p:sp>
        <p:nvSpPr>
          <p:cNvPr id="5" name="TextBox 4">
            <a:extLst>
              <a:ext uri="{FF2B5EF4-FFF2-40B4-BE49-F238E27FC236}">
                <a16:creationId xmlns:a16="http://schemas.microsoft.com/office/drawing/2014/main" id="{B3B68CB9-F4A4-AF13-17FA-01C0CA324437}"/>
              </a:ext>
            </a:extLst>
          </p:cNvPr>
          <p:cNvSpPr txBox="1"/>
          <p:nvPr/>
        </p:nvSpPr>
        <p:spPr>
          <a:xfrm>
            <a:off x="357309" y="1378045"/>
            <a:ext cx="3803211" cy="646331"/>
          </a:xfrm>
          <a:prstGeom prst="rect">
            <a:avLst/>
          </a:prstGeom>
          <a:noFill/>
        </p:spPr>
        <p:txBody>
          <a:bodyPr wrap="square">
            <a:spAutoFit/>
          </a:bodyPr>
          <a:lstStyle/>
          <a:p>
            <a:pPr algn="ctr"/>
            <a:r>
              <a:rPr lang="en-US" sz="3600" b="1" i="0" dirty="0">
                <a:solidFill>
                  <a:schemeClr val="accent3">
                    <a:lumMod val="75000"/>
                  </a:schemeClr>
                </a:solidFill>
                <a:effectLst/>
                <a:latin typeface="Lora" pitchFamily="2" charset="0"/>
              </a:rPr>
              <a:t>Understand </a:t>
            </a:r>
            <a:endParaRPr lang="en-IN" sz="3600" b="1" dirty="0">
              <a:solidFill>
                <a:schemeClr val="accent3">
                  <a:lumMod val="75000"/>
                </a:schemeClr>
              </a:solidFill>
            </a:endParaRPr>
          </a:p>
        </p:txBody>
      </p:sp>
      <p:sp>
        <p:nvSpPr>
          <p:cNvPr id="3" name="Circle: Hollow 2">
            <a:extLst>
              <a:ext uri="{FF2B5EF4-FFF2-40B4-BE49-F238E27FC236}">
                <a16:creationId xmlns:a16="http://schemas.microsoft.com/office/drawing/2014/main" id="{612ACF79-E5FE-9DEE-F4F4-B23E91FDFCF1}"/>
              </a:ext>
            </a:extLst>
          </p:cNvPr>
          <p:cNvSpPr/>
          <p:nvPr/>
        </p:nvSpPr>
        <p:spPr>
          <a:xfrm>
            <a:off x="-514537" y="-254968"/>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37809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A76C8E-BA5A-8B5F-D6BC-80371882A388}"/>
              </a:ext>
            </a:extLst>
          </p:cNvPr>
          <p:cNvSpPr/>
          <p:nvPr/>
        </p:nvSpPr>
        <p:spPr>
          <a:xfrm>
            <a:off x="0" y="1"/>
            <a:ext cx="12192000" cy="1360169"/>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D305AB3-8DD0-E561-0CFD-44EEDA0A8847}"/>
              </a:ext>
            </a:extLst>
          </p:cNvPr>
          <p:cNvSpPr txBox="1"/>
          <p:nvPr/>
        </p:nvSpPr>
        <p:spPr>
          <a:xfrm>
            <a:off x="1427014" y="326142"/>
            <a:ext cx="9337971" cy="707886"/>
          </a:xfrm>
          <a:prstGeom prst="rect">
            <a:avLst/>
          </a:prstGeom>
          <a:noFill/>
        </p:spPr>
        <p:txBody>
          <a:bodyPr wrap="square">
            <a:spAutoFit/>
          </a:bodyPr>
          <a:lstStyle/>
          <a:p>
            <a:pPr algn="ctr"/>
            <a:r>
              <a:rPr lang="en-US" sz="4000" b="1" dirty="0">
                <a:solidFill>
                  <a:schemeClr val="bg1"/>
                </a:solidFill>
                <a:latin typeface="Agency FB" panose="020B0503020202020204" pitchFamily="34" charset="0"/>
                <a:cs typeface="+mj-cs"/>
              </a:rPr>
              <a:t>Case 3: Number of Deaths by Region (2016–2019)</a:t>
            </a:r>
            <a:endParaRPr lang="ar-SA" sz="4000" b="1" dirty="0">
              <a:solidFill>
                <a:schemeClr val="bg1"/>
              </a:solidFill>
              <a:latin typeface="Agency FB" panose="020B0503020202020204" pitchFamily="34" charset="0"/>
              <a:cs typeface="+mj-cs"/>
            </a:endParaRPr>
          </a:p>
        </p:txBody>
      </p:sp>
      <p:sp>
        <p:nvSpPr>
          <p:cNvPr id="3" name="TextBox 2">
            <a:extLst>
              <a:ext uri="{FF2B5EF4-FFF2-40B4-BE49-F238E27FC236}">
                <a16:creationId xmlns:a16="http://schemas.microsoft.com/office/drawing/2014/main" id="{26E00FF0-BA12-419B-5F93-C2BE7765167C}"/>
              </a:ext>
            </a:extLst>
          </p:cNvPr>
          <p:cNvSpPr txBox="1"/>
          <p:nvPr/>
        </p:nvSpPr>
        <p:spPr>
          <a:xfrm>
            <a:off x="137160" y="1302483"/>
            <a:ext cx="1417320" cy="584775"/>
          </a:xfrm>
          <a:prstGeom prst="rect">
            <a:avLst/>
          </a:prstGeom>
          <a:noFill/>
        </p:spPr>
        <p:txBody>
          <a:bodyPr wrap="square">
            <a:spAutoFit/>
          </a:bodyPr>
          <a:lstStyle/>
          <a:p>
            <a:pPr algn="ctr"/>
            <a:r>
              <a:rPr lang="en-US" sz="3200" b="1" dirty="0">
                <a:solidFill>
                  <a:schemeClr val="accent3">
                    <a:lumMod val="75000"/>
                  </a:schemeClr>
                </a:solidFill>
                <a:cs typeface="+mj-cs"/>
              </a:rPr>
              <a:t>Code:</a:t>
            </a:r>
            <a:endParaRPr lang="ar-SA" sz="3200" b="1" dirty="0">
              <a:solidFill>
                <a:schemeClr val="accent3">
                  <a:lumMod val="75000"/>
                </a:schemeClr>
              </a:solidFill>
              <a:cs typeface="+mj-cs"/>
            </a:endParaRPr>
          </a:p>
        </p:txBody>
      </p:sp>
      <p:pic>
        <p:nvPicPr>
          <p:cNvPr id="8" name="Picture 7" descr="A computer code with text&#10;&#10;AI-generated content may be incorrect.">
            <a:extLst>
              <a:ext uri="{FF2B5EF4-FFF2-40B4-BE49-F238E27FC236}">
                <a16:creationId xmlns:a16="http://schemas.microsoft.com/office/drawing/2014/main" id="{42740959-B98C-49F9-41D8-558A3A1345B9}"/>
              </a:ext>
            </a:extLst>
          </p:cNvPr>
          <p:cNvPicPr>
            <a:picLocks noChangeAspect="1"/>
          </p:cNvPicPr>
          <p:nvPr/>
        </p:nvPicPr>
        <p:blipFill>
          <a:blip r:embed="rId2">
            <a:extLst>
              <a:ext uri="{28A0092B-C50C-407E-A947-70E740481C1C}">
                <a14:useLocalDpi xmlns:a14="http://schemas.microsoft.com/office/drawing/2010/main" val="0"/>
              </a:ext>
            </a:extLst>
          </a:blip>
          <a:srcRect r="13390"/>
          <a:stretch/>
        </p:blipFill>
        <p:spPr>
          <a:xfrm>
            <a:off x="-24825" y="2448446"/>
            <a:ext cx="12216824" cy="2882506"/>
          </a:xfrm>
          <a:prstGeom prst="rect">
            <a:avLst/>
          </a:prstGeom>
        </p:spPr>
      </p:pic>
      <p:sp>
        <p:nvSpPr>
          <p:cNvPr id="2" name="Circle: Hollow 1">
            <a:extLst>
              <a:ext uri="{FF2B5EF4-FFF2-40B4-BE49-F238E27FC236}">
                <a16:creationId xmlns:a16="http://schemas.microsoft.com/office/drawing/2014/main" id="{B760DC9C-2B52-4169-23B2-FBDA632FC921}"/>
              </a:ext>
            </a:extLst>
          </p:cNvPr>
          <p:cNvSpPr/>
          <p:nvPr/>
        </p:nvSpPr>
        <p:spPr>
          <a:xfrm>
            <a:off x="11320154" y="5973798"/>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733529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63E5E3-3939-456B-3491-C011E80C6BC6}"/>
              </a:ext>
            </a:extLst>
          </p:cNvPr>
          <p:cNvSpPr/>
          <p:nvPr/>
        </p:nvSpPr>
        <p:spPr>
          <a:xfrm>
            <a:off x="521208" y="931694"/>
            <a:ext cx="10597897" cy="5926306"/>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1FEDC9E-B239-3880-431F-529B7D9B28B9}"/>
              </a:ext>
            </a:extLst>
          </p:cNvPr>
          <p:cNvSpPr txBox="1"/>
          <p:nvPr/>
        </p:nvSpPr>
        <p:spPr>
          <a:xfrm>
            <a:off x="703404" y="285363"/>
            <a:ext cx="2230352" cy="646331"/>
          </a:xfrm>
          <a:prstGeom prst="rect">
            <a:avLst/>
          </a:prstGeom>
          <a:noFill/>
        </p:spPr>
        <p:txBody>
          <a:bodyPr wrap="square">
            <a:spAutoFit/>
          </a:bodyPr>
          <a:lstStyle/>
          <a:p>
            <a:pPr algn="ctr"/>
            <a:r>
              <a:rPr lang="en-US" sz="3600" b="1" i="0" dirty="0">
                <a:solidFill>
                  <a:schemeClr val="accent3">
                    <a:lumMod val="75000"/>
                  </a:schemeClr>
                </a:solidFill>
                <a:effectLst/>
                <a:latin typeface="Lora" pitchFamily="2" charset="0"/>
              </a:rPr>
              <a:t>Output:</a:t>
            </a:r>
            <a:endParaRPr lang="en-IN" sz="3600" b="1" dirty="0">
              <a:solidFill>
                <a:schemeClr val="accent3">
                  <a:lumMod val="75000"/>
                </a:schemeClr>
              </a:solidFill>
            </a:endParaRPr>
          </a:p>
        </p:txBody>
      </p:sp>
      <p:sp>
        <p:nvSpPr>
          <p:cNvPr id="6" name="Circle: Hollow 5">
            <a:extLst>
              <a:ext uri="{FF2B5EF4-FFF2-40B4-BE49-F238E27FC236}">
                <a16:creationId xmlns:a16="http://schemas.microsoft.com/office/drawing/2014/main" id="{11D7DE70-298F-2C77-2C27-88D490B6F5CE}"/>
              </a:ext>
            </a:extLst>
          </p:cNvPr>
          <p:cNvSpPr/>
          <p:nvPr/>
        </p:nvSpPr>
        <p:spPr>
          <a:xfrm>
            <a:off x="-728708" y="-690999"/>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8" name="Picture 7" descr="A graph of different colored lines&#10;&#10;AI-generated content may be incorrect.">
            <a:extLst>
              <a:ext uri="{FF2B5EF4-FFF2-40B4-BE49-F238E27FC236}">
                <a16:creationId xmlns:a16="http://schemas.microsoft.com/office/drawing/2014/main" id="{6352360D-D92D-3481-49A6-666E77CDF3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84" y="1052691"/>
            <a:ext cx="9610344" cy="5684313"/>
          </a:xfrm>
          <a:prstGeom prst="rect">
            <a:avLst/>
          </a:prstGeom>
        </p:spPr>
      </p:pic>
    </p:spTree>
    <p:extLst>
      <p:ext uri="{BB962C8B-B14F-4D97-AF65-F5344CB8AC3E}">
        <p14:creationId xmlns:p14="http://schemas.microsoft.com/office/powerpoint/2010/main" val="2513535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791950-48BC-DF4E-7154-1B364A374D05}"/>
              </a:ext>
            </a:extLst>
          </p:cNvPr>
          <p:cNvSpPr/>
          <p:nvPr/>
        </p:nvSpPr>
        <p:spPr>
          <a:xfrm>
            <a:off x="1070810" y="1612232"/>
            <a:ext cx="9384631" cy="3826042"/>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endParaRPr lang="en-IN" sz="2400" dirty="0">
              <a:solidFill>
                <a:schemeClr val="accent3">
                  <a:lumMod val="75000"/>
                </a:schemeClr>
              </a:solidFill>
            </a:endParaRPr>
          </a:p>
        </p:txBody>
      </p:sp>
      <p:sp>
        <p:nvSpPr>
          <p:cNvPr id="5" name="TextBox 4">
            <a:extLst>
              <a:ext uri="{FF2B5EF4-FFF2-40B4-BE49-F238E27FC236}">
                <a16:creationId xmlns:a16="http://schemas.microsoft.com/office/drawing/2014/main" id="{F676AE11-1491-06FA-2CDC-E722D531CAB4}"/>
              </a:ext>
            </a:extLst>
          </p:cNvPr>
          <p:cNvSpPr txBox="1"/>
          <p:nvPr/>
        </p:nvSpPr>
        <p:spPr>
          <a:xfrm>
            <a:off x="0" y="773395"/>
            <a:ext cx="4580015" cy="646331"/>
          </a:xfrm>
          <a:prstGeom prst="rect">
            <a:avLst/>
          </a:prstGeom>
          <a:noFill/>
        </p:spPr>
        <p:txBody>
          <a:bodyPr wrap="square">
            <a:spAutoFit/>
          </a:bodyPr>
          <a:lstStyle/>
          <a:p>
            <a:pPr algn="ctr"/>
            <a:r>
              <a:rPr lang="en-US" sz="3600" b="1" i="0" dirty="0">
                <a:solidFill>
                  <a:schemeClr val="accent3">
                    <a:lumMod val="75000"/>
                  </a:schemeClr>
                </a:solidFill>
                <a:effectLst/>
                <a:latin typeface="Lora" pitchFamily="2" charset="0"/>
              </a:rPr>
              <a:t>Understand </a:t>
            </a:r>
            <a:endParaRPr lang="en-IN" sz="3600" b="1" dirty="0">
              <a:solidFill>
                <a:schemeClr val="accent3">
                  <a:lumMod val="75000"/>
                </a:schemeClr>
              </a:solidFill>
            </a:endParaRPr>
          </a:p>
        </p:txBody>
      </p:sp>
      <p:sp>
        <p:nvSpPr>
          <p:cNvPr id="3" name="Circle: Hollow 2">
            <a:extLst>
              <a:ext uri="{FF2B5EF4-FFF2-40B4-BE49-F238E27FC236}">
                <a16:creationId xmlns:a16="http://schemas.microsoft.com/office/drawing/2014/main" id="{225B5DCC-B031-3051-2DDC-019AFEEC1FD2}"/>
              </a:ext>
            </a:extLst>
          </p:cNvPr>
          <p:cNvSpPr/>
          <p:nvPr/>
        </p:nvSpPr>
        <p:spPr>
          <a:xfrm>
            <a:off x="11162067" y="-743767"/>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 name="TextBox 3">
            <a:extLst>
              <a:ext uri="{FF2B5EF4-FFF2-40B4-BE49-F238E27FC236}">
                <a16:creationId xmlns:a16="http://schemas.microsoft.com/office/drawing/2014/main" id="{25BA6C89-778C-77C6-948C-1082938A55E8}"/>
              </a:ext>
            </a:extLst>
          </p:cNvPr>
          <p:cNvSpPr txBox="1"/>
          <p:nvPr/>
        </p:nvSpPr>
        <p:spPr>
          <a:xfrm>
            <a:off x="1259087" y="2047926"/>
            <a:ext cx="9008076" cy="2954655"/>
          </a:xfrm>
          <a:prstGeom prst="rect">
            <a:avLst/>
          </a:prstGeom>
          <a:noFill/>
        </p:spPr>
        <p:txBody>
          <a:bodyPr wrap="square" rtlCol="1">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The regression line in the chart shows that the number of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deaths</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is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decreasing in all regions</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b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2016</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had the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highest number of accidents</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while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2019</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had the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lowest</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across all regions.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This may also mean that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people in Saudi Arabia are driving better</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in the last few years.</a:t>
            </a:r>
            <a:b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This could be one reason why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accidents are going down</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t>
            </a:r>
            <a:endParaRPr kumimoji="0" lang="en-IN" sz="2400" b="0" i="0" u="none" strike="noStrike" kern="1200" cap="none" spc="0" normalizeH="0" baseline="0" noProof="0" dirty="0">
              <a:ln>
                <a:noFill/>
              </a:ln>
              <a:solidFill>
                <a:srgbClr val="24A2D5">
                  <a:lumMod val="75000"/>
                </a:srgbClr>
              </a:solidFill>
              <a:effectLst/>
              <a:uLnTx/>
              <a:uFillTx/>
              <a:latin typeface="Calibri" panose="020F0502020204030204"/>
              <a:ea typeface="+mn-ea"/>
              <a:cs typeface="+mn-cs"/>
            </a:endParaRPr>
          </a:p>
          <a:p>
            <a:endParaRPr lang="ar-SA" dirty="0"/>
          </a:p>
        </p:txBody>
      </p:sp>
      <p:sp>
        <p:nvSpPr>
          <p:cNvPr id="6" name="Circle: Hollow 5">
            <a:extLst>
              <a:ext uri="{FF2B5EF4-FFF2-40B4-BE49-F238E27FC236}">
                <a16:creationId xmlns:a16="http://schemas.microsoft.com/office/drawing/2014/main" id="{DF9A26C0-5160-E927-57B4-2C653EA7B536}"/>
              </a:ext>
            </a:extLst>
          </p:cNvPr>
          <p:cNvSpPr/>
          <p:nvPr/>
        </p:nvSpPr>
        <p:spPr>
          <a:xfrm>
            <a:off x="4380961" y="-1776411"/>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Circle: Hollow 6">
            <a:extLst>
              <a:ext uri="{FF2B5EF4-FFF2-40B4-BE49-F238E27FC236}">
                <a16:creationId xmlns:a16="http://schemas.microsoft.com/office/drawing/2014/main" id="{7E03F1FF-C241-C19B-EABD-494C3E57C0A5}"/>
              </a:ext>
            </a:extLst>
          </p:cNvPr>
          <p:cNvSpPr/>
          <p:nvPr/>
        </p:nvSpPr>
        <p:spPr>
          <a:xfrm>
            <a:off x="4380961" y="-174369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Circle: Hollow 7">
            <a:extLst>
              <a:ext uri="{FF2B5EF4-FFF2-40B4-BE49-F238E27FC236}">
                <a16:creationId xmlns:a16="http://schemas.microsoft.com/office/drawing/2014/main" id="{8B19D4F5-14EA-FCD3-6345-BB3B517523DB}"/>
              </a:ext>
            </a:extLst>
          </p:cNvPr>
          <p:cNvSpPr/>
          <p:nvPr/>
        </p:nvSpPr>
        <p:spPr>
          <a:xfrm>
            <a:off x="4380961" y="-174369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Circle: Hollow 8">
            <a:extLst>
              <a:ext uri="{FF2B5EF4-FFF2-40B4-BE49-F238E27FC236}">
                <a16:creationId xmlns:a16="http://schemas.microsoft.com/office/drawing/2014/main" id="{E8A49CF9-6DF5-023E-362F-D2B1F68B54F0}"/>
              </a:ext>
            </a:extLst>
          </p:cNvPr>
          <p:cNvSpPr/>
          <p:nvPr/>
        </p:nvSpPr>
        <p:spPr>
          <a:xfrm>
            <a:off x="12192000" y="2325802"/>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Circle: Hollow 9">
            <a:extLst>
              <a:ext uri="{FF2B5EF4-FFF2-40B4-BE49-F238E27FC236}">
                <a16:creationId xmlns:a16="http://schemas.microsoft.com/office/drawing/2014/main" id="{357D0014-92B6-88D5-5D40-2FC9983188E0}"/>
              </a:ext>
            </a:extLst>
          </p:cNvPr>
          <p:cNvSpPr/>
          <p:nvPr/>
        </p:nvSpPr>
        <p:spPr>
          <a:xfrm>
            <a:off x="-1765651"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Circle: Hollow 10">
            <a:extLst>
              <a:ext uri="{FF2B5EF4-FFF2-40B4-BE49-F238E27FC236}">
                <a16:creationId xmlns:a16="http://schemas.microsoft.com/office/drawing/2014/main" id="{CBB8E174-B146-A29D-FBC8-76D48688F1CC}"/>
              </a:ext>
            </a:extLst>
          </p:cNvPr>
          <p:cNvSpPr/>
          <p:nvPr/>
        </p:nvSpPr>
        <p:spPr>
          <a:xfrm>
            <a:off x="12256538" y="2325802"/>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Circle: Hollow 11">
            <a:extLst>
              <a:ext uri="{FF2B5EF4-FFF2-40B4-BE49-F238E27FC236}">
                <a16:creationId xmlns:a16="http://schemas.microsoft.com/office/drawing/2014/main" id="{54669F4A-5EB0-D39F-E4E0-93A2D97D415E}"/>
              </a:ext>
            </a:extLst>
          </p:cNvPr>
          <p:cNvSpPr/>
          <p:nvPr/>
        </p:nvSpPr>
        <p:spPr>
          <a:xfrm>
            <a:off x="7765348" y="685800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Circle: Hollow 12">
            <a:extLst>
              <a:ext uri="{FF2B5EF4-FFF2-40B4-BE49-F238E27FC236}">
                <a16:creationId xmlns:a16="http://schemas.microsoft.com/office/drawing/2014/main" id="{448E135E-918A-69FF-92C5-763A3D9972F6}"/>
              </a:ext>
            </a:extLst>
          </p:cNvPr>
          <p:cNvSpPr/>
          <p:nvPr/>
        </p:nvSpPr>
        <p:spPr>
          <a:xfrm>
            <a:off x="-1743692"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Circle: Hollow 13">
            <a:extLst>
              <a:ext uri="{FF2B5EF4-FFF2-40B4-BE49-F238E27FC236}">
                <a16:creationId xmlns:a16="http://schemas.microsoft.com/office/drawing/2014/main" id="{B2ECAD47-E157-CAAD-130B-98A52610381F}"/>
              </a:ext>
            </a:extLst>
          </p:cNvPr>
          <p:cNvSpPr/>
          <p:nvPr/>
        </p:nvSpPr>
        <p:spPr>
          <a:xfrm>
            <a:off x="-1769217"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Circle: Hollow 14">
            <a:extLst>
              <a:ext uri="{FF2B5EF4-FFF2-40B4-BE49-F238E27FC236}">
                <a16:creationId xmlns:a16="http://schemas.microsoft.com/office/drawing/2014/main" id="{24D2D779-4E3D-391A-6207-DB628CA11F59}"/>
              </a:ext>
            </a:extLst>
          </p:cNvPr>
          <p:cNvSpPr/>
          <p:nvPr/>
        </p:nvSpPr>
        <p:spPr>
          <a:xfrm>
            <a:off x="7765348" y="685800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7123431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8BFAD-B53C-6B39-61D3-D54813001FF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74BAE8D-3E3D-AF31-E66D-52690A6D09AE}"/>
              </a:ext>
            </a:extLst>
          </p:cNvPr>
          <p:cNvSpPr/>
          <p:nvPr/>
        </p:nvSpPr>
        <p:spPr>
          <a:xfrm>
            <a:off x="0" y="1"/>
            <a:ext cx="12192000" cy="1034027"/>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1C4EFBE-3524-5993-D71A-234CA86FABC4}"/>
              </a:ext>
            </a:extLst>
          </p:cNvPr>
          <p:cNvSpPr txBox="1"/>
          <p:nvPr/>
        </p:nvSpPr>
        <p:spPr>
          <a:xfrm>
            <a:off x="68579" y="118459"/>
            <a:ext cx="12054839" cy="707886"/>
          </a:xfrm>
          <a:prstGeom prst="rect">
            <a:avLst/>
          </a:prstGeom>
          <a:noFill/>
        </p:spPr>
        <p:txBody>
          <a:bodyPr wrap="square">
            <a:spAutoFit/>
          </a:bodyPr>
          <a:lstStyle/>
          <a:p>
            <a:pPr algn="ctr"/>
            <a:r>
              <a:rPr lang="en-US" sz="4000" b="1" dirty="0">
                <a:solidFill>
                  <a:schemeClr val="bg1"/>
                </a:solidFill>
                <a:latin typeface="Agency FB" panose="020B0503020202020204" pitchFamily="34" charset="0"/>
                <a:cs typeface="+mj-cs"/>
              </a:rPr>
              <a:t>Case 4: The relationship between injury and death across all regions</a:t>
            </a:r>
            <a:endParaRPr lang="ar-SA" sz="4000" b="1" dirty="0">
              <a:solidFill>
                <a:schemeClr val="bg1"/>
              </a:solidFill>
              <a:latin typeface="Agency FB" panose="020B0503020202020204" pitchFamily="34" charset="0"/>
              <a:cs typeface="+mj-cs"/>
            </a:endParaRPr>
          </a:p>
        </p:txBody>
      </p:sp>
      <p:sp>
        <p:nvSpPr>
          <p:cNvPr id="3" name="TextBox 2">
            <a:extLst>
              <a:ext uri="{FF2B5EF4-FFF2-40B4-BE49-F238E27FC236}">
                <a16:creationId xmlns:a16="http://schemas.microsoft.com/office/drawing/2014/main" id="{F0AA6F6F-9E7E-8FEF-8646-F5B6FB01618C}"/>
              </a:ext>
            </a:extLst>
          </p:cNvPr>
          <p:cNvSpPr txBox="1"/>
          <p:nvPr/>
        </p:nvSpPr>
        <p:spPr>
          <a:xfrm>
            <a:off x="137160" y="1302483"/>
            <a:ext cx="1417320" cy="584775"/>
          </a:xfrm>
          <a:prstGeom prst="rect">
            <a:avLst/>
          </a:prstGeom>
          <a:noFill/>
        </p:spPr>
        <p:txBody>
          <a:bodyPr wrap="square">
            <a:spAutoFit/>
          </a:bodyPr>
          <a:lstStyle/>
          <a:p>
            <a:pPr algn="ctr"/>
            <a:r>
              <a:rPr lang="en-US" sz="3200" b="1" dirty="0">
                <a:solidFill>
                  <a:schemeClr val="accent3">
                    <a:lumMod val="75000"/>
                  </a:schemeClr>
                </a:solidFill>
                <a:cs typeface="+mj-cs"/>
              </a:rPr>
              <a:t>Code:</a:t>
            </a:r>
            <a:endParaRPr lang="ar-SA" sz="3200" b="1" dirty="0">
              <a:solidFill>
                <a:schemeClr val="accent3">
                  <a:lumMod val="75000"/>
                </a:schemeClr>
              </a:solidFill>
              <a:cs typeface="+mj-cs"/>
            </a:endParaRPr>
          </a:p>
        </p:txBody>
      </p:sp>
      <p:sp>
        <p:nvSpPr>
          <p:cNvPr id="2" name="Circle: Hollow 1">
            <a:extLst>
              <a:ext uri="{FF2B5EF4-FFF2-40B4-BE49-F238E27FC236}">
                <a16:creationId xmlns:a16="http://schemas.microsoft.com/office/drawing/2014/main" id="{2E6252F1-A471-C397-0626-68901F4974DF}"/>
              </a:ext>
            </a:extLst>
          </p:cNvPr>
          <p:cNvSpPr/>
          <p:nvPr/>
        </p:nvSpPr>
        <p:spPr>
          <a:xfrm>
            <a:off x="11320154" y="5973798"/>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7" name="Picture 6">
            <a:extLst>
              <a:ext uri="{FF2B5EF4-FFF2-40B4-BE49-F238E27FC236}">
                <a16:creationId xmlns:a16="http://schemas.microsoft.com/office/drawing/2014/main" id="{2A5F6297-0D9D-73BE-6B3A-DBD95E582585}"/>
              </a:ext>
            </a:extLst>
          </p:cNvPr>
          <p:cNvPicPr>
            <a:picLocks noChangeAspect="1"/>
          </p:cNvPicPr>
          <p:nvPr/>
        </p:nvPicPr>
        <p:blipFill>
          <a:blip r:embed="rId2"/>
          <a:stretch>
            <a:fillRect/>
          </a:stretch>
        </p:blipFill>
        <p:spPr>
          <a:xfrm>
            <a:off x="5340030" y="3054063"/>
            <a:ext cx="1511939" cy="749873"/>
          </a:xfrm>
          <a:prstGeom prst="rect">
            <a:avLst/>
          </a:prstGeom>
        </p:spPr>
      </p:pic>
      <p:pic>
        <p:nvPicPr>
          <p:cNvPr id="8" name="Picture 7">
            <a:extLst>
              <a:ext uri="{FF2B5EF4-FFF2-40B4-BE49-F238E27FC236}">
                <a16:creationId xmlns:a16="http://schemas.microsoft.com/office/drawing/2014/main" id="{B667412A-41FA-AD91-EBEA-1AA176416DD8}"/>
              </a:ext>
            </a:extLst>
          </p:cNvPr>
          <p:cNvPicPr>
            <a:picLocks noChangeAspect="1"/>
          </p:cNvPicPr>
          <p:nvPr/>
        </p:nvPicPr>
        <p:blipFill>
          <a:blip r:embed="rId3"/>
          <a:stretch>
            <a:fillRect/>
          </a:stretch>
        </p:blipFill>
        <p:spPr>
          <a:xfrm>
            <a:off x="1754688" y="1034028"/>
            <a:ext cx="8682623" cy="5836386"/>
          </a:xfrm>
          <a:prstGeom prst="rect">
            <a:avLst/>
          </a:prstGeom>
        </p:spPr>
      </p:pic>
    </p:spTree>
    <p:extLst>
      <p:ext uri="{BB962C8B-B14F-4D97-AF65-F5344CB8AC3E}">
        <p14:creationId xmlns:p14="http://schemas.microsoft.com/office/powerpoint/2010/main" val="4046863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92A97-8DB6-C979-E6DD-E09A92EA93B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DAD154-DC43-6F97-9C3B-E0548D2BFBC8}"/>
              </a:ext>
            </a:extLst>
          </p:cNvPr>
          <p:cNvSpPr txBox="1"/>
          <p:nvPr/>
        </p:nvSpPr>
        <p:spPr>
          <a:xfrm>
            <a:off x="703404" y="285363"/>
            <a:ext cx="2230352" cy="646331"/>
          </a:xfrm>
          <a:prstGeom prst="rect">
            <a:avLst/>
          </a:prstGeom>
          <a:noFill/>
        </p:spPr>
        <p:txBody>
          <a:bodyPr wrap="square">
            <a:spAutoFit/>
          </a:bodyPr>
          <a:lstStyle/>
          <a:p>
            <a:pPr algn="ctr"/>
            <a:r>
              <a:rPr lang="en-US" sz="3600" b="1" i="0" dirty="0">
                <a:solidFill>
                  <a:schemeClr val="accent3">
                    <a:lumMod val="75000"/>
                  </a:schemeClr>
                </a:solidFill>
                <a:effectLst/>
                <a:latin typeface="Lora" pitchFamily="2" charset="0"/>
              </a:rPr>
              <a:t>Output:</a:t>
            </a:r>
            <a:endParaRPr lang="en-IN" sz="3600" b="1" dirty="0">
              <a:solidFill>
                <a:schemeClr val="accent3">
                  <a:lumMod val="75000"/>
                </a:schemeClr>
              </a:solidFill>
            </a:endParaRPr>
          </a:p>
        </p:txBody>
      </p:sp>
      <p:sp>
        <p:nvSpPr>
          <p:cNvPr id="2" name="Rectangle 1">
            <a:extLst>
              <a:ext uri="{FF2B5EF4-FFF2-40B4-BE49-F238E27FC236}">
                <a16:creationId xmlns:a16="http://schemas.microsoft.com/office/drawing/2014/main" id="{13456F79-AEAF-A4EC-F8A9-210B1986316C}"/>
              </a:ext>
            </a:extLst>
          </p:cNvPr>
          <p:cNvSpPr/>
          <p:nvPr/>
        </p:nvSpPr>
        <p:spPr>
          <a:xfrm>
            <a:off x="44903" y="1212332"/>
            <a:ext cx="12102193" cy="5335813"/>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ircle: Hollow 5">
            <a:extLst>
              <a:ext uri="{FF2B5EF4-FFF2-40B4-BE49-F238E27FC236}">
                <a16:creationId xmlns:a16="http://schemas.microsoft.com/office/drawing/2014/main" id="{34EE2430-329E-6760-CFB8-4861BACEA753}"/>
              </a:ext>
            </a:extLst>
          </p:cNvPr>
          <p:cNvSpPr/>
          <p:nvPr/>
        </p:nvSpPr>
        <p:spPr>
          <a:xfrm>
            <a:off x="-728708" y="-690999"/>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4" name="Picture 3" descr="A white grid with colorful dots&#10;&#10;AI-generated content may be incorrect.">
            <a:extLst>
              <a:ext uri="{FF2B5EF4-FFF2-40B4-BE49-F238E27FC236}">
                <a16:creationId xmlns:a16="http://schemas.microsoft.com/office/drawing/2014/main" id="{A219B959-4378-B3AC-305F-8556AA3FC3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118" y="1507370"/>
            <a:ext cx="11019761" cy="4745736"/>
          </a:xfrm>
          <a:prstGeom prst="rect">
            <a:avLst/>
          </a:prstGeom>
        </p:spPr>
      </p:pic>
    </p:spTree>
    <p:extLst>
      <p:ext uri="{BB962C8B-B14F-4D97-AF65-F5344CB8AC3E}">
        <p14:creationId xmlns:p14="http://schemas.microsoft.com/office/powerpoint/2010/main" val="3572902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F2ED3-7D8B-25F9-C3B3-B30F419E46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76098B5-37E5-7336-8467-A18159675FF2}"/>
              </a:ext>
            </a:extLst>
          </p:cNvPr>
          <p:cNvSpPr/>
          <p:nvPr/>
        </p:nvSpPr>
        <p:spPr>
          <a:xfrm>
            <a:off x="1070810" y="1612232"/>
            <a:ext cx="9384631" cy="3826042"/>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endParaRPr lang="en-IN" sz="2400" dirty="0">
              <a:solidFill>
                <a:schemeClr val="accent3">
                  <a:lumMod val="75000"/>
                </a:schemeClr>
              </a:solidFill>
            </a:endParaRPr>
          </a:p>
        </p:txBody>
      </p:sp>
      <p:sp>
        <p:nvSpPr>
          <p:cNvPr id="5" name="TextBox 4">
            <a:extLst>
              <a:ext uri="{FF2B5EF4-FFF2-40B4-BE49-F238E27FC236}">
                <a16:creationId xmlns:a16="http://schemas.microsoft.com/office/drawing/2014/main" id="{EEED4793-0059-DAD2-861A-09BF9C8C4607}"/>
              </a:ext>
            </a:extLst>
          </p:cNvPr>
          <p:cNvSpPr txBox="1"/>
          <p:nvPr/>
        </p:nvSpPr>
        <p:spPr>
          <a:xfrm>
            <a:off x="0" y="773395"/>
            <a:ext cx="4580015" cy="646331"/>
          </a:xfrm>
          <a:prstGeom prst="rect">
            <a:avLst/>
          </a:prstGeom>
          <a:noFill/>
        </p:spPr>
        <p:txBody>
          <a:bodyPr wrap="square">
            <a:spAutoFit/>
          </a:bodyPr>
          <a:lstStyle/>
          <a:p>
            <a:pPr algn="ctr"/>
            <a:r>
              <a:rPr lang="en-US" sz="3600" b="1" i="0" dirty="0">
                <a:solidFill>
                  <a:schemeClr val="accent3">
                    <a:lumMod val="75000"/>
                  </a:schemeClr>
                </a:solidFill>
                <a:effectLst/>
                <a:latin typeface="Agency FB" panose="020B0503020202020204" pitchFamily="34" charset="0"/>
              </a:rPr>
              <a:t>Understand</a:t>
            </a:r>
            <a:r>
              <a:rPr lang="en-US" sz="3600" b="1" i="0" dirty="0">
                <a:solidFill>
                  <a:schemeClr val="accent3">
                    <a:lumMod val="75000"/>
                  </a:schemeClr>
                </a:solidFill>
                <a:effectLst/>
                <a:latin typeface="Lora" pitchFamily="2" charset="0"/>
              </a:rPr>
              <a:t> </a:t>
            </a:r>
            <a:endParaRPr lang="en-IN" sz="3600" b="1" dirty="0">
              <a:solidFill>
                <a:schemeClr val="accent3">
                  <a:lumMod val="75000"/>
                </a:schemeClr>
              </a:solidFill>
            </a:endParaRPr>
          </a:p>
        </p:txBody>
      </p:sp>
      <p:sp>
        <p:nvSpPr>
          <p:cNvPr id="16" name="TextBox 15">
            <a:extLst>
              <a:ext uri="{FF2B5EF4-FFF2-40B4-BE49-F238E27FC236}">
                <a16:creationId xmlns:a16="http://schemas.microsoft.com/office/drawing/2014/main" id="{37EB619B-336C-DF81-E214-E42DE675D4F0}"/>
              </a:ext>
            </a:extLst>
          </p:cNvPr>
          <p:cNvSpPr txBox="1"/>
          <p:nvPr/>
        </p:nvSpPr>
        <p:spPr>
          <a:xfrm>
            <a:off x="1323473" y="1951672"/>
            <a:ext cx="8807115" cy="2954655"/>
          </a:xfrm>
          <a:prstGeom prst="rect">
            <a:avLst/>
          </a:prstGeom>
          <a:noFill/>
        </p:spPr>
        <p:txBody>
          <a:bodyPr wrap="square" rtlCol="1">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You can see how the number of injuries correlates with deaths in each region/year — high injuries often, but not always, mean more deaths.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Clustering of points reveals which regions behave similarly in accident severity.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Outliers help identify regions where accident patterns are unusual or where data quality may need review.</a:t>
            </a:r>
          </a:p>
          <a:p>
            <a:endParaRPr lang="ar-SA" dirty="0"/>
          </a:p>
        </p:txBody>
      </p:sp>
      <p:sp>
        <p:nvSpPr>
          <p:cNvPr id="4" name="Circle: Hollow 3">
            <a:extLst>
              <a:ext uri="{FF2B5EF4-FFF2-40B4-BE49-F238E27FC236}">
                <a16:creationId xmlns:a16="http://schemas.microsoft.com/office/drawing/2014/main" id="{79655493-202B-2B99-38CD-C22775F583C1}"/>
              </a:ext>
            </a:extLst>
          </p:cNvPr>
          <p:cNvSpPr/>
          <p:nvPr/>
        </p:nvSpPr>
        <p:spPr>
          <a:xfrm>
            <a:off x="11320154" y="5893797"/>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148918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B3B85-15EB-E834-BFFD-5E81C8A31E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96D8292-698C-6B84-285E-B3D367A8C271}"/>
              </a:ext>
            </a:extLst>
          </p:cNvPr>
          <p:cNvSpPr/>
          <p:nvPr/>
        </p:nvSpPr>
        <p:spPr>
          <a:xfrm>
            <a:off x="1070810" y="1612231"/>
            <a:ext cx="9791556" cy="4086439"/>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endParaRPr lang="en-IN" sz="2400" dirty="0">
              <a:solidFill>
                <a:schemeClr val="accent3">
                  <a:lumMod val="75000"/>
                </a:schemeClr>
              </a:solidFill>
            </a:endParaRPr>
          </a:p>
        </p:txBody>
      </p:sp>
      <p:sp>
        <p:nvSpPr>
          <p:cNvPr id="5" name="TextBox 4">
            <a:extLst>
              <a:ext uri="{FF2B5EF4-FFF2-40B4-BE49-F238E27FC236}">
                <a16:creationId xmlns:a16="http://schemas.microsoft.com/office/drawing/2014/main" id="{AD66D50B-7E93-135A-D4D5-7D9EDD85F86E}"/>
              </a:ext>
            </a:extLst>
          </p:cNvPr>
          <p:cNvSpPr txBox="1"/>
          <p:nvPr/>
        </p:nvSpPr>
        <p:spPr>
          <a:xfrm>
            <a:off x="0" y="773395"/>
            <a:ext cx="4580015" cy="646331"/>
          </a:xfrm>
          <a:prstGeom prst="rect">
            <a:avLst/>
          </a:prstGeom>
          <a:noFill/>
        </p:spPr>
        <p:txBody>
          <a:bodyPr wrap="square">
            <a:spAutoFit/>
          </a:bodyPr>
          <a:lstStyle/>
          <a:p>
            <a:pPr algn="ctr"/>
            <a:r>
              <a:rPr lang="en-US" sz="3600" b="1" i="0" dirty="0">
                <a:solidFill>
                  <a:schemeClr val="accent3">
                    <a:lumMod val="75000"/>
                  </a:schemeClr>
                </a:solidFill>
                <a:effectLst/>
                <a:latin typeface="Agency FB" panose="020B0503020202020204" pitchFamily="34" charset="0"/>
              </a:rPr>
              <a:t>Conclusion </a:t>
            </a:r>
            <a:endParaRPr lang="en-IN" sz="3600" b="1" dirty="0">
              <a:solidFill>
                <a:schemeClr val="accent3">
                  <a:lumMod val="75000"/>
                </a:schemeClr>
              </a:solidFill>
              <a:latin typeface="Agency FB" panose="020B0503020202020204" pitchFamily="34" charset="0"/>
            </a:endParaRPr>
          </a:p>
        </p:txBody>
      </p:sp>
      <p:sp>
        <p:nvSpPr>
          <p:cNvPr id="3" name="Circle: Hollow 2">
            <a:extLst>
              <a:ext uri="{FF2B5EF4-FFF2-40B4-BE49-F238E27FC236}">
                <a16:creationId xmlns:a16="http://schemas.microsoft.com/office/drawing/2014/main" id="{70E6B67A-8CA3-A5FB-1B1E-89A240D43913}"/>
              </a:ext>
            </a:extLst>
          </p:cNvPr>
          <p:cNvSpPr/>
          <p:nvPr/>
        </p:nvSpPr>
        <p:spPr>
          <a:xfrm>
            <a:off x="11162067" y="-743767"/>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Circle: Hollow 5">
            <a:extLst>
              <a:ext uri="{FF2B5EF4-FFF2-40B4-BE49-F238E27FC236}">
                <a16:creationId xmlns:a16="http://schemas.microsoft.com/office/drawing/2014/main" id="{1647084D-E764-F7A0-F6B1-7E2F0863DC3A}"/>
              </a:ext>
            </a:extLst>
          </p:cNvPr>
          <p:cNvSpPr/>
          <p:nvPr/>
        </p:nvSpPr>
        <p:spPr>
          <a:xfrm>
            <a:off x="4380961" y="-1776411"/>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Circle: Hollow 6">
            <a:extLst>
              <a:ext uri="{FF2B5EF4-FFF2-40B4-BE49-F238E27FC236}">
                <a16:creationId xmlns:a16="http://schemas.microsoft.com/office/drawing/2014/main" id="{91500F2C-A5E0-FA75-E61B-C23C680EA6C7}"/>
              </a:ext>
            </a:extLst>
          </p:cNvPr>
          <p:cNvSpPr/>
          <p:nvPr/>
        </p:nvSpPr>
        <p:spPr>
          <a:xfrm>
            <a:off x="4380961" y="-174369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Circle: Hollow 7">
            <a:extLst>
              <a:ext uri="{FF2B5EF4-FFF2-40B4-BE49-F238E27FC236}">
                <a16:creationId xmlns:a16="http://schemas.microsoft.com/office/drawing/2014/main" id="{C2BBA9D1-913B-41A3-0F8C-9F030623C1EF}"/>
              </a:ext>
            </a:extLst>
          </p:cNvPr>
          <p:cNvSpPr/>
          <p:nvPr/>
        </p:nvSpPr>
        <p:spPr>
          <a:xfrm>
            <a:off x="4380961" y="-174369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Circle: Hollow 8">
            <a:extLst>
              <a:ext uri="{FF2B5EF4-FFF2-40B4-BE49-F238E27FC236}">
                <a16:creationId xmlns:a16="http://schemas.microsoft.com/office/drawing/2014/main" id="{E1426D69-FADC-A399-DBDF-C3BB58810AF6}"/>
              </a:ext>
            </a:extLst>
          </p:cNvPr>
          <p:cNvSpPr/>
          <p:nvPr/>
        </p:nvSpPr>
        <p:spPr>
          <a:xfrm>
            <a:off x="12192000" y="2325802"/>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Circle: Hollow 9">
            <a:extLst>
              <a:ext uri="{FF2B5EF4-FFF2-40B4-BE49-F238E27FC236}">
                <a16:creationId xmlns:a16="http://schemas.microsoft.com/office/drawing/2014/main" id="{E2787395-AF20-60E8-C4BF-188A5A5BAFEB}"/>
              </a:ext>
            </a:extLst>
          </p:cNvPr>
          <p:cNvSpPr/>
          <p:nvPr/>
        </p:nvSpPr>
        <p:spPr>
          <a:xfrm>
            <a:off x="-1765651"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Circle: Hollow 10">
            <a:extLst>
              <a:ext uri="{FF2B5EF4-FFF2-40B4-BE49-F238E27FC236}">
                <a16:creationId xmlns:a16="http://schemas.microsoft.com/office/drawing/2014/main" id="{A29D9FF0-AD78-42A4-D0DB-7B215D599CEB}"/>
              </a:ext>
            </a:extLst>
          </p:cNvPr>
          <p:cNvSpPr/>
          <p:nvPr/>
        </p:nvSpPr>
        <p:spPr>
          <a:xfrm>
            <a:off x="12256538" y="2325802"/>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Circle: Hollow 11">
            <a:extLst>
              <a:ext uri="{FF2B5EF4-FFF2-40B4-BE49-F238E27FC236}">
                <a16:creationId xmlns:a16="http://schemas.microsoft.com/office/drawing/2014/main" id="{0AA87862-CC29-B787-67DE-D8A32E2BD7CE}"/>
              </a:ext>
            </a:extLst>
          </p:cNvPr>
          <p:cNvSpPr/>
          <p:nvPr/>
        </p:nvSpPr>
        <p:spPr>
          <a:xfrm>
            <a:off x="7765348" y="685800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Circle: Hollow 12">
            <a:extLst>
              <a:ext uri="{FF2B5EF4-FFF2-40B4-BE49-F238E27FC236}">
                <a16:creationId xmlns:a16="http://schemas.microsoft.com/office/drawing/2014/main" id="{B003C1BE-BA3E-B8EC-1574-85B6455A7C1B}"/>
              </a:ext>
            </a:extLst>
          </p:cNvPr>
          <p:cNvSpPr/>
          <p:nvPr/>
        </p:nvSpPr>
        <p:spPr>
          <a:xfrm>
            <a:off x="-1743692"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Circle: Hollow 13">
            <a:extLst>
              <a:ext uri="{FF2B5EF4-FFF2-40B4-BE49-F238E27FC236}">
                <a16:creationId xmlns:a16="http://schemas.microsoft.com/office/drawing/2014/main" id="{99830CC1-542F-67F9-5FFC-3AE1707AE34B}"/>
              </a:ext>
            </a:extLst>
          </p:cNvPr>
          <p:cNvSpPr/>
          <p:nvPr/>
        </p:nvSpPr>
        <p:spPr>
          <a:xfrm>
            <a:off x="-1769217" y="2557155"/>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Circle: Hollow 14">
            <a:extLst>
              <a:ext uri="{FF2B5EF4-FFF2-40B4-BE49-F238E27FC236}">
                <a16:creationId xmlns:a16="http://schemas.microsoft.com/office/drawing/2014/main" id="{9D723EAA-CE96-D879-1110-4883F28B9555}"/>
              </a:ext>
            </a:extLst>
          </p:cNvPr>
          <p:cNvSpPr/>
          <p:nvPr/>
        </p:nvSpPr>
        <p:spPr>
          <a:xfrm>
            <a:off x="7765348" y="6858000"/>
            <a:ext cx="1743692" cy="1743690"/>
          </a:xfrm>
          <a:prstGeom prst="donu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 name="TextBox 3">
            <a:extLst>
              <a:ext uri="{FF2B5EF4-FFF2-40B4-BE49-F238E27FC236}">
                <a16:creationId xmlns:a16="http://schemas.microsoft.com/office/drawing/2014/main" id="{4EEB1F8C-9EEA-921B-9BEC-50EF6505D02C}"/>
              </a:ext>
            </a:extLst>
          </p:cNvPr>
          <p:cNvSpPr txBox="1"/>
          <p:nvPr/>
        </p:nvSpPr>
        <p:spPr>
          <a:xfrm>
            <a:off x="1274272" y="1869621"/>
            <a:ext cx="9384631" cy="3693319"/>
          </a:xfrm>
          <a:prstGeom prst="rect">
            <a:avLst/>
          </a:prstGeom>
          <a:noFill/>
        </p:spPr>
        <p:txBody>
          <a:bodyPr wrap="square" rtlCol="1">
            <a:spAutoFit/>
          </a:bodyPr>
          <a:lstStyle/>
          <a:p>
            <a:r>
              <a:rPr lang="en-US" sz="2400" dirty="0">
                <a:solidFill>
                  <a:schemeClr val="bg1"/>
                </a:solidFill>
              </a:rPr>
              <a:t>In summary, traffic accidents in Saudi Arabia have shown a notable decline in both frequency and severity from 2016 to 2019. The data indicates that while 2016 recorded the highest number of accidents and fatalities, there has been a consistent improvement each year, with 2019 reflecting the lowest numbers across all regions. This positive trend suggests increased public awareness, better driving behavior, and possibly more effective enforcement of traffic laws. Continued efforts in road safety education, infrastructure improvements, and law enforcement are essential to maintain and accelerate this progress.</a:t>
            </a:r>
            <a:endParaRPr lang="ar-SA" sz="2400" dirty="0">
              <a:solidFill>
                <a:schemeClr val="bg1"/>
              </a:solidFill>
            </a:endParaRPr>
          </a:p>
          <a:p>
            <a:endParaRPr lang="ar-SA" dirty="0"/>
          </a:p>
        </p:txBody>
      </p:sp>
    </p:spTree>
    <p:extLst>
      <p:ext uri="{BB962C8B-B14F-4D97-AF65-F5344CB8AC3E}">
        <p14:creationId xmlns:p14="http://schemas.microsoft.com/office/powerpoint/2010/main" val="3192106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ircle: Hollow 1">
            <a:extLst>
              <a:ext uri="{FF2B5EF4-FFF2-40B4-BE49-F238E27FC236}">
                <a16:creationId xmlns:a16="http://schemas.microsoft.com/office/drawing/2014/main" id="{A088B4EA-C863-7B77-3FAE-28D5ED771035}"/>
              </a:ext>
            </a:extLst>
          </p:cNvPr>
          <p:cNvSpPr/>
          <p:nvPr/>
        </p:nvSpPr>
        <p:spPr>
          <a:xfrm>
            <a:off x="10448308" y="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 name="Circle: Hollow 2">
            <a:extLst>
              <a:ext uri="{FF2B5EF4-FFF2-40B4-BE49-F238E27FC236}">
                <a16:creationId xmlns:a16="http://schemas.microsoft.com/office/drawing/2014/main" id="{D7269BC6-61AB-5707-707C-C3E88DA45E0A}"/>
              </a:ext>
            </a:extLst>
          </p:cNvPr>
          <p:cNvSpPr/>
          <p:nvPr/>
        </p:nvSpPr>
        <p:spPr>
          <a:xfrm>
            <a:off x="10448308" y="511431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Circle: Hollow 4">
            <a:extLst>
              <a:ext uri="{FF2B5EF4-FFF2-40B4-BE49-F238E27FC236}">
                <a16:creationId xmlns:a16="http://schemas.microsoft.com/office/drawing/2014/main" id="{B2662BB3-CF5F-C117-1CBD-0F2CCC3CF34D}"/>
              </a:ext>
            </a:extLst>
          </p:cNvPr>
          <p:cNvSpPr/>
          <p:nvPr/>
        </p:nvSpPr>
        <p:spPr>
          <a:xfrm>
            <a:off x="8704616" y="2432753"/>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Circle: Hollow 5">
            <a:extLst>
              <a:ext uri="{FF2B5EF4-FFF2-40B4-BE49-F238E27FC236}">
                <a16:creationId xmlns:a16="http://schemas.microsoft.com/office/drawing/2014/main" id="{34A0C6FC-92BC-FBBD-A33A-32E2D5567A28}"/>
              </a:ext>
            </a:extLst>
          </p:cNvPr>
          <p:cNvSpPr/>
          <p:nvPr/>
        </p:nvSpPr>
        <p:spPr>
          <a:xfrm>
            <a:off x="7535329" y="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Circle: Hollow 6">
            <a:extLst>
              <a:ext uri="{FF2B5EF4-FFF2-40B4-BE49-F238E27FC236}">
                <a16:creationId xmlns:a16="http://schemas.microsoft.com/office/drawing/2014/main" id="{1587183A-85D3-0ADD-0999-479EF8380583}"/>
              </a:ext>
            </a:extLst>
          </p:cNvPr>
          <p:cNvSpPr/>
          <p:nvPr/>
        </p:nvSpPr>
        <p:spPr>
          <a:xfrm>
            <a:off x="7603726" y="511431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Circle: Hollow 7">
            <a:extLst>
              <a:ext uri="{FF2B5EF4-FFF2-40B4-BE49-F238E27FC236}">
                <a16:creationId xmlns:a16="http://schemas.microsoft.com/office/drawing/2014/main" id="{76C08969-9281-0F96-4C36-86F6F09CDB4D}"/>
              </a:ext>
            </a:extLst>
          </p:cNvPr>
          <p:cNvSpPr/>
          <p:nvPr/>
        </p:nvSpPr>
        <p:spPr>
          <a:xfrm>
            <a:off x="4759145" y="511431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Circle: Hollow 8">
            <a:extLst>
              <a:ext uri="{FF2B5EF4-FFF2-40B4-BE49-F238E27FC236}">
                <a16:creationId xmlns:a16="http://schemas.microsoft.com/office/drawing/2014/main" id="{C05DA268-5780-157E-9234-69DA6D304E28}"/>
              </a:ext>
            </a:extLst>
          </p:cNvPr>
          <p:cNvSpPr/>
          <p:nvPr/>
        </p:nvSpPr>
        <p:spPr>
          <a:xfrm>
            <a:off x="5642916" y="2432753"/>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Circle: Hollow 9">
            <a:extLst>
              <a:ext uri="{FF2B5EF4-FFF2-40B4-BE49-F238E27FC236}">
                <a16:creationId xmlns:a16="http://schemas.microsoft.com/office/drawing/2014/main" id="{E6B6DF62-D9E8-0B5A-EB4D-EFFD5D58C987}"/>
              </a:ext>
            </a:extLst>
          </p:cNvPr>
          <p:cNvSpPr/>
          <p:nvPr/>
        </p:nvSpPr>
        <p:spPr>
          <a:xfrm>
            <a:off x="4622350" y="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Circle: Hollow 10">
            <a:extLst>
              <a:ext uri="{FF2B5EF4-FFF2-40B4-BE49-F238E27FC236}">
                <a16:creationId xmlns:a16="http://schemas.microsoft.com/office/drawing/2014/main" id="{0400341B-42E6-8CF2-77C1-C3B517572FFF}"/>
              </a:ext>
            </a:extLst>
          </p:cNvPr>
          <p:cNvSpPr/>
          <p:nvPr/>
        </p:nvSpPr>
        <p:spPr>
          <a:xfrm>
            <a:off x="1709371" y="0"/>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Circle: Hollow 11">
            <a:extLst>
              <a:ext uri="{FF2B5EF4-FFF2-40B4-BE49-F238E27FC236}">
                <a16:creationId xmlns:a16="http://schemas.microsoft.com/office/drawing/2014/main" id="{74A711EF-322B-6110-6372-E2740208876C}"/>
              </a:ext>
            </a:extLst>
          </p:cNvPr>
          <p:cNvSpPr/>
          <p:nvPr/>
        </p:nvSpPr>
        <p:spPr>
          <a:xfrm>
            <a:off x="2581217" y="2432753"/>
            <a:ext cx="1743692" cy="1743690"/>
          </a:xfrm>
          <a:prstGeom prst="donut">
            <a:avLst/>
          </a:prstGeom>
          <a:solidFill>
            <a:srgbClr val="1B7AA0">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Right Triangle 18">
            <a:extLst>
              <a:ext uri="{FF2B5EF4-FFF2-40B4-BE49-F238E27FC236}">
                <a16:creationId xmlns:a16="http://schemas.microsoft.com/office/drawing/2014/main" id="{34F20000-56EA-8A55-CEFB-CC9F30B674B6}"/>
              </a:ext>
            </a:extLst>
          </p:cNvPr>
          <p:cNvSpPr/>
          <p:nvPr/>
        </p:nvSpPr>
        <p:spPr>
          <a:xfrm>
            <a:off x="0" y="0"/>
            <a:ext cx="7788442" cy="6858000"/>
          </a:xfrm>
          <a:prstGeom prst="rtTriangle">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4" name="TextBox 3">
            <a:extLst>
              <a:ext uri="{FF2B5EF4-FFF2-40B4-BE49-F238E27FC236}">
                <a16:creationId xmlns:a16="http://schemas.microsoft.com/office/drawing/2014/main" id="{AA022012-F0A4-EAD0-5433-F3D20941C3F8}"/>
              </a:ext>
            </a:extLst>
          </p:cNvPr>
          <p:cNvSpPr txBox="1"/>
          <p:nvPr/>
        </p:nvSpPr>
        <p:spPr>
          <a:xfrm>
            <a:off x="0" y="1538683"/>
            <a:ext cx="6906126" cy="1754326"/>
          </a:xfrm>
          <a:prstGeom prst="rect">
            <a:avLst/>
          </a:prstGeom>
          <a:noFill/>
          <a:ln>
            <a:noFill/>
          </a:ln>
        </p:spPr>
        <p:txBody>
          <a:bodyPr wrap="square">
            <a:spAutoFit/>
          </a:bodyPr>
          <a:lstStyle/>
          <a:p>
            <a:pPr defTabSz="914377">
              <a:defRPr/>
            </a:pPr>
            <a:r>
              <a:rPr lang="en-US" sz="5400" b="1" dirty="0">
                <a:solidFill>
                  <a:schemeClr val="bg1"/>
                </a:solidFill>
                <a:latin typeface="LORA" pitchFamily="2" charset="0"/>
                <a:cs typeface="Segoe UI" panose="020B0502040204020203" pitchFamily="34" charset="0"/>
              </a:rPr>
              <a:t>Thank</a:t>
            </a:r>
            <a:r>
              <a:rPr lang="en-US" sz="5400" b="1" dirty="0">
                <a:solidFill>
                  <a:schemeClr val="accent3">
                    <a:lumMod val="75000"/>
                  </a:schemeClr>
                </a:solidFill>
                <a:latin typeface="LORA" pitchFamily="2" charset="0"/>
                <a:cs typeface="Segoe UI" panose="020B0502040204020203" pitchFamily="34" charset="0"/>
              </a:rPr>
              <a:t>  You</a:t>
            </a:r>
          </a:p>
          <a:p>
            <a:pPr defTabSz="914377">
              <a:defRPr/>
            </a:pPr>
            <a:r>
              <a:rPr lang="en-US" sz="5400" b="1" dirty="0">
                <a:solidFill>
                  <a:schemeClr val="accent3">
                    <a:lumMod val="75000"/>
                  </a:schemeClr>
                </a:solidFill>
                <a:latin typeface="LORA" pitchFamily="2" charset="0"/>
                <a:cs typeface="Segoe UI" panose="020B0502040204020203" pitchFamily="34" charset="0"/>
              </a:rPr>
              <a:t> </a:t>
            </a:r>
            <a:r>
              <a:rPr lang="en-US" sz="5400" b="1" dirty="0">
                <a:solidFill>
                  <a:schemeClr val="bg1"/>
                </a:solidFill>
                <a:latin typeface="LORA" pitchFamily="2" charset="0"/>
                <a:cs typeface="Segoe UI" panose="020B0502040204020203" pitchFamily="34" charset="0"/>
              </a:rPr>
              <a:t>For</a:t>
            </a:r>
            <a:r>
              <a:rPr lang="en-US" sz="5400" b="1" dirty="0">
                <a:solidFill>
                  <a:schemeClr val="accent3">
                    <a:lumMod val="75000"/>
                  </a:schemeClr>
                </a:solidFill>
                <a:latin typeface="LORA" pitchFamily="2" charset="0"/>
                <a:cs typeface="Segoe UI" panose="020B0502040204020203" pitchFamily="34" charset="0"/>
              </a:rPr>
              <a:t>            licensing </a:t>
            </a:r>
          </a:p>
        </p:txBody>
      </p:sp>
    </p:spTree>
    <p:extLst>
      <p:ext uri="{BB962C8B-B14F-4D97-AF65-F5344CB8AC3E}">
        <p14:creationId xmlns:p14="http://schemas.microsoft.com/office/powerpoint/2010/main" val="4076151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99">
      <a:dk1>
        <a:sysClr val="windowText" lastClr="000000"/>
      </a:dk1>
      <a:lt1>
        <a:sysClr val="window" lastClr="FFFFFF"/>
      </a:lt1>
      <a:dk2>
        <a:srgbClr val="44546A"/>
      </a:dk2>
      <a:lt2>
        <a:srgbClr val="E7E6E6"/>
      </a:lt2>
      <a:accent1>
        <a:srgbClr val="8D1F6C"/>
      </a:accent1>
      <a:accent2>
        <a:srgbClr val="EDBE23"/>
      </a:accent2>
      <a:accent3>
        <a:srgbClr val="24A2D5"/>
      </a:accent3>
      <a:accent4>
        <a:srgbClr val="93BA21"/>
      </a:accent4>
      <a:accent5>
        <a:srgbClr val="5F349C"/>
      </a:accent5>
      <a:accent6>
        <a:srgbClr val="DB2E2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TotalTime>
  <Words>522</Words>
  <Application>Microsoft Office PowerPoint</Application>
  <PresentationFormat>Widescreen</PresentationFormat>
  <Paragraphs>56</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Agency FB</vt:lpstr>
      <vt:lpstr>Arial</vt:lpstr>
      <vt:lpstr>Calibri</vt:lpstr>
      <vt:lpstr>Calibri Light</vt:lpstr>
      <vt:lpstr>Lora</vt:lpstr>
      <vt:lpstr>Lora</vt:lpstr>
      <vt:lpstr>Segoe UI Web (West European)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Kavitha</dc:creator>
  <cp:lastModifiedBy>441100931</cp:lastModifiedBy>
  <cp:revision>68</cp:revision>
  <dcterms:created xsi:type="dcterms:W3CDTF">2020-02-17T06:54:48Z</dcterms:created>
  <dcterms:modified xsi:type="dcterms:W3CDTF">2025-04-22T03:41:11Z</dcterms:modified>
</cp:coreProperties>
</file>