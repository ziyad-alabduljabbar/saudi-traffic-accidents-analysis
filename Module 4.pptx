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7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E0AA6-8966-4FCE-BC50-92CA996D81C4}" type="datetimeFigureOut">
              <a:rPr lang="en-US" smtClean="0"/>
              <a:t>2/14/2021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2B953-DD4E-499D-B68E-A45F657A5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081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E0AA6-8966-4FCE-BC50-92CA996D81C4}" type="datetimeFigureOut">
              <a:rPr lang="en-US" smtClean="0"/>
              <a:t>2/14/2021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2B953-DD4E-499D-B68E-A45F657A5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582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E0AA6-8966-4FCE-BC50-92CA996D81C4}" type="datetimeFigureOut">
              <a:rPr lang="en-US" smtClean="0"/>
              <a:t>2/14/2021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2B953-DD4E-499D-B68E-A45F657A5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317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E0AA6-8966-4FCE-BC50-92CA996D81C4}" type="datetimeFigureOut">
              <a:rPr lang="en-US" smtClean="0"/>
              <a:t>2/14/2021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2B953-DD4E-499D-B68E-A45F657A5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143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E0AA6-8966-4FCE-BC50-92CA996D81C4}" type="datetimeFigureOut">
              <a:rPr lang="en-US" smtClean="0"/>
              <a:t>2/14/2021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2B953-DD4E-499D-B68E-A45F657A5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412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E0AA6-8966-4FCE-BC50-92CA996D81C4}" type="datetimeFigureOut">
              <a:rPr lang="en-US" smtClean="0"/>
              <a:t>2/14/2021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2B953-DD4E-499D-B68E-A45F657A5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782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E0AA6-8966-4FCE-BC50-92CA996D81C4}" type="datetimeFigureOut">
              <a:rPr lang="en-US" smtClean="0"/>
              <a:t>2/14/2021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2B953-DD4E-499D-B68E-A45F657A5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80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E0AA6-8966-4FCE-BC50-92CA996D81C4}" type="datetimeFigureOut">
              <a:rPr lang="en-US" smtClean="0"/>
              <a:t>2/14/2021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2B953-DD4E-499D-B68E-A45F657A5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913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E0AA6-8966-4FCE-BC50-92CA996D81C4}" type="datetimeFigureOut">
              <a:rPr lang="en-US" smtClean="0"/>
              <a:t>2/14/2021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2B953-DD4E-499D-B68E-A45F657A5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752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E0AA6-8966-4FCE-BC50-92CA996D81C4}" type="datetimeFigureOut">
              <a:rPr lang="en-US" smtClean="0"/>
              <a:t>2/14/2021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2B953-DD4E-499D-B68E-A45F657A5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435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E0AA6-8966-4FCE-BC50-92CA996D81C4}" type="datetimeFigureOut">
              <a:rPr lang="en-US" smtClean="0"/>
              <a:t>2/14/2021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2B953-DD4E-499D-B68E-A45F657A5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368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9E0AA6-8966-4FCE-BC50-92CA996D81C4}" type="datetimeFigureOut">
              <a:rPr lang="en-US" smtClean="0"/>
              <a:t>2/14/2021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72B953-DD4E-499D-B68E-A45F657A5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073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Module 4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Transforming Data</a:t>
            </a:r>
            <a:r>
              <a:rPr lang="en-US" dirty="0" smtClean="0"/>
              <a:t> </a:t>
            </a:r>
            <a:br>
              <a:rPr lang="en-US" dirty="0" smtClean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2563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Filtering records to create a subset</a:t>
            </a:r>
            <a:br>
              <a:rPr lang="en-US" dirty="0"/>
            </a:br>
            <a:r>
              <a:rPr lang="en-US" dirty="0"/>
              <a:t>• Narrowing the list of columns</a:t>
            </a:r>
            <a:br>
              <a:rPr lang="en-US" dirty="0"/>
            </a:br>
            <a:r>
              <a:rPr lang="en-US" dirty="0"/>
              <a:t>• Arranging rows in ascending or descending order</a:t>
            </a:r>
            <a:br>
              <a:rPr lang="en-US" dirty="0"/>
            </a:br>
            <a:r>
              <a:rPr lang="en-US" dirty="0"/>
              <a:t>• Adding rows</a:t>
            </a:r>
            <a:br>
              <a:rPr lang="en-US" dirty="0"/>
            </a:br>
            <a:r>
              <a:rPr lang="en-US" dirty="0"/>
              <a:t>• Summarizing and grouping</a:t>
            </a:r>
            <a:br>
              <a:rPr lang="en-US" dirty="0"/>
            </a:br>
            <a:r>
              <a:rPr lang="en-US" dirty="0"/>
              <a:t>• Piping for code efficiency</a:t>
            </a:r>
            <a:r>
              <a:rPr lang="en-US" dirty="0" smtClean="0"/>
              <a:t> </a:t>
            </a:r>
            <a:br>
              <a:rPr lang="en-US" dirty="0" smtClean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4318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The </a:t>
            </a:r>
            <a:r>
              <a:rPr lang="en-US" dirty="0" err="1" smtClean="0"/>
              <a:t>dplyr</a:t>
            </a:r>
            <a:r>
              <a:rPr lang="en-US" dirty="0" smtClean="0"/>
              <a:t> package, part of the </a:t>
            </a:r>
            <a:r>
              <a:rPr lang="en-US" dirty="0" err="1" smtClean="0"/>
              <a:t>tidyverse</a:t>
            </a:r>
            <a:r>
              <a:rPr lang="en-US" dirty="0"/>
              <a:t> </a:t>
            </a:r>
            <a:r>
              <a:rPr lang="en-US" dirty="0" smtClean="0"/>
              <a:t>provides a set of functions to transform a dataset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007436" cy="4810702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There </a:t>
            </a:r>
            <a:r>
              <a:rPr lang="en-US" dirty="0"/>
              <a:t>are five key functions that are part of </a:t>
            </a:r>
            <a:r>
              <a:rPr lang="en-US" dirty="0" err="1"/>
              <a:t>dplyr</a:t>
            </a:r>
            <a:r>
              <a:rPr lang="en-US" dirty="0"/>
              <a:t>: </a:t>
            </a:r>
            <a:endParaRPr lang="en-US" dirty="0" smtClean="0"/>
          </a:p>
          <a:p>
            <a:r>
              <a:rPr lang="en-US" dirty="0" smtClean="0"/>
              <a:t>filter</a:t>
            </a:r>
            <a:r>
              <a:rPr lang="en-US" dirty="0"/>
              <a:t>(), </a:t>
            </a:r>
            <a:endParaRPr lang="en-US" dirty="0" smtClean="0"/>
          </a:p>
          <a:p>
            <a:r>
              <a:rPr lang="en-US" dirty="0" smtClean="0"/>
              <a:t>arrange</a:t>
            </a:r>
            <a:r>
              <a:rPr lang="en-US" dirty="0"/>
              <a:t>(), </a:t>
            </a:r>
            <a:endParaRPr lang="en-US" dirty="0" smtClean="0"/>
          </a:p>
          <a:p>
            <a:r>
              <a:rPr lang="en-US" dirty="0" smtClean="0"/>
              <a:t>select(),</a:t>
            </a:r>
          </a:p>
          <a:p>
            <a:r>
              <a:rPr lang="en-US" dirty="0" smtClean="0"/>
              <a:t>mutate</a:t>
            </a:r>
            <a:r>
              <a:rPr lang="en-US" dirty="0"/>
              <a:t>(), </a:t>
            </a:r>
            <a:endParaRPr lang="en-US" dirty="0" smtClean="0"/>
          </a:p>
          <a:p>
            <a:r>
              <a:rPr lang="en-US" dirty="0" smtClean="0"/>
              <a:t>and </a:t>
            </a:r>
            <a:r>
              <a:rPr lang="en-US" dirty="0"/>
              <a:t>summarize</a:t>
            </a:r>
            <a:r>
              <a:rPr lang="en-US" dirty="0" smtClean="0"/>
              <a:t>().</a:t>
            </a:r>
          </a:p>
          <a:p>
            <a:r>
              <a:rPr lang="en-US" dirty="0" smtClean="0"/>
              <a:t>All </a:t>
            </a:r>
            <a:r>
              <a:rPr lang="en-US" dirty="0"/>
              <a:t>five functions work in a similar manner where </a:t>
            </a:r>
            <a:r>
              <a:rPr lang="en-US" dirty="0" smtClean="0"/>
              <a:t>the first </a:t>
            </a:r>
            <a:r>
              <a:rPr lang="en-US" dirty="0"/>
              <a:t>argument is the data frame to manipulate, the next N number of </a:t>
            </a:r>
            <a:r>
              <a:rPr lang="en-US" dirty="0" smtClean="0"/>
              <a:t>parameters defined </a:t>
            </a:r>
            <a:r>
              <a:rPr lang="en-US" dirty="0"/>
              <a:t>the columns to include, and all return a data frame as a result.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292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dplyr</a:t>
            </a:r>
            <a:r>
              <a:rPr lang="en-US" dirty="0"/>
              <a:t> functions are often used in conjunction with the </a:t>
            </a:r>
            <a:r>
              <a:rPr lang="en-US" dirty="0" err="1"/>
              <a:t>group_by</a:t>
            </a:r>
            <a:r>
              <a:rPr lang="en-US" dirty="0"/>
              <a:t>() </a:t>
            </a:r>
            <a:r>
              <a:rPr lang="en-US" dirty="0" err="1" smtClean="0"/>
              <a:t>dplyr</a:t>
            </a:r>
            <a:r>
              <a:rPr lang="en-US" dirty="0" smtClean="0"/>
              <a:t> function </a:t>
            </a:r>
            <a:r>
              <a:rPr lang="en-US" dirty="0"/>
              <a:t>to manipulate a dataset that has been grouped in some way.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 err="1" smtClean="0"/>
              <a:t>group_by</a:t>
            </a:r>
            <a:r>
              <a:rPr lang="en-US" dirty="0"/>
              <a:t>() function creates a new data frame object that has been grouped by one </a:t>
            </a:r>
            <a:r>
              <a:rPr lang="en-US" dirty="0" smtClean="0"/>
              <a:t>or more </a:t>
            </a:r>
            <a:r>
              <a:rPr lang="en-US" dirty="0"/>
              <a:t>variables.</a:t>
            </a:r>
            <a:r>
              <a:rPr lang="en-US" dirty="0" smtClean="0"/>
              <a:t> </a:t>
            </a:r>
            <a:br>
              <a:rPr lang="en-US" dirty="0" smtClean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2034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Exercise 1: Filtering records to create a subset</a:t>
            </a:r>
            <a:r>
              <a:rPr lang="en-US" dirty="0" smtClean="0"/>
              <a:t> 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The </a:t>
            </a:r>
            <a:r>
              <a:rPr lang="en-US" dirty="0"/>
              <a:t>filter() function is </a:t>
            </a:r>
            <a:r>
              <a:rPr lang="en-US" dirty="0" smtClean="0"/>
              <a:t>used to </a:t>
            </a:r>
            <a:r>
              <a:rPr lang="en-US" dirty="0"/>
              <a:t>create a subset of records based on some value. </a:t>
            </a:r>
            <a:endParaRPr lang="en-US" dirty="0" smtClean="0"/>
          </a:p>
          <a:p>
            <a:r>
              <a:rPr lang="en-US" dirty="0" smtClean="0"/>
              <a:t>First step:</a:t>
            </a:r>
          </a:p>
          <a:p>
            <a:r>
              <a:rPr lang="en-US" dirty="0" err="1" smtClean="0"/>
              <a:t>dfires</a:t>
            </a:r>
            <a:r>
              <a:rPr lang="en-US" dirty="0" smtClean="0"/>
              <a:t> </a:t>
            </a:r>
            <a:r>
              <a:rPr lang="en-US" dirty="0"/>
              <a:t>&lt;- </a:t>
            </a:r>
            <a:r>
              <a:rPr lang="en-US" dirty="0" err="1"/>
              <a:t>read_csv</a:t>
            </a:r>
            <a:r>
              <a:rPr lang="en-US" dirty="0"/>
              <a:t>("StudyArea.csv", </a:t>
            </a:r>
            <a:r>
              <a:rPr lang="en-US" dirty="0" err="1"/>
              <a:t>col_types</a:t>
            </a:r>
            <a:r>
              <a:rPr lang="en-US" dirty="0"/>
              <a:t> = list(UNIT = </a:t>
            </a:r>
            <a:r>
              <a:rPr lang="en-US" dirty="0" err="1"/>
              <a:t>col_character</a:t>
            </a:r>
            <a:r>
              <a:rPr lang="en-US" dirty="0"/>
              <a:t>()), </a:t>
            </a:r>
            <a:r>
              <a:rPr lang="en-US" dirty="0" err="1"/>
              <a:t>col_names</a:t>
            </a:r>
            <a:r>
              <a:rPr lang="en-US" dirty="0"/>
              <a:t> = TRUE)</a:t>
            </a:r>
          </a:p>
          <a:p>
            <a:r>
              <a:rPr lang="en-US" dirty="0" err="1"/>
              <a:t>nrow</a:t>
            </a:r>
            <a:r>
              <a:rPr lang="en-US" dirty="0"/>
              <a:t>(</a:t>
            </a:r>
            <a:r>
              <a:rPr lang="en-US" dirty="0" err="1"/>
              <a:t>dfFires</a:t>
            </a:r>
            <a:r>
              <a:rPr lang="en-US" dirty="0"/>
              <a:t>)</a:t>
            </a:r>
            <a:endParaRPr lang="en-US" dirty="0" smtClean="0"/>
          </a:p>
          <a:p>
            <a:r>
              <a:rPr lang="en-US" dirty="0" smtClean="0"/>
              <a:t>For </a:t>
            </a:r>
            <a:r>
              <a:rPr lang="en-US" dirty="0"/>
              <a:t>example, you might </a:t>
            </a:r>
            <a:r>
              <a:rPr lang="en-US" dirty="0" smtClean="0"/>
              <a:t>want to </a:t>
            </a:r>
            <a:r>
              <a:rPr lang="en-US" dirty="0"/>
              <a:t>create a data frame of wildfires containing incidents that have burned </a:t>
            </a:r>
            <a:r>
              <a:rPr lang="en-US" dirty="0" smtClean="0"/>
              <a:t>more than </a:t>
            </a:r>
            <a:r>
              <a:rPr lang="en-US" dirty="0"/>
              <a:t>25,000 acres. </a:t>
            </a:r>
            <a:endParaRPr lang="en-US" dirty="0" smtClean="0"/>
          </a:p>
          <a:p>
            <a:r>
              <a:rPr lang="en-US" dirty="0" smtClean="0"/>
              <a:t>As </a:t>
            </a:r>
            <a:r>
              <a:rPr lang="en-US" dirty="0"/>
              <a:t>long as you have an existing data frame that includes </a:t>
            </a:r>
            <a:r>
              <a:rPr lang="en-US" dirty="0" smtClean="0"/>
              <a:t>a column </a:t>
            </a:r>
            <a:r>
              <a:rPr lang="en-US" dirty="0"/>
              <a:t>that measures the number of acres burned, you can accomplish the</a:t>
            </a:r>
            <a:br>
              <a:rPr lang="en-US" dirty="0"/>
            </a:br>
            <a:r>
              <a:rPr lang="en-US" dirty="0"/>
              <a:t>creation of this subset using the filter() function.</a:t>
            </a:r>
            <a:r>
              <a:rPr lang="en-US" dirty="0" smtClean="0"/>
              <a:t> </a:t>
            </a:r>
          </a:p>
          <a:p>
            <a:r>
              <a:rPr lang="en-US" dirty="0"/>
              <a:t>df25k = </a:t>
            </a:r>
            <a:r>
              <a:rPr lang="en-US" dirty="0" smtClean="0"/>
              <a:t>filter(</a:t>
            </a:r>
            <a:r>
              <a:rPr lang="en-US" dirty="0" err="1" smtClean="0"/>
              <a:t>dfires</a:t>
            </a:r>
            <a:r>
              <a:rPr lang="en-US" dirty="0" smtClean="0"/>
              <a:t>, </a:t>
            </a:r>
            <a:r>
              <a:rPr lang="en-US" dirty="0"/>
              <a:t>ACRES &gt;= 25000)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/>
            </a:r>
            <a:br>
              <a:rPr lang="en-US" dirty="0" smtClean="0">
                <a:solidFill>
                  <a:srgbClr val="FF0000"/>
                </a:solidFill>
              </a:rPr>
            </a:b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8302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Exercise 1: Filtering records to create a subset</a:t>
            </a:r>
            <a:r>
              <a:rPr lang="en-US" dirty="0" smtClean="0"/>
              <a:t> 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Filter the records so that the number of acres is greater than or equal to 25000, and the second filter records so that only records where the Year column contain a value of 2016 will be returned.</a:t>
            </a:r>
          </a:p>
          <a:p>
            <a:pPr lvl="1"/>
            <a:r>
              <a:rPr lang="en-US" sz="2800" dirty="0"/>
              <a:t>df25k=filter(</a:t>
            </a:r>
            <a:r>
              <a:rPr lang="en-US" sz="2800" dirty="0" err="1"/>
              <a:t>df</a:t>
            </a:r>
            <a:r>
              <a:rPr lang="en-US" sz="2800" dirty="0"/>
              <a:t>, ACRES &gt;= 25000, YEAR == 2016)</a:t>
            </a:r>
          </a:p>
          <a:p>
            <a:pPr lvl="1"/>
            <a:r>
              <a:rPr lang="en-US" sz="2800" dirty="0"/>
              <a:t>Or </a:t>
            </a:r>
            <a:r>
              <a:rPr lang="en-US" sz="2800" dirty="0" smtClean="0"/>
              <a:t>df25k=filter(</a:t>
            </a:r>
            <a:r>
              <a:rPr lang="en-US" sz="2800" dirty="0" err="1" smtClean="0"/>
              <a:t>dfires</a:t>
            </a:r>
            <a:r>
              <a:rPr lang="en-US" sz="2800" dirty="0" smtClean="0"/>
              <a:t>, </a:t>
            </a:r>
            <a:r>
              <a:rPr lang="en-US" sz="2800" dirty="0"/>
              <a:t>ACRES &gt;= 25000 &amp;YEAR == 2016)</a:t>
            </a:r>
          </a:p>
          <a:p>
            <a:r>
              <a:rPr lang="en-US" dirty="0"/>
              <a:t>List of potential values to be included by a filter the %in% statement can be used.</a:t>
            </a:r>
          </a:p>
          <a:p>
            <a:pPr lvl="1"/>
            <a:r>
              <a:rPr lang="en-US" sz="2800" dirty="0" err="1"/>
              <a:t>dfYear</a:t>
            </a:r>
            <a:r>
              <a:rPr lang="en-US" sz="2800" dirty="0"/>
              <a:t> = </a:t>
            </a:r>
            <a:r>
              <a:rPr lang="en-US" sz="2800" dirty="0" smtClean="0"/>
              <a:t>filter(</a:t>
            </a:r>
            <a:r>
              <a:rPr lang="en-US" sz="2800" dirty="0" err="1" smtClean="0"/>
              <a:t>dfires</a:t>
            </a:r>
            <a:r>
              <a:rPr lang="en-US" sz="2800" dirty="0" smtClean="0"/>
              <a:t>, </a:t>
            </a:r>
            <a:r>
              <a:rPr lang="en-US" sz="2800" dirty="0"/>
              <a:t>YEAR_%</a:t>
            </a:r>
            <a:r>
              <a:rPr lang="en-US" sz="2800" dirty="0" err="1"/>
              <a:t>in%c</a:t>
            </a:r>
            <a:r>
              <a:rPr lang="en-US" sz="2800" dirty="0"/>
              <a:t>(2010,2011,2012))</a:t>
            </a:r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7932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549" y="1"/>
            <a:ext cx="11595763" cy="668739"/>
          </a:xfrm>
        </p:spPr>
        <p:txBody>
          <a:bodyPr>
            <a:normAutofit fontScale="90000"/>
          </a:bodyPr>
          <a:lstStyle/>
          <a:p>
            <a:r>
              <a:rPr lang="en-US" b="1" u="sng" dirty="0" smtClean="0">
                <a:solidFill>
                  <a:srgbClr val="FF0000"/>
                </a:solidFill>
              </a:rPr>
              <a:t>Exercise 2: Narrowing the list of columns with select()</a:t>
            </a:r>
            <a:endParaRPr lang="en-US" u="sng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478" y="805218"/>
            <a:ext cx="12055522" cy="6052781"/>
          </a:xfrm>
        </p:spPr>
        <p:txBody>
          <a:bodyPr>
            <a:normAutofit/>
          </a:bodyPr>
          <a:lstStyle/>
          <a:p>
            <a:r>
              <a:rPr lang="en-US" dirty="0" smtClean="0"/>
              <a:t>The select() </a:t>
            </a:r>
            <a:r>
              <a:rPr lang="en-US" dirty="0"/>
              <a:t>function is </a:t>
            </a:r>
            <a:r>
              <a:rPr lang="en-US" dirty="0" smtClean="0"/>
              <a:t>used to narrow down the list of columns to include those needed.</a:t>
            </a:r>
          </a:p>
          <a:p>
            <a:r>
              <a:rPr lang="en-US" sz="2800" dirty="0" smtClean="0"/>
              <a:t>Example: Load the StudyArea.csv file to the </a:t>
            </a:r>
            <a:r>
              <a:rPr lang="en-US" sz="2800" dirty="0" err="1" smtClean="0"/>
              <a:t>dfFires</a:t>
            </a:r>
            <a:r>
              <a:rPr lang="en-US" sz="2800" dirty="0" smtClean="0"/>
              <a:t> data frame using the </a:t>
            </a:r>
            <a:r>
              <a:rPr lang="en-US" sz="2800" dirty="0" err="1" smtClean="0"/>
              <a:t>read_csv</a:t>
            </a:r>
            <a:r>
              <a:rPr lang="en-US" sz="2800" dirty="0" smtClean="0"/>
              <a:t>() function.</a:t>
            </a:r>
          </a:p>
          <a:p>
            <a:r>
              <a:rPr lang="en-US" dirty="0" smtClean="0"/>
              <a:t>Select FIRENAME, TOTALACRES, YEAR_ using select()</a:t>
            </a:r>
          </a:p>
          <a:p>
            <a:pPr lvl="1"/>
            <a:r>
              <a:rPr lang="en-US" sz="2800" dirty="0"/>
              <a:t>dfFires2 = </a:t>
            </a:r>
            <a:r>
              <a:rPr lang="en-US" sz="2800" dirty="0" smtClean="0"/>
              <a:t>select(</a:t>
            </a:r>
            <a:r>
              <a:rPr lang="en-US" sz="2800" dirty="0" err="1" smtClean="0"/>
              <a:t>dfires</a:t>
            </a:r>
            <a:r>
              <a:rPr lang="en-US" sz="2800" dirty="0"/>
              <a:t>, FIRENAME, TOTALACRES, YEAR</a:t>
            </a:r>
            <a:r>
              <a:rPr lang="en-US" sz="2800" dirty="0" smtClean="0"/>
              <a:t>_)</a:t>
            </a:r>
          </a:p>
          <a:p>
            <a:r>
              <a:rPr lang="en-US" sz="2800" dirty="0" smtClean="0"/>
              <a:t>Imported columns can be made reader friendly by renaming the columns</a:t>
            </a:r>
          </a:p>
          <a:p>
            <a:pPr lvl="1"/>
            <a:r>
              <a:rPr lang="en-US" sz="2800" dirty="0"/>
              <a:t>dfFires2 = </a:t>
            </a:r>
            <a:r>
              <a:rPr lang="en-US" sz="2800" dirty="0" smtClean="0"/>
              <a:t>select(</a:t>
            </a:r>
            <a:r>
              <a:rPr lang="en-US" sz="2800" dirty="0" err="1" smtClean="0"/>
              <a:t>dfires</a:t>
            </a:r>
            <a:r>
              <a:rPr lang="en-US" sz="2800" dirty="0"/>
              <a:t>, </a:t>
            </a:r>
            <a:r>
              <a:rPr lang="en-US" sz="2800" dirty="0" smtClean="0"/>
              <a:t>"FIRE"="FIRENAME", "ACRES"="TOTALACRES", "YR"=YEAR_")</a:t>
            </a:r>
          </a:p>
          <a:p>
            <a:r>
              <a:rPr lang="en-US" sz="2800" dirty="0" smtClean="0"/>
              <a:t>Few handy helper functions like </a:t>
            </a:r>
            <a:r>
              <a:rPr lang="en-US" sz="2800" dirty="0" err="1" smtClean="0"/>
              <a:t>starts_with</a:t>
            </a:r>
            <a:r>
              <a:rPr lang="en-US" sz="2800" dirty="0" smtClean="0"/>
              <a:t>(), </a:t>
            </a:r>
            <a:r>
              <a:rPr lang="en-US" sz="2800" dirty="0" err="1" smtClean="0"/>
              <a:t>ends_with</a:t>
            </a:r>
            <a:r>
              <a:rPr lang="en-US" sz="2800" dirty="0" smtClean="0"/>
              <a:t>(), contains(), matches(), and </a:t>
            </a:r>
            <a:r>
              <a:rPr lang="en-US" sz="2800" dirty="0" err="1" smtClean="0"/>
              <a:t>num_range</a:t>
            </a:r>
            <a:r>
              <a:rPr lang="en-US" sz="2800" dirty="0" smtClean="0"/>
              <a:t>().</a:t>
            </a:r>
          </a:p>
          <a:p>
            <a:pPr lvl="1"/>
            <a:r>
              <a:rPr lang="en-US" sz="2800" dirty="0"/>
              <a:t>dfFires3 = </a:t>
            </a:r>
            <a:r>
              <a:rPr lang="en-US" sz="2800" dirty="0" smtClean="0"/>
              <a:t>select(</a:t>
            </a:r>
            <a:r>
              <a:rPr lang="en-US" sz="2800" dirty="0" err="1" smtClean="0"/>
              <a:t>dfires</a:t>
            </a:r>
            <a:r>
              <a:rPr lang="en-US" sz="2800" dirty="0"/>
              <a:t>, </a:t>
            </a:r>
            <a:r>
              <a:rPr lang="en-US" sz="2800" dirty="0" smtClean="0"/>
              <a:t>contains(</a:t>
            </a:r>
            <a:r>
              <a:rPr lang="en-US" sz="2800" dirty="0"/>
              <a:t>"</a:t>
            </a:r>
            <a:r>
              <a:rPr lang="en-US" sz="2800" dirty="0" smtClean="0"/>
              <a:t>DATE</a:t>
            </a:r>
            <a:r>
              <a:rPr lang="en-US" sz="2800" dirty="0"/>
              <a:t>"</a:t>
            </a:r>
            <a:r>
              <a:rPr lang="en-US" sz="2800" dirty="0" smtClean="0"/>
              <a:t>), </a:t>
            </a:r>
            <a:r>
              <a:rPr lang="en-US" sz="2800" dirty="0" err="1" smtClean="0"/>
              <a:t>starts_with</a:t>
            </a:r>
            <a:r>
              <a:rPr lang="en-US" sz="2800" dirty="0" smtClean="0"/>
              <a:t>(</a:t>
            </a:r>
            <a:r>
              <a:rPr lang="en-US" sz="2800" dirty="0"/>
              <a:t>"</a:t>
            </a:r>
            <a:r>
              <a:rPr lang="en-US" sz="2800" dirty="0" smtClean="0"/>
              <a:t>TOTAL"))</a:t>
            </a:r>
          </a:p>
          <a:p>
            <a:r>
              <a:rPr lang="en-US" dirty="0" smtClean="0"/>
              <a:t>Display the first few lines – </a:t>
            </a:r>
            <a:r>
              <a:rPr lang="en-US" dirty="0" smtClean="0"/>
              <a:t>head(</a:t>
            </a:r>
            <a:r>
              <a:rPr lang="en-US" dirty="0" err="1" smtClean="0"/>
              <a:t>dfires</a:t>
            </a:r>
            <a:r>
              <a:rPr lang="en-US" dirty="0" smtClean="0"/>
              <a:t>)</a:t>
            </a:r>
          </a:p>
          <a:p>
            <a:endParaRPr lang="en-US" sz="28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93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549" y="1"/>
            <a:ext cx="11595763" cy="668739"/>
          </a:xfrm>
        </p:spPr>
        <p:txBody>
          <a:bodyPr>
            <a:normAutofit fontScale="90000"/>
          </a:bodyPr>
          <a:lstStyle/>
          <a:p>
            <a:r>
              <a:rPr lang="en-US" b="1" u="sng" dirty="0" smtClean="0">
                <a:solidFill>
                  <a:srgbClr val="FF0000"/>
                </a:solidFill>
              </a:rPr>
              <a:t>Exercise 3: Arranging Rows</a:t>
            </a:r>
            <a:endParaRPr lang="en-US" u="sng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478" y="627798"/>
            <a:ext cx="12055522" cy="6230202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The arrange() function can be used to order the rows in a data frame.</a:t>
            </a:r>
          </a:p>
          <a:p>
            <a:r>
              <a:rPr lang="en-US" sz="2800" dirty="0" smtClean="0"/>
              <a:t>Default row ordering is ascending order. Use </a:t>
            </a:r>
            <a:r>
              <a:rPr lang="en-US" sz="2800" dirty="0" err="1" smtClean="0"/>
              <a:t>desc</a:t>
            </a:r>
            <a:r>
              <a:rPr lang="en-US" sz="2800" dirty="0" smtClean="0"/>
              <a:t>() helper function t order the rows in descending order.</a:t>
            </a:r>
          </a:p>
          <a:p>
            <a:r>
              <a:rPr lang="en-US" dirty="0" smtClean="0"/>
              <a:t>Missing values will be placed at the end of the data frame.</a:t>
            </a:r>
          </a:p>
          <a:p>
            <a:pPr marL="0" indent="0">
              <a:buNone/>
            </a:pPr>
            <a:r>
              <a:rPr lang="en-US" dirty="0"/>
              <a:t>1. Use the </a:t>
            </a:r>
            <a:r>
              <a:rPr lang="en-US" dirty="0" err="1"/>
              <a:t>read_csv</a:t>
            </a:r>
            <a:r>
              <a:rPr lang="en-US" dirty="0" smtClean="0"/>
              <a:t>() -function </a:t>
            </a:r>
            <a:r>
              <a:rPr lang="en-US" dirty="0"/>
              <a:t>to load the dataset into a data frame.</a:t>
            </a:r>
          </a:p>
          <a:p>
            <a:pPr lvl="1"/>
            <a:r>
              <a:rPr lang="en-US" dirty="0" err="1"/>
              <a:t>dfFires</a:t>
            </a:r>
            <a:r>
              <a:rPr lang="en-US" dirty="0"/>
              <a:t> = </a:t>
            </a:r>
            <a:r>
              <a:rPr lang="en-US" dirty="0" err="1"/>
              <a:t>read_csv</a:t>
            </a:r>
            <a:r>
              <a:rPr lang="en-US" dirty="0" smtClean="0"/>
              <a:t>("StudyArea.csv</a:t>
            </a:r>
            <a:r>
              <a:rPr lang="en-US" dirty="0"/>
              <a:t>"</a:t>
            </a:r>
            <a:r>
              <a:rPr lang="en-US" dirty="0" smtClean="0"/>
              <a:t>, </a:t>
            </a:r>
            <a:r>
              <a:rPr lang="en-US" dirty="0" err="1"/>
              <a:t>col_types</a:t>
            </a:r>
            <a:r>
              <a:rPr lang="en-US" dirty="0"/>
              <a:t> = list(UNIT = </a:t>
            </a:r>
            <a:r>
              <a:rPr lang="en-US" dirty="0" err="1"/>
              <a:t>col_character</a:t>
            </a:r>
            <a:r>
              <a:rPr lang="en-US" dirty="0" smtClean="0"/>
              <a:t>()), </a:t>
            </a:r>
            <a:r>
              <a:rPr lang="en-US" dirty="0" err="1" smtClean="0"/>
              <a:t>col_names</a:t>
            </a:r>
            <a:r>
              <a:rPr lang="en-US" dirty="0" smtClean="0"/>
              <a:t> </a:t>
            </a:r>
            <a:r>
              <a:rPr lang="en-US" dirty="0"/>
              <a:t>= TRUE)</a:t>
            </a:r>
          </a:p>
          <a:p>
            <a:pPr marL="0" indent="0">
              <a:buNone/>
            </a:pPr>
            <a:r>
              <a:rPr lang="en-US" dirty="0"/>
              <a:t>2. Filter the dataset so that it contains only fires greater than 1,000 acres </a:t>
            </a:r>
            <a:r>
              <a:rPr lang="en-US" dirty="0" smtClean="0"/>
              <a:t>burned from </a:t>
            </a:r>
            <a:r>
              <a:rPr lang="en-US" dirty="0"/>
              <a:t>the year 2016.</a:t>
            </a:r>
          </a:p>
          <a:p>
            <a:pPr lvl="1"/>
            <a:r>
              <a:rPr lang="en-US" dirty="0"/>
              <a:t>df1k = </a:t>
            </a:r>
            <a:r>
              <a:rPr lang="en-US" dirty="0" smtClean="0"/>
              <a:t>filter(</a:t>
            </a:r>
            <a:r>
              <a:rPr lang="en-US" dirty="0" err="1" smtClean="0"/>
              <a:t>dfires</a:t>
            </a:r>
            <a:r>
              <a:rPr lang="en-US" dirty="0"/>
              <a:t>, TOTALACRES &gt;= 1000, YEAR_ == 2016)</a:t>
            </a:r>
          </a:p>
          <a:p>
            <a:pPr marL="0" indent="0">
              <a:buNone/>
            </a:pPr>
            <a:r>
              <a:rPr lang="en-US" dirty="0"/>
              <a:t>3. Add and run the code you see below to create a subset of columns and </a:t>
            </a:r>
            <a:r>
              <a:rPr lang="en-US" dirty="0" smtClean="0"/>
              <a:t>rename them</a:t>
            </a:r>
            <a:r>
              <a:rPr lang="en-US" dirty="0"/>
              <a:t>.</a:t>
            </a:r>
          </a:p>
          <a:p>
            <a:pPr lvl="1"/>
            <a:r>
              <a:rPr lang="en-US" dirty="0" smtClean="0"/>
              <a:t>df1k </a:t>
            </a:r>
            <a:r>
              <a:rPr lang="en-US" dirty="0"/>
              <a:t>= select(df1k, "</a:t>
            </a:r>
            <a:r>
              <a:rPr lang="en-US" dirty="0" smtClean="0"/>
              <a:t>NAME"=</a:t>
            </a:r>
            <a:r>
              <a:rPr lang="en-US" dirty="0"/>
              <a:t>"</a:t>
            </a:r>
            <a:r>
              <a:rPr lang="en-US" dirty="0" smtClean="0"/>
              <a:t>FIRENAME</a:t>
            </a:r>
            <a:r>
              <a:rPr lang="en-US" dirty="0"/>
              <a:t>"</a:t>
            </a:r>
            <a:r>
              <a:rPr lang="en-US" dirty="0" smtClean="0"/>
              <a:t>, </a:t>
            </a:r>
            <a:r>
              <a:rPr lang="en-US" dirty="0"/>
              <a:t>"</a:t>
            </a:r>
            <a:r>
              <a:rPr lang="en-US" dirty="0" smtClean="0"/>
              <a:t>ACRES"=</a:t>
            </a:r>
            <a:r>
              <a:rPr lang="en-US" dirty="0"/>
              <a:t>"</a:t>
            </a:r>
            <a:r>
              <a:rPr lang="en-US" dirty="0" smtClean="0"/>
              <a:t>TOTALACRES",</a:t>
            </a:r>
            <a:r>
              <a:rPr lang="en-US" dirty="0"/>
              <a:t> "</a:t>
            </a:r>
            <a:r>
              <a:rPr lang="en-US" dirty="0" smtClean="0"/>
              <a:t>YR"=</a:t>
            </a:r>
            <a:r>
              <a:rPr lang="en-US" dirty="0"/>
              <a:t>"</a:t>
            </a:r>
            <a:r>
              <a:rPr lang="en-US" dirty="0" smtClean="0"/>
              <a:t>YEAR_</a:t>
            </a:r>
            <a:r>
              <a:rPr lang="en-US" dirty="0"/>
              <a:t>"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US" dirty="0" smtClean="0"/>
              <a:t>4. Sort the rows so that they are in ascending order.</a:t>
            </a:r>
          </a:p>
          <a:p>
            <a:pPr lvl="1"/>
            <a:r>
              <a:rPr lang="en-US" dirty="0" smtClean="0"/>
              <a:t>arrange(df1k</a:t>
            </a:r>
            <a:r>
              <a:rPr lang="en-US" dirty="0"/>
              <a:t>, ACRES)</a:t>
            </a:r>
            <a:endParaRPr lang="en-US" sz="24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785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549" y="1"/>
            <a:ext cx="11595763" cy="668739"/>
          </a:xfrm>
        </p:spPr>
        <p:txBody>
          <a:bodyPr>
            <a:normAutofit fontScale="90000"/>
          </a:bodyPr>
          <a:lstStyle/>
          <a:p>
            <a:r>
              <a:rPr lang="en-US" b="1" u="sng" dirty="0" smtClean="0">
                <a:solidFill>
                  <a:srgbClr val="FF0000"/>
                </a:solidFill>
              </a:rPr>
              <a:t>Exercise 4: Arranging Rows with mutate()</a:t>
            </a:r>
            <a:endParaRPr lang="en-US" u="sng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478" y="627798"/>
            <a:ext cx="12055522" cy="6230202"/>
          </a:xfrm>
        </p:spPr>
        <p:txBody>
          <a:bodyPr>
            <a:normAutofit/>
          </a:bodyPr>
          <a:lstStyle/>
          <a:p>
            <a:r>
              <a:rPr lang="en-US" sz="3000" dirty="0" smtClean="0"/>
              <a:t>The mutate() function is used to add new columns to the resulted data frame.</a:t>
            </a:r>
          </a:p>
          <a:p>
            <a:r>
              <a:rPr lang="en-US" sz="3000" dirty="0" smtClean="0"/>
              <a:t>The new columns will be added to the end of the data frame.</a:t>
            </a:r>
          </a:p>
          <a:p>
            <a:r>
              <a:rPr lang="en-US" sz="3000" dirty="0" smtClean="0"/>
              <a:t>Dynamically creates new columns that are the result of operations performed on other columns from the data frame.</a:t>
            </a:r>
          </a:p>
          <a:p>
            <a:r>
              <a:rPr lang="en-US" sz="3000" dirty="0" smtClean="0"/>
              <a:t>The </a:t>
            </a:r>
            <a:r>
              <a:rPr lang="en-US" sz="3000" dirty="0" err="1" smtClean="0"/>
              <a:t>lubridate</a:t>
            </a:r>
            <a:r>
              <a:rPr lang="en-US" sz="3000" dirty="0" smtClean="0"/>
              <a:t> package is  used to work with dates and times.</a:t>
            </a:r>
            <a:endParaRPr lang="en-US" sz="3000" dirty="0"/>
          </a:p>
          <a:p>
            <a:r>
              <a:rPr lang="en-US" sz="3000" dirty="0"/>
              <a:t>Use the </a:t>
            </a:r>
            <a:r>
              <a:rPr lang="en-US" sz="3000" dirty="0" err="1"/>
              <a:t>read_csv</a:t>
            </a:r>
            <a:r>
              <a:rPr lang="en-US" sz="3000" dirty="0"/>
              <a:t>() function to load the dataset into a data frame.</a:t>
            </a:r>
          </a:p>
          <a:p>
            <a:r>
              <a:rPr lang="en-US" sz="3000" dirty="0" err="1"/>
              <a:t>dfFires</a:t>
            </a:r>
            <a:r>
              <a:rPr lang="en-US" sz="3000" dirty="0"/>
              <a:t> = </a:t>
            </a:r>
            <a:r>
              <a:rPr lang="en-US" sz="3000" dirty="0" err="1"/>
              <a:t>read_csv</a:t>
            </a:r>
            <a:r>
              <a:rPr lang="en-US" sz="3000" dirty="0"/>
              <a:t>(“StudyArea.csv”, </a:t>
            </a:r>
            <a:r>
              <a:rPr lang="en-US" sz="3000" dirty="0" err="1"/>
              <a:t>col_types</a:t>
            </a:r>
            <a:r>
              <a:rPr lang="en-US" sz="3000" dirty="0"/>
              <a:t> = list(UNIT = </a:t>
            </a:r>
            <a:r>
              <a:rPr lang="en-US" sz="3000" dirty="0" err="1"/>
              <a:t>col_character</a:t>
            </a:r>
            <a:r>
              <a:rPr lang="en-US" sz="3000" dirty="0" smtClean="0"/>
              <a:t>()), </a:t>
            </a:r>
            <a:r>
              <a:rPr lang="en-US" sz="3000" dirty="0" err="1" smtClean="0"/>
              <a:t>col_names</a:t>
            </a:r>
            <a:r>
              <a:rPr lang="en-US" sz="3000" dirty="0" smtClean="0"/>
              <a:t> </a:t>
            </a:r>
            <a:r>
              <a:rPr lang="en-US" sz="3000" dirty="0"/>
              <a:t>= TRUE</a:t>
            </a:r>
            <a:r>
              <a:rPr lang="en-US" sz="3000" dirty="0" smtClean="0"/>
              <a:t>)</a:t>
            </a:r>
          </a:p>
          <a:p>
            <a:r>
              <a:rPr lang="en-US" sz="3000" dirty="0"/>
              <a:t>Use the select</a:t>
            </a:r>
            <a:r>
              <a:rPr lang="en-US" sz="3000" dirty="0" smtClean="0"/>
              <a:t>() function </a:t>
            </a:r>
            <a:r>
              <a:rPr lang="en-US" sz="3000" dirty="0"/>
              <a:t>to define a set of columns for the data frame.</a:t>
            </a:r>
          </a:p>
          <a:p>
            <a:r>
              <a:rPr lang="en-US" sz="3000" dirty="0" err="1"/>
              <a:t>df</a:t>
            </a:r>
            <a:r>
              <a:rPr lang="en-US" sz="3000" dirty="0"/>
              <a:t> = select(</a:t>
            </a:r>
            <a:r>
              <a:rPr lang="en-US" sz="3000" dirty="0" err="1"/>
              <a:t>dfFires</a:t>
            </a:r>
            <a:r>
              <a:rPr lang="en-US" sz="3000" dirty="0"/>
              <a:t>, ORGANIZATI, STATE, YEAR_, TOTALACRES, CAUSE</a:t>
            </a:r>
            <a:r>
              <a:rPr lang="en-US" sz="3000" dirty="0" smtClean="0"/>
              <a:t>, STARTDATED)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734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549" y="1"/>
            <a:ext cx="11595763" cy="668739"/>
          </a:xfrm>
        </p:spPr>
        <p:txBody>
          <a:bodyPr>
            <a:normAutofit fontScale="90000"/>
          </a:bodyPr>
          <a:lstStyle/>
          <a:p>
            <a:r>
              <a:rPr lang="en-US" b="1" u="sng" dirty="0" smtClean="0">
                <a:solidFill>
                  <a:srgbClr val="FF0000"/>
                </a:solidFill>
              </a:rPr>
              <a:t>Exercise 4: </a:t>
            </a:r>
            <a:r>
              <a:rPr lang="en-US" b="1" u="sng" dirty="0" err="1" smtClean="0">
                <a:solidFill>
                  <a:srgbClr val="FF0000"/>
                </a:solidFill>
              </a:rPr>
              <a:t>Cont</a:t>
            </a:r>
            <a:r>
              <a:rPr lang="en-US" b="1" u="sng" dirty="0" smtClean="0">
                <a:solidFill>
                  <a:srgbClr val="FF0000"/>
                </a:solidFill>
              </a:rPr>
              <a:t>….</a:t>
            </a:r>
            <a:endParaRPr lang="en-US" u="sng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7798"/>
            <a:ext cx="12192000" cy="6230202"/>
          </a:xfrm>
        </p:spPr>
        <p:txBody>
          <a:bodyPr>
            <a:normAutofit/>
          </a:bodyPr>
          <a:lstStyle/>
          <a:p>
            <a:r>
              <a:rPr lang="en-US" sz="3200" dirty="0" smtClean="0"/>
              <a:t>Do </a:t>
            </a:r>
            <a:r>
              <a:rPr lang="en-US" sz="3200" dirty="0"/>
              <a:t>some basic filtering of the data so that only fires greater than 1,000 </a:t>
            </a:r>
            <a:r>
              <a:rPr lang="en-US" sz="3200" dirty="0" smtClean="0"/>
              <a:t>acres burned </a:t>
            </a:r>
            <a:r>
              <a:rPr lang="en-US" sz="3200" dirty="0"/>
              <a:t>and have a cause of Human or Natural are included. There are </a:t>
            </a:r>
            <a:r>
              <a:rPr lang="en-US" sz="3200" dirty="0" smtClean="0"/>
              <a:t>some records </a:t>
            </a:r>
            <a:r>
              <a:rPr lang="en-US" sz="3200" dirty="0"/>
              <a:t>marked as Unknown in the dataset, so we’ll remove those for </a:t>
            </a:r>
            <a:r>
              <a:rPr lang="en-US" sz="3200" dirty="0" smtClean="0"/>
              <a:t>this exercise</a:t>
            </a:r>
            <a:r>
              <a:rPr lang="en-US" sz="3200" dirty="0"/>
              <a:t>.</a:t>
            </a:r>
          </a:p>
          <a:p>
            <a:pPr lvl="1"/>
            <a:r>
              <a:rPr lang="en-US" sz="2800" dirty="0" err="1"/>
              <a:t>df</a:t>
            </a:r>
            <a:r>
              <a:rPr lang="en-US" sz="2800" dirty="0"/>
              <a:t> = filter(</a:t>
            </a:r>
            <a:r>
              <a:rPr lang="en-US" sz="2800" dirty="0" err="1"/>
              <a:t>df</a:t>
            </a:r>
            <a:r>
              <a:rPr lang="en-US" sz="2800" dirty="0"/>
              <a:t>, TOTALACRES &gt;= 1000 &amp; CAUSE %in% c(‘Human’, ‘Natural’))</a:t>
            </a:r>
          </a:p>
          <a:p>
            <a:r>
              <a:rPr lang="en-US" sz="3200" dirty="0" smtClean="0"/>
              <a:t>Use </a:t>
            </a:r>
            <a:r>
              <a:rPr lang="en-US" sz="3200" dirty="0"/>
              <a:t>the mutate() function to create a new DOY column that contains the </a:t>
            </a:r>
            <a:r>
              <a:rPr lang="en-US" sz="3200" dirty="0" smtClean="0"/>
              <a:t>day of </a:t>
            </a:r>
            <a:r>
              <a:rPr lang="en-US" sz="3200" dirty="0"/>
              <a:t>the year that the fire started. The </a:t>
            </a:r>
            <a:r>
              <a:rPr lang="en-US" sz="3200" dirty="0" err="1"/>
              <a:t>yday</a:t>
            </a:r>
            <a:r>
              <a:rPr lang="en-US" sz="3200" dirty="0"/>
              <a:t>() function from the </a:t>
            </a:r>
            <a:r>
              <a:rPr lang="en-US" sz="3200" dirty="0" err="1"/>
              <a:t>lubridate</a:t>
            </a:r>
            <a:r>
              <a:rPr lang="en-US" sz="3200" dirty="0"/>
              <a:t> package </a:t>
            </a:r>
            <a:r>
              <a:rPr lang="en-US" sz="3200" dirty="0" smtClean="0"/>
              <a:t>is used </a:t>
            </a:r>
            <a:r>
              <a:rPr lang="en-US" sz="3200" dirty="0"/>
              <a:t>to return the day of the year using a formatted input date from </a:t>
            </a:r>
            <a:r>
              <a:rPr lang="en-US" sz="3200" dirty="0" smtClean="0"/>
              <a:t>the STARTDATED </a:t>
            </a:r>
            <a:r>
              <a:rPr lang="en-US" sz="3200" dirty="0"/>
              <a:t>column.</a:t>
            </a:r>
          </a:p>
          <a:p>
            <a:pPr lvl="1"/>
            <a:r>
              <a:rPr lang="en-US" sz="2800" dirty="0" err="1"/>
              <a:t>df</a:t>
            </a:r>
            <a:r>
              <a:rPr lang="en-US" sz="2800" dirty="0"/>
              <a:t> = mutate(</a:t>
            </a:r>
            <a:r>
              <a:rPr lang="en-US" sz="2800" dirty="0" err="1"/>
              <a:t>df</a:t>
            </a:r>
            <a:r>
              <a:rPr lang="en-US" sz="2800" dirty="0"/>
              <a:t>, DOY = </a:t>
            </a:r>
            <a:r>
              <a:rPr lang="en-US" sz="2800" dirty="0" err="1"/>
              <a:t>yday</a:t>
            </a:r>
            <a:r>
              <a:rPr lang="en-US" sz="2800" dirty="0"/>
              <a:t>(</a:t>
            </a:r>
            <a:r>
              <a:rPr lang="en-US" sz="2800" dirty="0" err="1"/>
              <a:t>as.Date</a:t>
            </a:r>
            <a:r>
              <a:rPr lang="en-US" sz="2800" dirty="0"/>
              <a:t>(</a:t>
            </a:r>
            <a:r>
              <a:rPr lang="en-US" sz="2800" dirty="0" err="1"/>
              <a:t>df$STARTDATED</a:t>
            </a:r>
            <a:r>
              <a:rPr lang="en-US" sz="2800" dirty="0"/>
              <a:t>, format</a:t>
            </a:r>
            <a:r>
              <a:rPr lang="en-US" sz="2800" dirty="0" smtClean="0"/>
              <a:t>=</a:t>
            </a:r>
            <a:r>
              <a:rPr lang="en-US" sz="2800" dirty="0"/>
              <a:t>'</a:t>
            </a:r>
            <a:r>
              <a:rPr lang="en-US" sz="2800" dirty="0" smtClean="0"/>
              <a:t>%</a:t>
            </a:r>
            <a:r>
              <a:rPr lang="en-US" sz="2800" dirty="0"/>
              <a:t>m/%d/%</a:t>
            </a:r>
            <a:r>
              <a:rPr lang="en-US" sz="2800" dirty="0" err="1" smtClean="0"/>
              <a:t>y%H</a:t>
            </a:r>
            <a:r>
              <a:rPr lang="en-US" sz="2800" dirty="0"/>
              <a:t>:%</a:t>
            </a:r>
            <a:r>
              <a:rPr lang="en-US" sz="2800" dirty="0" smtClean="0"/>
              <a:t>M'))</a:t>
            </a:r>
            <a:endParaRPr lang="en-US" sz="2800" dirty="0"/>
          </a:p>
          <a:p>
            <a:r>
              <a:rPr lang="en-US" sz="3200" dirty="0" smtClean="0"/>
              <a:t>View </a:t>
            </a:r>
            <a:r>
              <a:rPr lang="en-US" sz="3200" dirty="0"/>
              <a:t>the resulting DOY column.</a:t>
            </a:r>
          </a:p>
          <a:p>
            <a:pPr lvl="1"/>
            <a:r>
              <a:rPr lang="en-US" dirty="0"/>
              <a:t>View(</a:t>
            </a:r>
            <a:r>
              <a:rPr lang="en-US" dirty="0" err="1"/>
              <a:t>df</a:t>
            </a:r>
            <a:r>
              <a:rPr lang="en-US" dirty="0"/>
              <a:t>)</a:t>
            </a:r>
            <a:endParaRPr lang="en-US" sz="2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10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5263" y="4379496"/>
            <a:ext cx="2286000" cy="2261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34445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549" y="1"/>
            <a:ext cx="11595763" cy="668739"/>
          </a:xfrm>
        </p:spPr>
        <p:txBody>
          <a:bodyPr>
            <a:normAutofit fontScale="90000"/>
          </a:bodyPr>
          <a:lstStyle/>
          <a:p>
            <a:r>
              <a:rPr lang="en-US" b="1" u="sng" dirty="0" smtClean="0">
                <a:solidFill>
                  <a:srgbClr val="FF0000"/>
                </a:solidFill>
              </a:rPr>
              <a:t>Exercise 5: Summarizing and Grouping</a:t>
            </a:r>
            <a:endParaRPr lang="en-US" u="sng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94084"/>
            <a:ext cx="11734800" cy="606391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3200" dirty="0"/>
              <a:t>The summarize() function produces a single row of data </a:t>
            </a:r>
            <a:r>
              <a:rPr lang="en-US" sz="3200" dirty="0" smtClean="0"/>
              <a:t>containing summary </a:t>
            </a:r>
            <a:r>
              <a:rPr lang="en-US" sz="3200" dirty="0"/>
              <a:t>statistics from a data frame</a:t>
            </a:r>
            <a:r>
              <a:rPr lang="en-US" sz="3200" dirty="0" smtClean="0"/>
              <a:t>.</a:t>
            </a:r>
            <a:endParaRPr lang="en-US" sz="3200" dirty="0"/>
          </a:p>
          <a:p>
            <a:pPr>
              <a:spcAft>
                <a:spcPts val="600"/>
              </a:spcAft>
            </a:pPr>
            <a:r>
              <a:rPr lang="en-US" sz="3200" dirty="0"/>
              <a:t>This function is normally paired with </a:t>
            </a:r>
            <a:r>
              <a:rPr lang="en-US" sz="3200" dirty="0" smtClean="0"/>
              <a:t>the </a:t>
            </a:r>
            <a:r>
              <a:rPr lang="en-US" sz="3200" dirty="0" err="1" smtClean="0"/>
              <a:t>group_by</a:t>
            </a:r>
            <a:r>
              <a:rPr lang="en-US" sz="3200" dirty="0"/>
              <a:t>() function to </a:t>
            </a:r>
            <a:r>
              <a:rPr lang="en-US" sz="3200" dirty="0" smtClean="0"/>
              <a:t>prod</a:t>
            </a:r>
            <a:r>
              <a:rPr lang="en-US" sz="3200" dirty="0"/>
              <a:t>uce group summary statistics.</a:t>
            </a:r>
          </a:p>
          <a:p>
            <a:pPr>
              <a:spcAft>
                <a:spcPts val="600"/>
              </a:spcAft>
            </a:pPr>
            <a:r>
              <a:rPr lang="en-US" sz="3200" dirty="0" smtClean="0"/>
              <a:t>The </a:t>
            </a:r>
            <a:r>
              <a:rPr lang="en-US" sz="3200" dirty="0"/>
              <a:t>grouping of data in a data frame facilitates the </a:t>
            </a:r>
            <a:r>
              <a:rPr lang="en-US" sz="3200" dirty="0" smtClean="0"/>
              <a:t>split-apply-combine paradigm.</a:t>
            </a:r>
          </a:p>
          <a:p>
            <a:pPr>
              <a:spcAft>
                <a:spcPts val="600"/>
              </a:spcAft>
            </a:pPr>
            <a:r>
              <a:rPr lang="en-US" sz="3200" dirty="0" smtClean="0"/>
              <a:t>In this, use </a:t>
            </a:r>
            <a:r>
              <a:rPr lang="en-US" sz="3200" dirty="0"/>
              <a:t>the mutate(), summarize(), and </a:t>
            </a:r>
            <a:r>
              <a:rPr lang="en-US" sz="3200" dirty="0" err="1"/>
              <a:t>group_by</a:t>
            </a:r>
            <a:r>
              <a:rPr lang="en-US" sz="3200" dirty="0"/>
              <a:t>() functions </a:t>
            </a:r>
            <a:r>
              <a:rPr lang="en-US" sz="3200" dirty="0" smtClean="0"/>
              <a:t>to group </a:t>
            </a:r>
            <a:r>
              <a:rPr lang="en-US" sz="3200" dirty="0"/>
              <a:t>wildfires by decade and produce a summary of the mean </a:t>
            </a:r>
            <a:r>
              <a:rPr lang="en-US" sz="3200" dirty="0" smtClean="0"/>
              <a:t>wildfire </a:t>
            </a:r>
            <a:r>
              <a:rPr lang="en-US" sz="3200" dirty="0"/>
              <a:t>size </a:t>
            </a:r>
            <a:r>
              <a:rPr lang="en-US" sz="3200" dirty="0" smtClean="0"/>
              <a:t>for each </a:t>
            </a:r>
            <a:r>
              <a:rPr lang="en-US" sz="3200" dirty="0"/>
              <a:t>decade</a:t>
            </a:r>
            <a:r>
              <a:rPr lang="en-US" sz="3200" dirty="0" smtClean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73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549" y="1"/>
            <a:ext cx="11595763" cy="668739"/>
          </a:xfrm>
        </p:spPr>
        <p:txBody>
          <a:bodyPr>
            <a:normAutofit fontScale="90000"/>
          </a:bodyPr>
          <a:lstStyle/>
          <a:p>
            <a:r>
              <a:rPr lang="en-US" b="1" u="sng" dirty="0" smtClean="0">
                <a:solidFill>
                  <a:srgbClr val="FF0000"/>
                </a:solidFill>
              </a:rPr>
              <a:t>Exercise 5: </a:t>
            </a:r>
            <a:r>
              <a:rPr lang="en-US" b="1" u="sng" dirty="0" err="1" smtClean="0">
                <a:solidFill>
                  <a:srgbClr val="FF0000"/>
                </a:solidFill>
              </a:rPr>
              <a:t>Cont</a:t>
            </a:r>
            <a:r>
              <a:rPr lang="en-US" b="1" u="sng" dirty="0" smtClean="0">
                <a:solidFill>
                  <a:srgbClr val="FF0000"/>
                </a:solidFill>
              </a:rPr>
              <a:t>….</a:t>
            </a:r>
            <a:endParaRPr lang="en-US" u="sng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7798"/>
            <a:ext cx="12192000" cy="6230202"/>
          </a:xfrm>
        </p:spPr>
        <p:txBody>
          <a:bodyPr>
            <a:normAutofit lnSpcReduction="10000"/>
          </a:bodyPr>
          <a:lstStyle/>
          <a:p>
            <a:r>
              <a:rPr lang="en-US" sz="3200" dirty="0" smtClean="0"/>
              <a:t>Use </a:t>
            </a:r>
            <a:r>
              <a:rPr lang="en-US" sz="3200" dirty="0"/>
              <a:t>the </a:t>
            </a:r>
            <a:r>
              <a:rPr lang="en-US" sz="3200" dirty="0" err="1"/>
              <a:t>read_csv</a:t>
            </a:r>
            <a:r>
              <a:rPr lang="en-US" sz="3200" dirty="0"/>
              <a:t>() function to load the dataset into a data frame.</a:t>
            </a:r>
          </a:p>
          <a:p>
            <a:pPr marL="0" indent="0">
              <a:buNone/>
            </a:pPr>
            <a:r>
              <a:rPr lang="en-US" sz="3200" dirty="0" smtClean="0"/>
              <a:t>        </a:t>
            </a:r>
            <a:r>
              <a:rPr lang="en-US" sz="3200" dirty="0" err="1" smtClean="0"/>
              <a:t>dfFires</a:t>
            </a:r>
            <a:r>
              <a:rPr lang="en-US" sz="3200" dirty="0" smtClean="0"/>
              <a:t> </a:t>
            </a:r>
            <a:r>
              <a:rPr lang="en-US" sz="3200" dirty="0"/>
              <a:t>= </a:t>
            </a:r>
            <a:r>
              <a:rPr lang="en-US" sz="3200" dirty="0" err="1"/>
              <a:t>read_csv</a:t>
            </a:r>
            <a:r>
              <a:rPr lang="en-US" sz="3200" dirty="0"/>
              <a:t>(“StudyArea.csv”, </a:t>
            </a:r>
            <a:r>
              <a:rPr lang="en-US" sz="3200" dirty="0" err="1"/>
              <a:t>col_types</a:t>
            </a:r>
            <a:r>
              <a:rPr lang="en-US" sz="3200" dirty="0"/>
              <a:t> = list(UNIT </a:t>
            </a:r>
            <a:r>
              <a:rPr lang="en-US" sz="3200" dirty="0" smtClean="0"/>
              <a:t>=    </a:t>
            </a:r>
          </a:p>
          <a:p>
            <a:pPr marL="0" indent="0">
              <a:buNone/>
            </a:pPr>
            <a:r>
              <a:rPr lang="en-US" sz="3200" dirty="0"/>
              <a:t> </a:t>
            </a:r>
            <a:r>
              <a:rPr lang="en-US" sz="3200" dirty="0" smtClean="0"/>
              <a:t>           </a:t>
            </a:r>
            <a:r>
              <a:rPr lang="en-US" sz="3200" dirty="0" err="1" smtClean="0"/>
              <a:t>col_character</a:t>
            </a:r>
            <a:r>
              <a:rPr lang="en-US" sz="3200" dirty="0" smtClean="0"/>
              <a:t>()), </a:t>
            </a:r>
            <a:r>
              <a:rPr lang="en-US" sz="3200" dirty="0" err="1" smtClean="0"/>
              <a:t>col_names</a:t>
            </a:r>
            <a:r>
              <a:rPr lang="en-US" sz="3200" dirty="0" smtClean="0"/>
              <a:t> </a:t>
            </a:r>
            <a:r>
              <a:rPr lang="en-US" sz="3200" dirty="0"/>
              <a:t>= TRUE</a:t>
            </a:r>
            <a:r>
              <a:rPr lang="en-US" sz="3200" dirty="0" smtClean="0"/>
              <a:t>)</a:t>
            </a:r>
          </a:p>
          <a:p>
            <a:r>
              <a:rPr lang="en-US" sz="3200" dirty="0" smtClean="0"/>
              <a:t>Select </a:t>
            </a:r>
            <a:r>
              <a:rPr lang="en-US" sz="3200" dirty="0"/>
              <a:t>the columns that will be used in the exercise.</a:t>
            </a:r>
          </a:p>
          <a:p>
            <a:pPr marL="0" indent="0">
              <a:buNone/>
            </a:pPr>
            <a:r>
              <a:rPr lang="en-US" sz="3200" dirty="0" smtClean="0"/>
              <a:t>      </a:t>
            </a:r>
            <a:r>
              <a:rPr lang="en-US" sz="3200" dirty="0" err="1" smtClean="0"/>
              <a:t>df</a:t>
            </a:r>
            <a:r>
              <a:rPr lang="en-US" sz="3200" dirty="0" smtClean="0"/>
              <a:t> </a:t>
            </a:r>
            <a:r>
              <a:rPr lang="en-US" sz="3200" dirty="0"/>
              <a:t>= select(</a:t>
            </a:r>
            <a:r>
              <a:rPr lang="en-US" sz="3200" dirty="0" err="1"/>
              <a:t>dfFires</a:t>
            </a:r>
            <a:r>
              <a:rPr lang="en-US" sz="3200" dirty="0"/>
              <a:t>, ORGANIZATI, STATE, YEAR_, TOTALACRES, CAUSE)</a:t>
            </a:r>
          </a:p>
          <a:p>
            <a:r>
              <a:rPr lang="en-US" sz="3200" dirty="0" smtClean="0"/>
              <a:t>Filter </a:t>
            </a:r>
            <a:r>
              <a:rPr lang="en-US" sz="3200" dirty="0"/>
              <a:t>the records</a:t>
            </a:r>
            <a:r>
              <a:rPr lang="en-US" sz="3200" dirty="0" smtClean="0"/>
              <a:t>.   </a:t>
            </a:r>
            <a:r>
              <a:rPr lang="en-US" sz="3200" dirty="0" err="1" smtClean="0"/>
              <a:t>df</a:t>
            </a:r>
            <a:r>
              <a:rPr lang="en-US" sz="3200" dirty="0" smtClean="0"/>
              <a:t> = filter(</a:t>
            </a:r>
            <a:r>
              <a:rPr lang="en-US" sz="3200" dirty="0" err="1" smtClean="0"/>
              <a:t>df</a:t>
            </a:r>
            <a:r>
              <a:rPr lang="en-US" sz="3200" dirty="0" smtClean="0"/>
              <a:t>, TOTALACRES &gt;= 1000)</a:t>
            </a:r>
          </a:p>
          <a:p>
            <a:r>
              <a:rPr lang="en-US" sz="3200" dirty="0" smtClean="0"/>
              <a:t>Use </a:t>
            </a:r>
            <a:r>
              <a:rPr lang="en-US" sz="3200" dirty="0"/>
              <a:t>the mutate() function to create a new column called DECADE </a:t>
            </a:r>
            <a:r>
              <a:rPr lang="en-US" sz="3200" dirty="0" smtClean="0"/>
              <a:t>that defines </a:t>
            </a:r>
            <a:r>
              <a:rPr lang="en-US" sz="3200" dirty="0"/>
              <a:t>the decade in which each fire occurred. In this case an </a:t>
            </a:r>
            <a:r>
              <a:rPr lang="en-US" sz="3200" dirty="0" err="1"/>
              <a:t>ifelse</a:t>
            </a:r>
            <a:r>
              <a:rPr lang="en-US" sz="3200" dirty="0"/>
              <a:t>() function </a:t>
            </a:r>
            <a:r>
              <a:rPr lang="en-US" sz="3200" dirty="0" smtClean="0"/>
              <a:t>is called </a:t>
            </a:r>
            <a:r>
              <a:rPr lang="en-US" sz="3200" dirty="0"/>
              <a:t>to produce the values for each decade</a:t>
            </a:r>
            <a:r>
              <a:rPr lang="en-US" sz="3200" dirty="0" smtClean="0"/>
              <a:t>. </a:t>
            </a:r>
          </a:p>
          <a:p>
            <a:pPr marL="0" indent="0">
              <a:buNone/>
            </a:pPr>
            <a:r>
              <a:rPr lang="en-US" sz="3200" dirty="0" smtClean="0"/>
              <a:t>  </a:t>
            </a:r>
            <a:r>
              <a:rPr lang="en-US" sz="3200" dirty="0" err="1" smtClean="0"/>
              <a:t>df</a:t>
            </a:r>
            <a:r>
              <a:rPr lang="en-US" sz="3200" dirty="0" smtClean="0"/>
              <a:t> </a:t>
            </a:r>
            <a:r>
              <a:rPr lang="en-US" sz="3200" dirty="0"/>
              <a:t>&lt;- mutate(</a:t>
            </a:r>
            <a:r>
              <a:rPr lang="en-US" sz="3200" dirty="0" err="1"/>
              <a:t>df</a:t>
            </a:r>
            <a:r>
              <a:rPr lang="en-US" sz="3200" dirty="0"/>
              <a:t>, DECADE = </a:t>
            </a:r>
            <a:r>
              <a:rPr lang="en-US" sz="3200" dirty="0" err="1"/>
              <a:t>ifelse</a:t>
            </a:r>
            <a:r>
              <a:rPr lang="en-US" sz="3200" dirty="0"/>
              <a:t>(YEAR_ %in% 1980:1989, "1980-1989", </a:t>
            </a:r>
            <a:r>
              <a:rPr lang="en-US" sz="3200" dirty="0" err="1"/>
              <a:t>ifelse</a:t>
            </a:r>
            <a:r>
              <a:rPr lang="en-US" sz="3200" dirty="0"/>
              <a:t>(YEAR_ %in% 1990:1999, "1990-1999", </a:t>
            </a:r>
            <a:r>
              <a:rPr lang="en-US" sz="3200" dirty="0" err="1"/>
              <a:t>ifelse</a:t>
            </a:r>
            <a:r>
              <a:rPr lang="en-US" sz="3200" dirty="0"/>
              <a:t>(YEAR_ %in% 2000:2009, "2000-2009", </a:t>
            </a:r>
            <a:r>
              <a:rPr lang="en-US" sz="3200" dirty="0" err="1"/>
              <a:t>ifelse</a:t>
            </a:r>
            <a:r>
              <a:rPr lang="en-US" sz="3200" dirty="0"/>
              <a:t>(YEAR_ %in% 2010:2016, "2010-2016", "-99</a:t>
            </a:r>
            <a:r>
              <a:rPr lang="en-US" sz="3200" dirty="0" smtClean="0"/>
              <a:t>")))))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899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549" y="1"/>
            <a:ext cx="11595763" cy="668739"/>
          </a:xfrm>
        </p:spPr>
        <p:txBody>
          <a:bodyPr>
            <a:normAutofit fontScale="90000"/>
          </a:bodyPr>
          <a:lstStyle/>
          <a:p>
            <a:r>
              <a:rPr lang="en-US" b="1" u="sng" dirty="0" smtClean="0">
                <a:solidFill>
                  <a:srgbClr val="FF0000"/>
                </a:solidFill>
              </a:rPr>
              <a:t>Exercise 5: </a:t>
            </a:r>
            <a:r>
              <a:rPr lang="en-US" b="1" u="sng" dirty="0" err="1" smtClean="0">
                <a:solidFill>
                  <a:srgbClr val="FF0000"/>
                </a:solidFill>
              </a:rPr>
              <a:t>Cont</a:t>
            </a:r>
            <a:r>
              <a:rPr lang="en-US" b="1" u="sng" dirty="0" smtClean="0">
                <a:solidFill>
                  <a:srgbClr val="FF0000"/>
                </a:solidFill>
              </a:rPr>
              <a:t>….</a:t>
            </a:r>
            <a:endParaRPr lang="en-US" u="sng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7798"/>
            <a:ext cx="12192000" cy="6230202"/>
          </a:xfrm>
        </p:spPr>
        <p:txBody>
          <a:bodyPr>
            <a:normAutofit/>
          </a:bodyPr>
          <a:lstStyle/>
          <a:p>
            <a:r>
              <a:rPr lang="en-US" sz="3200" dirty="0"/>
              <a:t>View the result.</a:t>
            </a:r>
          </a:p>
          <a:p>
            <a:pPr marL="0" indent="0">
              <a:buNone/>
            </a:pPr>
            <a:r>
              <a:rPr lang="en-US" sz="3200" dirty="0" smtClean="0"/>
              <a:t>    View(</a:t>
            </a:r>
            <a:r>
              <a:rPr lang="en-US" sz="3200" dirty="0" err="1" smtClean="0"/>
              <a:t>df</a:t>
            </a:r>
            <a:r>
              <a:rPr lang="en-US" sz="3200" dirty="0" smtClean="0"/>
              <a:t>)</a:t>
            </a:r>
          </a:p>
          <a:p>
            <a:r>
              <a:rPr lang="en-US" sz="3200" dirty="0" smtClean="0"/>
              <a:t>Use </a:t>
            </a:r>
            <a:r>
              <a:rPr lang="en-US" sz="3200" dirty="0"/>
              <a:t>the </a:t>
            </a:r>
            <a:r>
              <a:rPr lang="en-US" sz="3200" dirty="0" err="1"/>
              <a:t>group_by</a:t>
            </a:r>
            <a:r>
              <a:rPr lang="en-US" sz="3200" dirty="0"/>
              <a:t>() function to group the data frame by </a:t>
            </a:r>
            <a:r>
              <a:rPr lang="en-US" sz="3200" dirty="0" smtClean="0"/>
              <a:t>decade.</a:t>
            </a:r>
          </a:p>
          <a:p>
            <a:pPr marL="0" indent="0">
              <a:buNone/>
            </a:pPr>
            <a:r>
              <a:rPr lang="en-US" sz="3200" dirty="0" smtClean="0"/>
              <a:t>       </a:t>
            </a:r>
            <a:r>
              <a:rPr lang="en-US" sz="3200" dirty="0" err="1" smtClean="0"/>
              <a:t>grp</a:t>
            </a:r>
            <a:r>
              <a:rPr lang="en-US" sz="3200" dirty="0" smtClean="0"/>
              <a:t> = </a:t>
            </a:r>
            <a:r>
              <a:rPr lang="en-US" sz="3200" dirty="0" err="1" smtClean="0"/>
              <a:t>group_by</a:t>
            </a:r>
            <a:r>
              <a:rPr lang="en-US" sz="3200" dirty="0" smtClean="0"/>
              <a:t>(</a:t>
            </a:r>
            <a:r>
              <a:rPr lang="en-US" sz="3200" dirty="0" err="1" smtClean="0"/>
              <a:t>df</a:t>
            </a:r>
            <a:r>
              <a:rPr lang="en-US" sz="3200" dirty="0" smtClean="0"/>
              <a:t>, DECADE)</a:t>
            </a:r>
          </a:p>
          <a:p>
            <a:r>
              <a:rPr lang="en-US" sz="3200" dirty="0" smtClean="0"/>
              <a:t>Summarize </a:t>
            </a:r>
            <a:r>
              <a:rPr lang="en-US" sz="3200" dirty="0"/>
              <a:t>the mean size of wildfires by decade using the summarize</a:t>
            </a:r>
            <a:r>
              <a:rPr lang="en-US" sz="3200" dirty="0" smtClean="0"/>
              <a:t>() function</a:t>
            </a:r>
            <a:r>
              <a:rPr lang="en-US" sz="3200" dirty="0"/>
              <a:t>.</a:t>
            </a:r>
          </a:p>
          <a:p>
            <a:pPr marL="0" indent="0">
              <a:buNone/>
            </a:pPr>
            <a:r>
              <a:rPr lang="en-US" sz="3200" dirty="0" smtClean="0"/>
              <a:t>    </a:t>
            </a:r>
            <a:r>
              <a:rPr lang="en-US" sz="3200" dirty="0" err="1" smtClean="0"/>
              <a:t>sm</a:t>
            </a:r>
            <a:r>
              <a:rPr lang="en-US" sz="3200" dirty="0" smtClean="0"/>
              <a:t> </a:t>
            </a:r>
            <a:r>
              <a:rPr lang="en-US" sz="3200" dirty="0"/>
              <a:t>= summarize(</a:t>
            </a:r>
            <a:r>
              <a:rPr lang="en-US" sz="3200" dirty="0" err="1"/>
              <a:t>grp</a:t>
            </a:r>
            <a:r>
              <a:rPr lang="en-US" sz="3200" dirty="0"/>
              <a:t>, mean(TOTALACRES))</a:t>
            </a:r>
          </a:p>
          <a:p>
            <a:r>
              <a:rPr lang="en-US" sz="3200" dirty="0" smtClean="0"/>
              <a:t>View </a:t>
            </a:r>
            <a:r>
              <a:rPr lang="en-US" sz="3200" dirty="0"/>
              <a:t>the result.</a:t>
            </a:r>
          </a:p>
          <a:p>
            <a:pPr marL="0" indent="0">
              <a:buNone/>
            </a:pPr>
            <a:r>
              <a:rPr lang="en-US" sz="3200" dirty="0" smtClean="0"/>
              <a:t>      View(</a:t>
            </a:r>
            <a:r>
              <a:rPr lang="en-US" sz="3200" dirty="0" err="1" smtClean="0"/>
              <a:t>sm</a:t>
            </a:r>
            <a:r>
              <a:rPr lang="en-US" sz="3200" dirty="0"/>
              <a:t>)</a:t>
            </a:r>
            <a:endParaRPr lang="en-US" sz="32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13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9895" y="4138863"/>
            <a:ext cx="4296777" cy="23341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84452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549" y="1"/>
            <a:ext cx="11595763" cy="668739"/>
          </a:xfrm>
        </p:spPr>
        <p:txBody>
          <a:bodyPr>
            <a:normAutofit fontScale="90000"/>
          </a:bodyPr>
          <a:lstStyle/>
          <a:p>
            <a:r>
              <a:rPr lang="en-US" b="1" u="sng" dirty="0" smtClean="0">
                <a:solidFill>
                  <a:srgbClr val="FF0000"/>
                </a:solidFill>
              </a:rPr>
              <a:t>Exercise 5: </a:t>
            </a:r>
            <a:r>
              <a:rPr lang="en-US" b="1" u="sng" dirty="0" err="1" smtClean="0">
                <a:solidFill>
                  <a:srgbClr val="FF0000"/>
                </a:solidFill>
              </a:rPr>
              <a:t>Cont</a:t>
            </a:r>
            <a:r>
              <a:rPr lang="en-US" b="1" u="sng" dirty="0" smtClean="0">
                <a:solidFill>
                  <a:srgbClr val="FF0000"/>
                </a:solidFill>
              </a:rPr>
              <a:t>….</a:t>
            </a:r>
            <a:endParaRPr lang="en-US" u="sng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2820" y="627798"/>
            <a:ext cx="11879179" cy="6230202"/>
          </a:xfrm>
        </p:spPr>
        <p:txBody>
          <a:bodyPr>
            <a:normAutofit/>
          </a:bodyPr>
          <a:lstStyle/>
          <a:p>
            <a:r>
              <a:rPr lang="en-US" sz="3200" dirty="0"/>
              <a:t>Let’s </a:t>
            </a:r>
            <a:r>
              <a:rPr lang="en-US" sz="3200" dirty="0" smtClean="0"/>
              <a:t>tidy things </a:t>
            </a:r>
            <a:r>
              <a:rPr lang="en-US" sz="3200" dirty="0"/>
              <a:t>up by renaming the new column produced by the summarize</a:t>
            </a:r>
            <a:r>
              <a:rPr lang="en-US" sz="3200" dirty="0" smtClean="0"/>
              <a:t>() function</a:t>
            </a:r>
            <a:r>
              <a:rPr lang="en-US" sz="3200" dirty="0"/>
              <a:t>.</a:t>
            </a:r>
          </a:p>
          <a:p>
            <a:pPr marL="0" indent="0">
              <a:buNone/>
            </a:pPr>
            <a:r>
              <a:rPr lang="en-US" sz="3200" dirty="0" smtClean="0"/>
              <a:t>       names(</a:t>
            </a:r>
            <a:r>
              <a:rPr lang="en-US" sz="3200" dirty="0" err="1" smtClean="0"/>
              <a:t>sm</a:t>
            </a:r>
            <a:r>
              <a:rPr lang="en-US" sz="3200" dirty="0"/>
              <a:t>) &lt;- c(“DECADE”, “MEAN_ACRES_BURNED”)</a:t>
            </a:r>
          </a:p>
          <a:p>
            <a:r>
              <a:rPr lang="en-US" sz="3200" dirty="0" smtClean="0"/>
              <a:t>Finally</a:t>
            </a:r>
            <a:r>
              <a:rPr lang="en-US" sz="3200" dirty="0"/>
              <a:t>, let’s create a bar chart of the results. </a:t>
            </a:r>
            <a:endParaRPr lang="en-US" sz="3200" dirty="0" smtClean="0"/>
          </a:p>
          <a:p>
            <a:pPr marL="0" indent="0">
              <a:buNone/>
            </a:pPr>
            <a:r>
              <a:rPr lang="en-US" sz="3200" dirty="0"/>
              <a:t> </a:t>
            </a:r>
            <a:r>
              <a:rPr lang="en-US" sz="3200" dirty="0" smtClean="0"/>
              <a:t>      </a:t>
            </a:r>
            <a:r>
              <a:rPr lang="en-US" sz="3200" dirty="0" err="1" smtClean="0"/>
              <a:t>ggplot</a:t>
            </a:r>
            <a:r>
              <a:rPr lang="en-US" sz="3200" dirty="0" smtClean="0"/>
              <a:t>(data=</a:t>
            </a:r>
            <a:r>
              <a:rPr lang="en-US" sz="3200" dirty="0" err="1" smtClean="0"/>
              <a:t>sm</a:t>
            </a:r>
            <a:r>
              <a:rPr lang="en-US" sz="3200" dirty="0"/>
              <a:t>) + </a:t>
            </a:r>
            <a:r>
              <a:rPr lang="en-US" sz="3200" dirty="0" err="1"/>
              <a:t>geom_col</a:t>
            </a:r>
            <a:r>
              <a:rPr lang="en-US" sz="3200" dirty="0"/>
              <a:t>(mapping = </a:t>
            </a:r>
            <a:r>
              <a:rPr lang="en-US" sz="3200" dirty="0" err="1"/>
              <a:t>aes</a:t>
            </a:r>
            <a:r>
              <a:rPr lang="en-US" sz="3200" dirty="0"/>
              <a:t>(x=DECADE, y=MEAN_ACRES</a:t>
            </a:r>
            <a:r>
              <a:rPr lang="en-US" sz="3200" dirty="0" smtClean="0"/>
              <a:t>_ BURNED</a:t>
            </a:r>
            <a:r>
              <a:rPr lang="en-US" sz="3200" dirty="0"/>
              <a:t>), fill</a:t>
            </a:r>
            <a:r>
              <a:rPr lang="en-US" sz="3200" dirty="0" smtClean="0"/>
              <a:t>="red")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14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4569" y="3429000"/>
            <a:ext cx="5117432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15712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549" y="1"/>
            <a:ext cx="11595763" cy="668739"/>
          </a:xfrm>
        </p:spPr>
        <p:txBody>
          <a:bodyPr>
            <a:normAutofit fontScale="90000"/>
          </a:bodyPr>
          <a:lstStyle/>
          <a:p>
            <a:r>
              <a:rPr lang="en-US" b="1" u="sng" dirty="0" smtClean="0">
                <a:solidFill>
                  <a:srgbClr val="FF0000"/>
                </a:solidFill>
              </a:rPr>
              <a:t>Exercise 6: Piping</a:t>
            </a:r>
            <a:endParaRPr lang="en-US" u="sng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0632" y="627798"/>
            <a:ext cx="11951368" cy="6230202"/>
          </a:xfrm>
        </p:spPr>
        <p:txBody>
          <a:bodyPr>
            <a:normAutofit fontScale="92500" lnSpcReduction="10000"/>
          </a:bodyPr>
          <a:lstStyle/>
          <a:p>
            <a:r>
              <a:rPr lang="en-US" sz="3200" dirty="0" smtClean="0"/>
              <a:t>Piping </a:t>
            </a:r>
            <a:r>
              <a:rPr lang="en-US" sz="3200" dirty="0"/>
              <a:t>is an efficient way of sending the output of one </a:t>
            </a:r>
            <a:r>
              <a:rPr lang="en-US" sz="3200" dirty="0" smtClean="0"/>
              <a:t>function to </a:t>
            </a:r>
            <a:r>
              <a:rPr lang="en-US" sz="3200" dirty="0"/>
              <a:t>another function without creating an intermediate dataset and is most </a:t>
            </a:r>
            <a:r>
              <a:rPr lang="en-US" sz="3200" dirty="0" smtClean="0"/>
              <a:t>useful when </a:t>
            </a:r>
            <a:r>
              <a:rPr lang="en-US" sz="3200" dirty="0"/>
              <a:t>you have a series of functions to run. </a:t>
            </a:r>
            <a:endParaRPr lang="en-US" sz="3200" dirty="0" smtClean="0"/>
          </a:p>
          <a:p>
            <a:r>
              <a:rPr lang="en-US" sz="3200" dirty="0" smtClean="0"/>
              <a:t>The </a:t>
            </a:r>
            <a:r>
              <a:rPr lang="en-US" sz="3200" dirty="0"/>
              <a:t>syntax for piping is to use </a:t>
            </a:r>
            <a:r>
              <a:rPr lang="en-US" sz="3200" dirty="0" smtClean="0"/>
              <a:t>the %&gt;% </a:t>
            </a:r>
            <a:r>
              <a:rPr lang="en-US" sz="3200" dirty="0"/>
              <a:t>characters at the end of each statement that you want to pipe</a:t>
            </a:r>
            <a:r>
              <a:rPr lang="en-US" sz="3200" dirty="0" smtClean="0"/>
              <a:t>.</a:t>
            </a:r>
          </a:p>
          <a:p>
            <a:pPr marL="0" indent="0">
              <a:buNone/>
            </a:pPr>
            <a:r>
              <a:rPr lang="en-US" sz="3200" dirty="0" smtClean="0"/>
              <a:t>    </a:t>
            </a:r>
            <a:r>
              <a:rPr lang="en-US" sz="3200" dirty="0" err="1" smtClean="0"/>
              <a:t>df</a:t>
            </a:r>
            <a:r>
              <a:rPr lang="en-US" sz="3200" dirty="0" smtClean="0"/>
              <a:t> </a:t>
            </a:r>
            <a:r>
              <a:rPr lang="en-US" sz="3200" dirty="0"/>
              <a:t>= </a:t>
            </a:r>
            <a:r>
              <a:rPr lang="en-US" sz="3200" dirty="0" err="1"/>
              <a:t>read_csv</a:t>
            </a:r>
            <a:r>
              <a:rPr lang="en-US" sz="3200" dirty="0"/>
              <a:t>(“StudyArea.csv”, </a:t>
            </a:r>
            <a:r>
              <a:rPr lang="en-US" sz="3200" dirty="0" err="1"/>
              <a:t>col_types</a:t>
            </a:r>
            <a:r>
              <a:rPr lang="en-US" sz="3200" dirty="0"/>
              <a:t> = list(UNIT = </a:t>
            </a:r>
            <a:r>
              <a:rPr lang="en-US" sz="3200" dirty="0" err="1"/>
              <a:t>col_character</a:t>
            </a:r>
            <a:r>
              <a:rPr lang="en-US" sz="3200" dirty="0" smtClean="0"/>
              <a:t>()), </a:t>
            </a:r>
            <a:r>
              <a:rPr lang="en-US" sz="3200" dirty="0" err="1" smtClean="0"/>
              <a:t>col_names</a:t>
            </a:r>
            <a:r>
              <a:rPr lang="en-US" sz="3200" dirty="0" smtClean="0"/>
              <a:t> </a:t>
            </a:r>
            <a:r>
              <a:rPr lang="en-US" sz="3200" dirty="0"/>
              <a:t>= TRUE) </a:t>
            </a:r>
            <a:r>
              <a:rPr lang="en-US" sz="3200" dirty="0" smtClean="0"/>
              <a:t>%&gt;%select(ORGANIZATI</a:t>
            </a:r>
            <a:r>
              <a:rPr lang="en-US" sz="3200" dirty="0"/>
              <a:t>, STATE, YEAR_, </a:t>
            </a:r>
            <a:r>
              <a:rPr lang="en-US" sz="3200" dirty="0" smtClean="0"/>
              <a:t>OTALACRES</a:t>
            </a:r>
            <a:r>
              <a:rPr lang="en-US" sz="3200" dirty="0"/>
              <a:t>, CAUSE</a:t>
            </a:r>
            <a:r>
              <a:rPr lang="en-US" sz="3200" dirty="0" smtClean="0"/>
              <a:t>, STARTDATED</a:t>
            </a:r>
            <a:r>
              <a:rPr lang="en-US" sz="3200" dirty="0"/>
              <a:t>) </a:t>
            </a:r>
            <a:r>
              <a:rPr lang="en-US" sz="3200" dirty="0" smtClean="0"/>
              <a:t>%&gt;%</a:t>
            </a:r>
            <a:r>
              <a:rPr lang="fr-FR" sz="3200" dirty="0" err="1" smtClean="0"/>
              <a:t>filter</a:t>
            </a:r>
            <a:r>
              <a:rPr lang="fr-FR" sz="3200" dirty="0" smtClean="0"/>
              <a:t>(TOTALACRES </a:t>
            </a:r>
            <a:r>
              <a:rPr lang="fr-FR" sz="3200" dirty="0"/>
              <a:t>&gt;= 1000 &amp; CAUSE %in% c(‘</a:t>
            </a:r>
            <a:r>
              <a:rPr lang="fr-FR" sz="3200" dirty="0" err="1"/>
              <a:t>Human</a:t>
            </a:r>
            <a:r>
              <a:rPr lang="fr-FR" sz="3200" dirty="0"/>
              <a:t>’, ‘Natural’)) </a:t>
            </a:r>
            <a:r>
              <a:rPr lang="fr-FR" sz="3200" dirty="0" smtClean="0"/>
              <a:t>%&gt;%</a:t>
            </a:r>
            <a:r>
              <a:rPr lang="en-US" sz="3200" dirty="0" smtClean="0"/>
              <a:t>mutate(DOY </a:t>
            </a:r>
            <a:r>
              <a:rPr lang="en-US" sz="3200" dirty="0"/>
              <a:t>= </a:t>
            </a:r>
            <a:r>
              <a:rPr lang="en-US" sz="3200" dirty="0" err="1"/>
              <a:t>yday</a:t>
            </a:r>
            <a:r>
              <a:rPr lang="en-US" sz="3200" dirty="0"/>
              <a:t>(</a:t>
            </a:r>
            <a:r>
              <a:rPr lang="en-US" sz="3200" dirty="0" err="1"/>
              <a:t>as.Date</a:t>
            </a:r>
            <a:r>
              <a:rPr lang="en-US" sz="3200" dirty="0"/>
              <a:t>(STARTDATED, format=’%m/%d/%y %H:%M’)))</a:t>
            </a:r>
          </a:p>
          <a:p>
            <a:pPr marL="0" indent="0">
              <a:buNone/>
            </a:pPr>
            <a:r>
              <a:rPr lang="en-US" sz="3200" dirty="0"/>
              <a:t> </a:t>
            </a:r>
            <a:r>
              <a:rPr lang="en-US" sz="3200" dirty="0" smtClean="0"/>
              <a:t>   View(</a:t>
            </a:r>
            <a:r>
              <a:rPr lang="en-US" sz="3200" dirty="0" err="1" smtClean="0"/>
              <a:t>df</a:t>
            </a:r>
            <a:r>
              <a:rPr lang="en-US" sz="3200" dirty="0"/>
              <a:t>)</a:t>
            </a:r>
          </a:p>
          <a:p>
            <a:r>
              <a:rPr lang="en-US" sz="3200" dirty="0" smtClean="0"/>
              <a:t>The </a:t>
            </a:r>
            <a:r>
              <a:rPr lang="en-US" sz="3200" dirty="0"/>
              <a:t>inclusion of the piping statement (%&gt;%&gt;) at the </a:t>
            </a:r>
            <a:r>
              <a:rPr lang="en-US" sz="3200" dirty="0" smtClean="0"/>
              <a:t>end of </a:t>
            </a:r>
            <a:r>
              <a:rPr lang="en-US" sz="3200" dirty="0"/>
              <a:t>the line. This ensures that the contents of the </a:t>
            </a:r>
            <a:r>
              <a:rPr lang="en-US" sz="3200" dirty="0" err="1"/>
              <a:t>df</a:t>
            </a:r>
            <a:r>
              <a:rPr lang="en-US" sz="3200" dirty="0"/>
              <a:t> variable will automatically </a:t>
            </a:r>
            <a:r>
              <a:rPr lang="en-US" sz="3200" dirty="0" smtClean="0"/>
              <a:t>be sent </a:t>
            </a:r>
            <a:r>
              <a:rPr lang="en-US" sz="3200" dirty="0"/>
              <a:t>to the select() </a:t>
            </a:r>
            <a:r>
              <a:rPr lang="en-US" sz="3200" dirty="0" smtClean="0"/>
              <a:t>function.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974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1450</Words>
  <Application>Microsoft Office PowerPoint</Application>
  <PresentationFormat>Widescreen</PresentationFormat>
  <Paragraphs>109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Module 4</vt:lpstr>
      <vt:lpstr>Contents</vt:lpstr>
      <vt:lpstr>The dplyr package, part of the tidyverse provides a set of functions to transform a dataset </vt:lpstr>
      <vt:lpstr>PowerPoint Presentation</vt:lpstr>
      <vt:lpstr>Exercise 1: Filtering records to create a subset  </vt:lpstr>
      <vt:lpstr>Exercise 1: Filtering records to create a subset  </vt:lpstr>
      <vt:lpstr>Exercise 2: Narrowing the list of columns with select()</vt:lpstr>
      <vt:lpstr>Exercise 3: Arranging Rows</vt:lpstr>
      <vt:lpstr>Exercise 4: Arranging Rows with mutate()</vt:lpstr>
      <vt:lpstr>Exercise 4: Cont….</vt:lpstr>
      <vt:lpstr>Exercise 5: Summarizing and Grouping</vt:lpstr>
      <vt:lpstr>Exercise 5: Cont….</vt:lpstr>
      <vt:lpstr>Exercise 5: Cont….</vt:lpstr>
      <vt:lpstr>Exercise 5: Cont….</vt:lpstr>
      <vt:lpstr>Exercise 6: Piping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4</dc:title>
  <dc:creator>MOHD HAQ</dc:creator>
  <cp:lastModifiedBy>MOHD HAQ</cp:lastModifiedBy>
  <cp:revision>6</cp:revision>
  <dcterms:created xsi:type="dcterms:W3CDTF">2021-01-24T14:59:20Z</dcterms:created>
  <dcterms:modified xsi:type="dcterms:W3CDTF">2021-02-14T08:19:43Z</dcterms:modified>
</cp:coreProperties>
</file>