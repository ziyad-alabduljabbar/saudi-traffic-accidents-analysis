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4662" autoAdjust="0"/>
  </p:normalViewPr>
  <p:slideViewPr>
    <p:cSldViewPr snapToGrid="0">
      <p:cViewPr varScale="1">
        <p:scale>
          <a:sx n="73" d="100"/>
          <a:sy n="73" d="100"/>
        </p:scale>
        <p:origin x="103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3104A-6E55-4B2B-87C6-D272CBE8B7E2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2334-DE96-4D8F-AA39-DB763625A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ACFB-A2D7-4DCD-947F-7B69551739A3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12C61-F5C4-4CE8-B8BC-EDFD5BB391AF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6215-0066-4536-9FE6-9C47B52BD454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8F086-32D7-4FE0-9298-B72ECA56DADC}" type="datetime1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BDD2-9426-4B7F-A0E1-6BF030117F89}" type="datetime1">
              <a:rPr lang="en-US" smtClean="0"/>
              <a:t>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EF55-0317-47D2-A824-F4B42C4D23B6}" type="datetime1">
              <a:rPr lang="en-US" smtClean="0"/>
              <a:t>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9059-6ACC-4992-B9BC-2688A4455B19}" type="datetime1">
              <a:rPr lang="en-US" smtClean="0"/>
              <a:t>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1CD-8705-4E2F-AB86-DF1CBB6BC4AF}" type="datetime1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9E99-B50E-45DC-8C7A-E76B9C53804A}" type="datetime1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5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197C-4F4B-4DA8-B842-8D7192562179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0B4-8E9A-42D1-B9FC-FC3A6B4A25B7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D6F-8CBA-452B-9F26-691547BAB364}" type="datetime1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51598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C00000"/>
                </a:solidFill>
              </a:rPr>
              <a:t>Creating Tidy Data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958"/>
            <a:ext cx="11090564" cy="4749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Gathering  -- gather()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Spreading  -- spread()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Separating – separate()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Uniting   -- unite()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Creating Tidy Data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697833"/>
            <a:ext cx="11601218" cy="5901752"/>
          </a:xfrm>
        </p:spPr>
        <p:txBody>
          <a:bodyPr>
            <a:normAutofit/>
          </a:bodyPr>
          <a:lstStyle/>
          <a:p>
            <a:r>
              <a:rPr lang="en-US" dirty="0"/>
              <a:t>Data tidying is a consistent way </a:t>
            </a:r>
            <a:r>
              <a:rPr lang="en-US" dirty="0" smtClean="0"/>
              <a:t>of organizing </a:t>
            </a:r>
            <a:r>
              <a:rPr lang="en-US" dirty="0"/>
              <a:t>data in R and can be facilitated through the </a:t>
            </a:r>
            <a:r>
              <a:rPr lang="en-US" dirty="0" err="1"/>
              <a:t>tidyr</a:t>
            </a:r>
            <a:r>
              <a:rPr lang="en-US" dirty="0"/>
              <a:t> package found in </a:t>
            </a:r>
            <a:r>
              <a:rPr lang="en-US" dirty="0" smtClean="0"/>
              <a:t>the </a:t>
            </a:r>
            <a:r>
              <a:rPr lang="en-US" dirty="0" err="1" smtClean="0"/>
              <a:t>tidyverse</a:t>
            </a:r>
            <a:r>
              <a:rPr lang="en-US" dirty="0" smtClean="0"/>
              <a:t> </a:t>
            </a:r>
            <a:r>
              <a:rPr lang="en-US" dirty="0"/>
              <a:t>ecosystem</a:t>
            </a:r>
            <a:r>
              <a:rPr lang="en-US" dirty="0" smtClean="0"/>
              <a:t>.</a:t>
            </a:r>
          </a:p>
          <a:p>
            <a:r>
              <a:rPr lang="en-US" i="1" dirty="0"/>
              <a:t>Tidy datasets provide a standardized way to link the </a:t>
            </a:r>
            <a:r>
              <a:rPr lang="en-US" b="1" i="1" dirty="0"/>
              <a:t>structure</a:t>
            </a:r>
            <a:r>
              <a:rPr lang="en-US" i="1" dirty="0"/>
              <a:t> of a dataset (its physical layout) with its </a:t>
            </a:r>
            <a:r>
              <a:rPr lang="en-US" b="1" i="1" dirty="0"/>
              <a:t>semantics</a:t>
            </a:r>
            <a:r>
              <a:rPr lang="en-US" i="1" dirty="0"/>
              <a:t> (its meaning)</a:t>
            </a:r>
            <a:endParaRPr lang="en-US" dirty="0" smtClean="0"/>
          </a:p>
          <a:p>
            <a:r>
              <a:rPr lang="en-US" dirty="0" smtClean="0"/>
              <a:t>Three </a:t>
            </a:r>
            <a:r>
              <a:rPr lang="en-US" dirty="0"/>
              <a:t>rules that we can follow to make a </a:t>
            </a:r>
            <a:r>
              <a:rPr lang="en-US" dirty="0" smtClean="0"/>
              <a:t>dataset tidy. </a:t>
            </a:r>
          </a:p>
          <a:p>
            <a:pPr lvl="1"/>
            <a:r>
              <a:rPr lang="en-US" sz="2800" dirty="0" smtClean="0"/>
              <a:t>First</a:t>
            </a:r>
            <a:r>
              <a:rPr lang="en-US" sz="2800" dirty="0"/>
              <a:t>, each </a:t>
            </a:r>
            <a:r>
              <a:rPr lang="en-US" sz="2800" dirty="0">
                <a:solidFill>
                  <a:srgbClr val="FF0000"/>
                </a:solidFill>
              </a:rPr>
              <a:t>variable</a:t>
            </a:r>
            <a:r>
              <a:rPr lang="en-US" sz="2800" dirty="0"/>
              <a:t> must have its </a:t>
            </a:r>
            <a:r>
              <a:rPr lang="en-US" sz="2800" dirty="0">
                <a:solidFill>
                  <a:srgbClr val="FF0000"/>
                </a:solidFill>
              </a:rPr>
              <a:t>own column</a:t>
            </a:r>
            <a:r>
              <a:rPr lang="en-US" sz="2800" dirty="0"/>
              <a:t>. </a:t>
            </a:r>
            <a:endParaRPr lang="en-US" sz="2800" dirty="0" smtClean="0"/>
          </a:p>
          <a:p>
            <a:pPr lvl="1"/>
            <a:r>
              <a:rPr lang="en-US" sz="2800" dirty="0" smtClean="0"/>
              <a:t>Second</a:t>
            </a:r>
            <a:r>
              <a:rPr lang="en-US" sz="2800" dirty="0"/>
              <a:t>, each </a:t>
            </a:r>
            <a:r>
              <a:rPr lang="en-US" sz="2800" dirty="0" smtClean="0">
                <a:solidFill>
                  <a:srgbClr val="FF0000"/>
                </a:solidFill>
              </a:rPr>
              <a:t>observation</a:t>
            </a:r>
            <a:r>
              <a:rPr lang="en-US" sz="2800" dirty="0" smtClean="0"/>
              <a:t> must </a:t>
            </a:r>
            <a:r>
              <a:rPr lang="en-US" sz="2800" dirty="0"/>
              <a:t>have its </a:t>
            </a:r>
            <a:r>
              <a:rPr lang="en-US" sz="2800" dirty="0">
                <a:solidFill>
                  <a:srgbClr val="FF0000"/>
                </a:solidFill>
              </a:rPr>
              <a:t>own </a:t>
            </a:r>
            <a:r>
              <a:rPr lang="en-US" sz="2800" dirty="0" smtClean="0">
                <a:solidFill>
                  <a:srgbClr val="FF0000"/>
                </a:solidFill>
              </a:rPr>
              <a:t>row </a:t>
            </a:r>
          </a:p>
          <a:p>
            <a:pPr lvl="1"/>
            <a:r>
              <a:rPr lang="en-US" sz="2800" dirty="0"/>
              <a:t> </a:t>
            </a:r>
            <a:r>
              <a:rPr lang="en-US" sz="2800" dirty="0" smtClean="0"/>
              <a:t>Finally</a:t>
            </a:r>
            <a:r>
              <a:rPr lang="en-US" sz="2800" dirty="0"/>
              <a:t>, each </a:t>
            </a:r>
            <a:r>
              <a:rPr lang="en-US" sz="2800" dirty="0">
                <a:solidFill>
                  <a:srgbClr val="FF0000"/>
                </a:solidFill>
              </a:rPr>
              <a:t>value</a:t>
            </a:r>
            <a:r>
              <a:rPr lang="en-US" sz="2800" dirty="0"/>
              <a:t> must have its own </a:t>
            </a:r>
            <a:r>
              <a:rPr lang="en-US" sz="2800" dirty="0">
                <a:solidFill>
                  <a:srgbClr val="FF0000"/>
                </a:solidFill>
              </a:rPr>
              <a:t>cell</a:t>
            </a:r>
            <a:r>
              <a:rPr lang="en-US" sz="2800" dirty="0"/>
              <a:t>. </a:t>
            </a:r>
            <a:endParaRPr lang="en-US" sz="2800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57" y="4331368"/>
            <a:ext cx="10082463" cy="2526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78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Advantages of Tidy Data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697833"/>
            <a:ext cx="11601218" cy="590175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 smtClean="0"/>
              <a:t>The general </a:t>
            </a:r>
            <a:r>
              <a:rPr lang="en-US" sz="3200" dirty="0"/>
              <a:t>advantage </a:t>
            </a:r>
            <a:r>
              <a:rPr lang="en-US" sz="3200" dirty="0" smtClean="0"/>
              <a:t>of Tidy data is having one consistent, uniform </a:t>
            </a:r>
            <a:r>
              <a:rPr lang="en-US" sz="3200" dirty="0"/>
              <a:t>way of storing data. If you have a consistent data structure, it’s easier to learn the tools that work with it because they have an underlying uniformity</a:t>
            </a:r>
            <a:r>
              <a:rPr lang="en-US" sz="3200" dirty="0" smtClean="0"/>
              <a:t>.</a:t>
            </a:r>
          </a:p>
          <a:p>
            <a:pPr marL="514350" indent="-514350">
              <a:buAutoNum type="arabicPeriod"/>
            </a:pP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The </a:t>
            </a:r>
            <a:r>
              <a:rPr lang="en-US" sz="3200" dirty="0"/>
              <a:t>specific advantage </a:t>
            </a:r>
            <a:r>
              <a:rPr lang="en-US" sz="3200" dirty="0" smtClean="0"/>
              <a:t>is to place </a:t>
            </a:r>
            <a:r>
              <a:rPr lang="en-US" sz="3200" dirty="0"/>
              <a:t>variables in columns because it allows </a:t>
            </a:r>
            <a:r>
              <a:rPr lang="en-US" sz="3200" dirty="0" smtClean="0"/>
              <a:t>for easy facilitation of </a:t>
            </a:r>
            <a:r>
              <a:rPr lang="en-US" sz="3200" dirty="0" err="1" smtClean="0"/>
              <a:t>vectorization</a:t>
            </a:r>
            <a:r>
              <a:rPr lang="en-US" sz="3200" dirty="0" smtClean="0"/>
              <a:t> in R (</a:t>
            </a:r>
            <a:r>
              <a:rPr lang="en-US" sz="3200" dirty="0" err="1" smtClean="0"/>
              <a:t>i.e</a:t>
            </a:r>
            <a:r>
              <a:rPr lang="en-US" sz="3200" dirty="0" smtClean="0"/>
              <a:t>, R’s </a:t>
            </a:r>
            <a:r>
              <a:rPr lang="en-US" sz="3200" dirty="0" err="1"/>
              <a:t>vectorised</a:t>
            </a:r>
            <a:r>
              <a:rPr lang="en-US" sz="3200" dirty="0"/>
              <a:t> nature </a:t>
            </a:r>
            <a:r>
              <a:rPr lang="en-US" sz="3200" dirty="0" smtClean="0"/>
              <a:t>will be shine). </a:t>
            </a:r>
            <a:r>
              <a:rPr lang="en-US" sz="3200" dirty="0"/>
              <a:t>As you learned </a:t>
            </a:r>
            <a:r>
              <a:rPr lang="en-US" sz="3200" dirty="0" smtClean="0"/>
              <a:t>in </a:t>
            </a:r>
            <a:r>
              <a:rPr lang="en-US" sz="3200" dirty="0" err="1" smtClean="0"/>
              <a:t>dplyr</a:t>
            </a:r>
            <a:r>
              <a:rPr lang="en-US" sz="3200" dirty="0" smtClean="0"/>
              <a:t>, </a:t>
            </a:r>
            <a:r>
              <a:rPr lang="en-US" sz="3200" dirty="0" err="1" smtClean="0"/>
              <a:t>ggplot</a:t>
            </a:r>
            <a:r>
              <a:rPr lang="en-US" sz="3200" dirty="0" smtClean="0"/>
              <a:t>, mutate, summary functions, </a:t>
            </a:r>
            <a:r>
              <a:rPr lang="en-US" sz="3200" dirty="0"/>
              <a:t>most built-in R functions work with vectors of values. That makes transforming tidy data feel particularly natural.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8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Few Reasons why dataset isn’t Tidy?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697833"/>
            <a:ext cx="11601218" cy="5901752"/>
          </a:xfrm>
        </p:spPr>
        <p:txBody>
          <a:bodyPr>
            <a:normAutofit/>
          </a:bodyPr>
          <a:lstStyle/>
          <a:p>
            <a:r>
              <a:rPr lang="en-US" sz="3200" dirty="0"/>
              <a:t>Oftentimes </a:t>
            </a:r>
            <a:r>
              <a:rPr lang="en-US" sz="3200" dirty="0" smtClean="0"/>
              <a:t>the people </a:t>
            </a:r>
            <a:r>
              <a:rPr lang="en-US" sz="3200" dirty="0"/>
              <a:t>who created the dataset aren’t familiar with the principles of tidy data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/>
              <a:t>Another common reason that datasets aren’t tidy is that data is often organized </a:t>
            </a:r>
            <a:r>
              <a:rPr lang="en-US" sz="3200" dirty="0" smtClean="0"/>
              <a:t>to facilitate </a:t>
            </a:r>
            <a:r>
              <a:rPr lang="en-US" sz="3200" dirty="0"/>
              <a:t>something other than analysis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/>
              <a:t>To make data entry as easy as possible</a:t>
            </a:r>
            <a:r>
              <a:rPr lang="en-US" sz="3200" dirty="0" smtClean="0"/>
              <a:t>, people </a:t>
            </a:r>
            <a:r>
              <a:rPr lang="en-US" sz="3200" dirty="0"/>
              <a:t>will often arrange data in ways that aren’t tidy.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1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Tidying messy dataset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697832"/>
            <a:ext cx="11601218" cy="616016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Five most common problems with messy datasets along with their remedies:</a:t>
            </a:r>
          </a:p>
          <a:p>
            <a:pPr lvl="1"/>
            <a:r>
              <a:rPr lang="en-US" sz="2800" dirty="0"/>
              <a:t>Column headers are values, not variable names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Multiple </a:t>
            </a:r>
            <a:r>
              <a:rPr lang="en-US" sz="2800" dirty="0"/>
              <a:t>variables are stored in one column. </a:t>
            </a:r>
            <a:endParaRPr lang="en-US" sz="2800" dirty="0" smtClean="0"/>
          </a:p>
          <a:p>
            <a:pPr lvl="1"/>
            <a:r>
              <a:rPr lang="en-US" sz="2800" dirty="0" smtClean="0"/>
              <a:t>Variables </a:t>
            </a:r>
            <a:r>
              <a:rPr lang="en-US" sz="2800" dirty="0"/>
              <a:t>are stored in both rows and columns. </a:t>
            </a:r>
            <a:endParaRPr lang="en-US" sz="2800" dirty="0" smtClean="0"/>
          </a:p>
          <a:p>
            <a:pPr lvl="1"/>
            <a:r>
              <a:rPr lang="en-US" sz="2800" dirty="0" smtClean="0"/>
              <a:t>Multiple </a:t>
            </a:r>
            <a:r>
              <a:rPr lang="en-US" sz="2800" dirty="0"/>
              <a:t>types of observational units are stored in the same </a:t>
            </a:r>
            <a:r>
              <a:rPr lang="en-US" sz="2800" dirty="0" smtClean="0"/>
              <a:t>table.</a:t>
            </a:r>
          </a:p>
          <a:p>
            <a:pPr lvl="1"/>
            <a:r>
              <a:rPr lang="en-US" sz="2800" dirty="0" smtClean="0"/>
              <a:t>A </a:t>
            </a:r>
            <a:r>
              <a:rPr lang="en-US" sz="2800" dirty="0"/>
              <a:t>single observational unit is stored in multiple tables. </a:t>
            </a:r>
            <a:endParaRPr lang="en-US" sz="2800" dirty="0" smtClean="0"/>
          </a:p>
          <a:p>
            <a:r>
              <a:rPr lang="en-US" sz="3200" dirty="0"/>
              <a:t>The first step is to figure out what the variables and observations are for </a:t>
            </a:r>
            <a:r>
              <a:rPr lang="en-US" sz="3200" dirty="0" smtClean="0"/>
              <a:t>the dataset</a:t>
            </a:r>
            <a:r>
              <a:rPr lang="en-US" sz="3200" dirty="0"/>
              <a:t>. This will facilitate your understanding of what the columns and </a:t>
            </a:r>
            <a:r>
              <a:rPr lang="en-US" sz="3200" dirty="0" smtClean="0"/>
              <a:t>rows should </a:t>
            </a:r>
            <a:r>
              <a:rPr lang="en-US" sz="3200" dirty="0"/>
              <a:t>be. </a:t>
            </a:r>
            <a:endParaRPr lang="en-US" sz="3200" dirty="0" smtClean="0"/>
          </a:p>
          <a:p>
            <a:r>
              <a:rPr lang="en-US" sz="3200" dirty="0" smtClean="0"/>
              <a:t>In </a:t>
            </a:r>
            <a:r>
              <a:rPr lang="en-US" sz="3200" dirty="0"/>
              <a:t>addition, you will also need to </a:t>
            </a:r>
            <a:r>
              <a:rPr lang="en-US" sz="3200" dirty="0" smtClean="0"/>
              <a:t>resolve common problems, like figure </a:t>
            </a:r>
            <a:r>
              <a:rPr lang="en-US" sz="3200" dirty="0"/>
              <a:t>out if one variable is spread across </a:t>
            </a:r>
            <a:r>
              <a:rPr lang="en-US" sz="3200" dirty="0" smtClean="0"/>
              <a:t>multiple columns</a:t>
            </a:r>
            <a:r>
              <a:rPr lang="en-US" sz="3200" dirty="0"/>
              <a:t>, and </a:t>
            </a:r>
            <a:r>
              <a:rPr lang="en-US" sz="3200" dirty="0" smtClean="0"/>
              <a:t>also figure </a:t>
            </a:r>
            <a:r>
              <a:rPr lang="en-US" sz="3200" dirty="0"/>
              <a:t>out if one observation is scattered </a:t>
            </a:r>
            <a:r>
              <a:rPr lang="en-US" sz="3200" dirty="0" smtClean="0"/>
              <a:t>across multiple </a:t>
            </a:r>
            <a:r>
              <a:rPr lang="en-US" sz="3200" dirty="0"/>
              <a:t>rows.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1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Gathering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46" y="697832"/>
            <a:ext cx="11601218" cy="616016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Consider the common </a:t>
            </a:r>
            <a:r>
              <a:rPr lang="en-US" sz="3200" dirty="0"/>
              <a:t>problem </a:t>
            </a:r>
            <a:r>
              <a:rPr lang="en-US" sz="3200" dirty="0" smtClean="0"/>
              <a:t>in </a:t>
            </a:r>
            <a:r>
              <a:rPr lang="en-US" sz="3200" dirty="0"/>
              <a:t>many datasets </a:t>
            </a:r>
            <a:r>
              <a:rPr lang="en-US" sz="3200" dirty="0" smtClean="0"/>
              <a:t>that </a:t>
            </a:r>
            <a:r>
              <a:rPr lang="en-US" sz="3200" dirty="0"/>
              <a:t>the column names are not </a:t>
            </a:r>
            <a:r>
              <a:rPr lang="en-US" sz="3200" dirty="0" smtClean="0"/>
              <a:t>variables but </a:t>
            </a:r>
            <a:r>
              <a:rPr lang="en-US" sz="3200" dirty="0"/>
              <a:t>rather values of a variable. </a:t>
            </a:r>
            <a:endParaRPr lang="en-US" sz="3200" dirty="0" smtClean="0"/>
          </a:p>
          <a:p>
            <a:r>
              <a:rPr lang="en-US" sz="3200" dirty="0" smtClean="0"/>
              <a:t>In </a:t>
            </a:r>
            <a:r>
              <a:rPr lang="en-US" sz="3200" dirty="0"/>
              <a:t>the figure below, the 1999 and 2000 </a:t>
            </a:r>
            <a:r>
              <a:rPr lang="en-US" sz="3200" dirty="0" smtClean="0"/>
              <a:t>columns are </a:t>
            </a:r>
            <a:r>
              <a:rPr lang="en-US" sz="3200" dirty="0"/>
              <a:t>actually values of the variable </a:t>
            </a:r>
            <a:r>
              <a:rPr lang="en-US" sz="3200" dirty="0">
                <a:solidFill>
                  <a:srgbClr val="FF0000"/>
                </a:solidFill>
              </a:rPr>
              <a:t>YEAR</a:t>
            </a:r>
            <a:r>
              <a:rPr lang="en-US" sz="3200" dirty="0"/>
              <a:t>. Each row in the existing table </a:t>
            </a:r>
            <a:r>
              <a:rPr lang="en-US" sz="3200" dirty="0" smtClean="0"/>
              <a:t>actually represents </a:t>
            </a:r>
            <a:r>
              <a:rPr lang="en-US" sz="3200" dirty="0"/>
              <a:t>two observations.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 err="1" smtClean="0"/>
              <a:t>tidyr</a:t>
            </a:r>
            <a:r>
              <a:rPr lang="en-US" sz="3200" dirty="0" smtClean="0"/>
              <a:t> package </a:t>
            </a:r>
            <a:r>
              <a:rPr lang="en-US" sz="3200" dirty="0"/>
              <a:t>can be used to gather </a:t>
            </a:r>
            <a:r>
              <a:rPr lang="en-US" sz="3200" dirty="0" smtClean="0"/>
              <a:t>these existing </a:t>
            </a:r>
            <a:r>
              <a:rPr lang="en-US" sz="3200" dirty="0"/>
              <a:t>columns into a new variable. In this case, we need to create a </a:t>
            </a:r>
            <a:r>
              <a:rPr lang="en-US" sz="3200" dirty="0" smtClean="0"/>
              <a:t>new column </a:t>
            </a:r>
            <a:r>
              <a:rPr lang="en-US" sz="3200" dirty="0"/>
              <a:t>called </a:t>
            </a:r>
            <a:r>
              <a:rPr lang="en-US" sz="3200" dirty="0" smtClean="0"/>
              <a:t>YEAR and </a:t>
            </a:r>
            <a:r>
              <a:rPr lang="en-US" sz="3200" dirty="0"/>
              <a:t>then gather the existing values in the 1999 and </a:t>
            </a:r>
            <a:r>
              <a:rPr lang="en-US" sz="3200" dirty="0" smtClean="0"/>
              <a:t>2000 columns </a:t>
            </a:r>
            <a:r>
              <a:rPr lang="en-US" sz="3200" dirty="0"/>
              <a:t>into the new YEAR column.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558" y="4451684"/>
            <a:ext cx="5502441" cy="2406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931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Gathering – gather() function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832"/>
            <a:ext cx="12192000" cy="6160167"/>
          </a:xfrm>
        </p:spPr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dirty="0">
                <a:solidFill>
                  <a:srgbClr val="FF0000"/>
                </a:solidFill>
              </a:rPr>
              <a:t>gather() </a:t>
            </a:r>
            <a:r>
              <a:rPr lang="en-US" sz="3200" dirty="0"/>
              <a:t>function from the </a:t>
            </a:r>
            <a:r>
              <a:rPr lang="en-US" sz="3200" dirty="0" err="1"/>
              <a:t>tidyr</a:t>
            </a:r>
            <a:r>
              <a:rPr lang="en-US" sz="3200" dirty="0"/>
              <a:t> package can be used to accomplish </a:t>
            </a:r>
            <a:r>
              <a:rPr lang="en-US" sz="3200" dirty="0" smtClean="0"/>
              <a:t>the gathering </a:t>
            </a:r>
            <a:r>
              <a:rPr lang="en-US" sz="3200" dirty="0"/>
              <a:t>of data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There are </a:t>
            </a:r>
            <a:r>
              <a:rPr lang="en-US" sz="3200" dirty="0">
                <a:solidFill>
                  <a:srgbClr val="FF0000"/>
                </a:solidFill>
              </a:rPr>
              <a:t>three parameters </a:t>
            </a:r>
            <a:r>
              <a:rPr lang="en-US" sz="3200" dirty="0"/>
              <a:t>of the gather</a:t>
            </a:r>
            <a:r>
              <a:rPr lang="en-US" sz="3200" dirty="0" smtClean="0"/>
              <a:t>() function</a:t>
            </a:r>
            <a:r>
              <a:rPr lang="en-US" sz="3200" dirty="0"/>
              <a:t>. </a:t>
            </a:r>
            <a:endParaRPr lang="en-US" sz="3200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first is the </a:t>
            </a:r>
            <a:r>
              <a:rPr lang="en-US" dirty="0">
                <a:solidFill>
                  <a:srgbClr val="002060"/>
                </a:solidFill>
              </a:rPr>
              <a:t>set of </a:t>
            </a:r>
            <a:r>
              <a:rPr lang="en-US" dirty="0" smtClean="0">
                <a:solidFill>
                  <a:srgbClr val="002060"/>
                </a:solidFill>
              </a:rPr>
              <a:t>columns</a:t>
            </a:r>
            <a:r>
              <a:rPr lang="en-US" dirty="0" smtClean="0"/>
              <a:t> that </a:t>
            </a:r>
            <a:r>
              <a:rPr lang="en-US" dirty="0"/>
              <a:t>represent what should be values and not variables. </a:t>
            </a:r>
            <a:r>
              <a:rPr lang="en-US" dirty="0" smtClean="0"/>
              <a:t>Ex: 1999 and </a:t>
            </a:r>
            <a:r>
              <a:rPr lang="en-US" dirty="0"/>
              <a:t>2000 columns </a:t>
            </a:r>
            <a:endParaRPr lang="en-US" dirty="0" smtClean="0"/>
          </a:p>
          <a:p>
            <a:pPr lvl="1"/>
            <a:r>
              <a:rPr lang="en-US" dirty="0" smtClean="0"/>
              <a:t>Next</a:t>
            </a:r>
            <a:r>
              <a:rPr lang="en-US" dirty="0"/>
              <a:t>, you’ll need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002060"/>
                </a:solidFill>
              </a:rPr>
              <a:t>name </a:t>
            </a:r>
            <a:r>
              <a:rPr lang="en-US" dirty="0">
                <a:solidFill>
                  <a:srgbClr val="002060"/>
                </a:solidFill>
              </a:rPr>
              <a:t>the variable </a:t>
            </a:r>
            <a:r>
              <a:rPr lang="en-US" dirty="0"/>
              <a:t>of the </a:t>
            </a:r>
            <a:r>
              <a:rPr lang="en-US" dirty="0">
                <a:solidFill>
                  <a:srgbClr val="002060"/>
                </a:solidFill>
              </a:rPr>
              <a:t>new column</a:t>
            </a:r>
            <a:r>
              <a:rPr lang="en-US" dirty="0"/>
              <a:t>. This is also called the key, and in this </a:t>
            </a:r>
            <a:r>
              <a:rPr lang="en-US" dirty="0" smtClean="0"/>
              <a:t>case will </a:t>
            </a:r>
            <a:r>
              <a:rPr lang="en-US" dirty="0"/>
              <a:t>the </a:t>
            </a:r>
            <a:r>
              <a:rPr lang="en-US" dirty="0">
                <a:solidFill>
                  <a:srgbClr val="002060"/>
                </a:solidFill>
              </a:rPr>
              <a:t>year</a:t>
            </a:r>
            <a:r>
              <a:rPr lang="en-US" dirty="0"/>
              <a:t> variable. </a:t>
            </a:r>
            <a:endParaRPr lang="en-US" dirty="0" smtClean="0"/>
          </a:p>
          <a:p>
            <a:pPr lvl="1"/>
            <a:r>
              <a:rPr lang="en-US" dirty="0" smtClean="0"/>
              <a:t>Finally</a:t>
            </a:r>
            <a:r>
              <a:rPr lang="en-US" dirty="0"/>
              <a:t>, you’ll need to provide the value, which is </a:t>
            </a:r>
            <a:r>
              <a:rPr lang="en-US" dirty="0" smtClean="0"/>
              <a:t>the name </a:t>
            </a:r>
            <a:r>
              <a:rPr lang="en-US" dirty="0"/>
              <a:t>of the variable whose values are spread over the cells.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736" y="4114800"/>
            <a:ext cx="810126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1357" y="4497357"/>
            <a:ext cx="3859379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600" dirty="0"/>
              <a:t>gather</a:t>
            </a:r>
            <a:r>
              <a:rPr lang="en-US" sz="3600" dirty="0" smtClean="0"/>
              <a:t>('1999</a:t>
            </a:r>
            <a:r>
              <a:rPr lang="en-US" sz="3600" dirty="0"/>
              <a:t>'</a:t>
            </a:r>
            <a:r>
              <a:rPr lang="en-US" sz="3600" dirty="0" smtClean="0"/>
              <a:t>, '2000</a:t>
            </a:r>
            <a:r>
              <a:rPr lang="en-US" sz="3600" dirty="0"/>
              <a:t>'</a:t>
            </a:r>
            <a:r>
              <a:rPr lang="en-US" sz="3600" dirty="0" smtClean="0"/>
              <a:t>, </a:t>
            </a:r>
            <a:r>
              <a:rPr lang="en-US" sz="3600" dirty="0"/>
              <a:t>key = </a:t>
            </a:r>
            <a:r>
              <a:rPr lang="en-US" sz="3600" dirty="0" smtClean="0"/>
              <a:t>'year</a:t>
            </a:r>
            <a:r>
              <a:rPr lang="en-US" sz="3600" dirty="0"/>
              <a:t>'</a:t>
            </a:r>
            <a:r>
              <a:rPr lang="en-US" sz="3600" dirty="0" smtClean="0"/>
              <a:t>, </a:t>
            </a:r>
            <a:r>
              <a:rPr lang="en-US" sz="3600" dirty="0"/>
              <a:t>value = </a:t>
            </a:r>
            <a:r>
              <a:rPr lang="en-US" sz="3600" dirty="0" smtClean="0"/>
              <a:t>'cases</a:t>
            </a:r>
            <a:r>
              <a:rPr lang="en-US" sz="3600" dirty="0"/>
              <a:t>'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23197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1: Gathering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 smtClean="0"/>
              <a:t>1. Make sure the working directory is set, </a:t>
            </a:r>
            <a:r>
              <a:rPr lang="en-US" sz="3000" dirty="0" err="1" smtClean="0"/>
              <a:t>readr</a:t>
            </a:r>
            <a:r>
              <a:rPr lang="en-US" sz="3000" dirty="0" smtClean="0"/>
              <a:t> and </a:t>
            </a:r>
            <a:r>
              <a:rPr lang="en-US" sz="3000" dirty="0" err="1" smtClean="0"/>
              <a:t>tidyr</a:t>
            </a:r>
            <a:r>
              <a:rPr lang="en-US" sz="3000" dirty="0" smtClean="0"/>
              <a:t> packages are loaded.</a:t>
            </a:r>
          </a:p>
          <a:p>
            <a:pPr marL="0" indent="0">
              <a:buNone/>
            </a:pPr>
            <a:r>
              <a:rPr lang="en-US" sz="3000" dirty="0" smtClean="0"/>
              <a:t>2. Load the </a:t>
            </a:r>
            <a:r>
              <a:rPr lang="en-US" sz="3000" dirty="0"/>
              <a:t>CountryPopulation.csv </a:t>
            </a:r>
            <a:r>
              <a:rPr lang="en-US" sz="3000" dirty="0" smtClean="0"/>
              <a:t>file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	</a:t>
            </a:r>
            <a:r>
              <a:rPr lang="en-US" sz="3000" dirty="0" err="1"/>
              <a:t>dfPop</a:t>
            </a:r>
            <a:r>
              <a:rPr lang="en-US" sz="3000" dirty="0"/>
              <a:t> = </a:t>
            </a:r>
            <a:r>
              <a:rPr lang="en-US" sz="3000" dirty="0" err="1"/>
              <a:t>read_csv</a:t>
            </a:r>
            <a:r>
              <a:rPr lang="en-US" sz="3000" dirty="0"/>
              <a:t>("CountryPopulation.csv", </a:t>
            </a:r>
            <a:r>
              <a:rPr lang="en-US" sz="3000" dirty="0" err="1"/>
              <a:t>col_names</a:t>
            </a:r>
            <a:r>
              <a:rPr lang="en-US" sz="3000" dirty="0"/>
              <a:t> = TRUE</a:t>
            </a:r>
            <a:r>
              <a:rPr lang="en-US" sz="3000" dirty="0" smtClean="0"/>
              <a:t>)</a:t>
            </a:r>
          </a:p>
          <a:p>
            <a:pPr marL="0" indent="0">
              <a:buNone/>
            </a:pPr>
            <a:r>
              <a:rPr lang="en-US" sz="3000" dirty="0" smtClean="0"/>
              <a:t>3. If needed </a:t>
            </a:r>
            <a:r>
              <a:rPr lang="en-US" sz="3000" dirty="0"/>
              <a:t>Use </a:t>
            </a:r>
            <a:r>
              <a:rPr lang="en-US" sz="3000" dirty="0" smtClean="0"/>
              <a:t>the View</a:t>
            </a:r>
            <a:r>
              <a:rPr lang="en-US" sz="3000" dirty="0"/>
              <a:t>() function to display the data in a tabular structure.</a:t>
            </a:r>
          </a:p>
          <a:p>
            <a:pPr marL="0" indent="0">
              <a:buNone/>
            </a:pPr>
            <a:r>
              <a:rPr lang="en-US" sz="3000" dirty="0" smtClean="0"/>
              <a:t>	View(</a:t>
            </a:r>
            <a:r>
              <a:rPr lang="en-US" sz="3000" dirty="0" err="1" smtClean="0"/>
              <a:t>dfPop</a:t>
            </a:r>
            <a:r>
              <a:rPr lang="en-US" sz="3000" dirty="0" smtClean="0"/>
              <a:t>)</a:t>
            </a:r>
          </a:p>
          <a:p>
            <a:pPr marL="0" indent="0">
              <a:buNone/>
            </a:pPr>
            <a:r>
              <a:rPr lang="en-US" sz="3000" dirty="0" smtClean="0"/>
              <a:t>4. </a:t>
            </a:r>
            <a:r>
              <a:rPr lang="en-US" sz="3000" dirty="0"/>
              <a:t>Use the gather() </a:t>
            </a:r>
            <a:r>
              <a:rPr lang="en-US" sz="3000" dirty="0" smtClean="0"/>
              <a:t>function</a:t>
            </a:r>
          </a:p>
          <a:p>
            <a:pPr marL="0" indent="0">
              <a:buNone/>
            </a:pPr>
            <a:r>
              <a:rPr lang="en-US" sz="3000" dirty="0"/>
              <a:t>	dfPop2 = gather(</a:t>
            </a:r>
            <a:r>
              <a:rPr lang="en-US" sz="3000" dirty="0" err="1"/>
              <a:t>dfPop</a:t>
            </a:r>
            <a:r>
              <a:rPr lang="en-US" sz="3000" dirty="0"/>
              <a:t>, `2010`, `2011`, `2012`, `2013`, `2014`, `2015`, `2016`,`2017`, key = 'YEAR', value = 'POPULATION</a:t>
            </a:r>
            <a:r>
              <a:rPr lang="en-US" sz="3000" dirty="0" smtClean="0"/>
              <a:t>')</a:t>
            </a:r>
          </a:p>
          <a:p>
            <a:pPr marL="0" indent="0">
              <a:buNone/>
            </a:pPr>
            <a:r>
              <a:rPr lang="en-US" sz="3000" dirty="0" smtClean="0"/>
              <a:t>5. </a:t>
            </a:r>
            <a:r>
              <a:rPr lang="en-US" sz="3000" dirty="0"/>
              <a:t>View the output.</a:t>
            </a:r>
          </a:p>
          <a:p>
            <a:pPr marL="0" indent="0">
              <a:buNone/>
            </a:pPr>
            <a:r>
              <a:rPr lang="en-US" sz="3000" dirty="0" smtClean="0"/>
              <a:t>	View(dfPop2</a:t>
            </a:r>
            <a:r>
              <a:rPr lang="en-US" sz="3000" dirty="0"/>
              <a:t>)</a:t>
            </a:r>
          </a:p>
          <a:p>
            <a:pPr marL="0" indent="0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4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Spreading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rmAutofit/>
          </a:bodyPr>
          <a:lstStyle/>
          <a:p>
            <a:r>
              <a:rPr lang="en-US" dirty="0"/>
              <a:t>Spreading is the opposite of gathering and is used when an observation is </a:t>
            </a:r>
            <a:r>
              <a:rPr lang="en-US" dirty="0" smtClean="0"/>
              <a:t>spread across </a:t>
            </a:r>
            <a:r>
              <a:rPr lang="en-US" dirty="0"/>
              <a:t>multiple rows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Consider </a:t>
            </a:r>
            <a:r>
              <a:rPr lang="en-US" dirty="0"/>
              <a:t>an </a:t>
            </a:r>
            <a:r>
              <a:rPr lang="en-US" dirty="0" smtClean="0"/>
              <a:t>observation of </a:t>
            </a:r>
            <a:r>
              <a:rPr lang="en-US" dirty="0"/>
              <a:t>one country per year. However, you’ll notice that this is spread across </a:t>
            </a:r>
            <a:r>
              <a:rPr lang="en-US" dirty="0" smtClean="0"/>
              <a:t>two rows</a:t>
            </a:r>
            <a:r>
              <a:rPr lang="en-US" dirty="0"/>
              <a:t>. One row for cases and another for population.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5" y="2636532"/>
            <a:ext cx="10732169" cy="392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594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Spreading – spread() function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rmAutofit/>
          </a:bodyPr>
          <a:lstStyle/>
          <a:p>
            <a:r>
              <a:rPr lang="en-US" sz="3200" dirty="0"/>
              <a:t>The spread() function </a:t>
            </a:r>
            <a:r>
              <a:rPr lang="en-US" sz="3200" dirty="0" smtClean="0"/>
              <a:t>takes two </a:t>
            </a:r>
            <a:r>
              <a:rPr lang="en-US" sz="3200" dirty="0"/>
              <a:t>parameters: </a:t>
            </a:r>
            <a:endParaRPr lang="en-US" sz="3200" dirty="0" smtClean="0"/>
          </a:p>
          <a:p>
            <a:pPr lvl="1"/>
            <a:r>
              <a:rPr lang="en-US" sz="3200" dirty="0" smtClean="0"/>
              <a:t>the </a:t>
            </a:r>
            <a:r>
              <a:rPr lang="en-US" sz="3200" dirty="0"/>
              <a:t>column that contains variable names, known as the key </a:t>
            </a:r>
            <a:endParaRPr lang="en-US" sz="3200" dirty="0" smtClean="0"/>
          </a:p>
          <a:p>
            <a:pPr lvl="1"/>
            <a:r>
              <a:rPr lang="en-US" sz="3200" dirty="0" smtClean="0"/>
              <a:t>a </a:t>
            </a:r>
            <a:r>
              <a:rPr lang="en-US" sz="3200" dirty="0"/>
              <a:t>column that contains values from multiple variables – the </a:t>
            </a:r>
            <a:r>
              <a:rPr lang="en-US" sz="3200" dirty="0" smtClean="0"/>
              <a:t>value</a:t>
            </a:r>
          </a:p>
          <a:p>
            <a:r>
              <a:rPr lang="en-US" sz="4800" b="1" u="sng" dirty="0">
                <a:solidFill>
                  <a:srgbClr val="FF0000"/>
                </a:solidFill>
              </a:rPr>
              <a:t>Exercise 2</a:t>
            </a:r>
            <a:r>
              <a:rPr lang="en-US" sz="4800" b="1" u="sng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dirty="0"/>
              <a:t>1. For this exercise you’ll download some sample data that needs to be spread.</a:t>
            </a:r>
          </a:p>
          <a:p>
            <a:pPr marL="0" indent="0">
              <a:buNone/>
            </a:pPr>
            <a:r>
              <a:rPr lang="en-US" sz="3200" dirty="0"/>
              <a:t>Install the </a:t>
            </a:r>
            <a:r>
              <a:rPr lang="en-US" sz="3200" dirty="0" err="1"/>
              <a:t>devtools</a:t>
            </a:r>
            <a:r>
              <a:rPr lang="en-US" sz="3200" dirty="0"/>
              <a:t> package and DSR datasets using the code you see below </a:t>
            </a:r>
            <a:r>
              <a:rPr lang="en-US" sz="3200" dirty="0" smtClean="0"/>
              <a:t>by typing </a:t>
            </a:r>
            <a:r>
              <a:rPr lang="en-US" sz="3200" dirty="0"/>
              <a:t>in the Console pane. Alternatively, you can use the </a:t>
            </a:r>
            <a:r>
              <a:rPr lang="en-US" sz="3200" b="1" dirty="0"/>
              <a:t>Packages </a:t>
            </a:r>
            <a:r>
              <a:rPr lang="en-US" sz="3200" dirty="0"/>
              <a:t>pane </a:t>
            </a:r>
            <a:r>
              <a:rPr lang="en-US" sz="3200" dirty="0" smtClean="0"/>
              <a:t>to install </a:t>
            </a:r>
            <a:r>
              <a:rPr lang="en-US" sz="3200" dirty="0"/>
              <a:t>the packages.</a:t>
            </a:r>
          </a:p>
          <a:p>
            <a:pPr marL="0" indent="0">
              <a:buNone/>
            </a:pPr>
            <a:r>
              <a:rPr lang="en-US" sz="3200" dirty="0" smtClean="0"/>
              <a:t>	</a:t>
            </a:r>
            <a:r>
              <a:rPr lang="en-US" sz="3200" dirty="0" err="1" smtClean="0"/>
              <a:t>install.packages</a:t>
            </a:r>
            <a:r>
              <a:rPr lang="en-US" sz="3200" dirty="0" smtClean="0"/>
              <a:t>("</a:t>
            </a:r>
            <a:r>
              <a:rPr lang="en-US" sz="3200" dirty="0" err="1" smtClean="0"/>
              <a:t>devtools</a:t>
            </a:r>
            <a:r>
              <a:rPr lang="en-US" sz="3200" dirty="0"/>
              <a:t>"</a:t>
            </a:r>
            <a:r>
              <a:rPr lang="en-US" sz="3200" dirty="0" smtClean="0"/>
              <a:t>)</a:t>
            </a: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	</a:t>
            </a:r>
            <a:r>
              <a:rPr lang="en-US" sz="3200" dirty="0" err="1" smtClean="0"/>
              <a:t>devtools</a:t>
            </a:r>
            <a:r>
              <a:rPr lang="en-US" sz="3200" dirty="0"/>
              <a:t>::</a:t>
            </a:r>
            <a:r>
              <a:rPr lang="en-US" sz="3200" dirty="0" err="1"/>
              <a:t>install_github</a:t>
            </a:r>
            <a:r>
              <a:rPr lang="en-US" sz="3200" dirty="0" smtClean="0"/>
              <a:t>(</a:t>
            </a:r>
            <a:r>
              <a:rPr lang="en-US" sz="3200" dirty="0"/>
              <a:t>"</a:t>
            </a:r>
            <a:r>
              <a:rPr lang="en-US" sz="3200" dirty="0" err="1" smtClean="0"/>
              <a:t>garrettgman</a:t>
            </a:r>
            <a:r>
              <a:rPr lang="en-US" sz="3200" dirty="0" smtClean="0"/>
              <a:t>/DSR</a:t>
            </a:r>
            <a:r>
              <a:rPr lang="en-US" sz="3200" dirty="0"/>
              <a:t>"</a:t>
            </a:r>
            <a:r>
              <a:rPr lang="en-US" sz="3200" dirty="0" smtClean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6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2</a:t>
            </a:r>
            <a:r>
              <a:rPr lang="en-US" sz="3200" dirty="0"/>
              <a:t>. Load the DSR library by going to Package and clicking the check box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next to DSR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3. View table2. In this case, an observation is one country per year, but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you’ll notice </a:t>
            </a:r>
            <a:r>
              <a:rPr lang="en-US" sz="3200" dirty="0"/>
              <a:t>that each observation is actually spread into two rows.</a:t>
            </a:r>
          </a:p>
          <a:p>
            <a:pPr marL="0" indent="0">
              <a:buNone/>
            </a:pPr>
            <a:r>
              <a:rPr lang="en-US" sz="3200" dirty="0" smtClean="0"/>
              <a:t>	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smtClean="0"/>
              <a:t>View(table2</a:t>
            </a:r>
            <a:r>
              <a:rPr lang="en-US" sz="3200" dirty="0"/>
              <a:t>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270" y="2935705"/>
            <a:ext cx="6750467" cy="315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2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2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4. Use the spread() function to correct this problem.</a:t>
            </a:r>
          </a:p>
          <a:p>
            <a:pPr marL="0" indent="0">
              <a:buNone/>
            </a:pPr>
            <a:r>
              <a:rPr lang="en-US" sz="3200" dirty="0" smtClean="0"/>
              <a:t>	table2b </a:t>
            </a:r>
            <a:r>
              <a:rPr lang="en-US" sz="3200" dirty="0"/>
              <a:t>= spread(table2, key = type, value = count)</a:t>
            </a:r>
          </a:p>
          <a:p>
            <a:pPr marL="0" indent="0">
              <a:buNone/>
            </a:pPr>
            <a:r>
              <a:rPr lang="en-US" sz="3200" dirty="0"/>
              <a:t>5. View the results.</a:t>
            </a:r>
          </a:p>
          <a:p>
            <a:pPr marL="0" indent="0">
              <a:buNone/>
            </a:pPr>
            <a:r>
              <a:rPr lang="en-US" sz="3200" dirty="0" smtClean="0"/>
              <a:t>	View(table2b</a:t>
            </a:r>
            <a:r>
              <a:rPr lang="en-US" sz="3200" dirty="0"/>
              <a:t>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043" y="2454443"/>
            <a:ext cx="8085220" cy="406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86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Separating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3"/>
            <a:ext cx="11951368" cy="6400800"/>
          </a:xfrm>
        </p:spPr>
        <p:txBody>
          <a:bodyPr>
            <a:normAutofit/>
          </a:bodyPr>
          <a:lstStyle/>
          <a:p>
            <a:r>
              <a:rPr lang="en-US" dirty="0" smtClean="0"/>
              <a:t>Lets us consider another common </a:t>
            </a:r>
            <a:r>
              <a:rPr lang="en-US" dirty="0"/>
              <a:t>case involves two variables being placed into the </a:t>
            </a:r>
            <a:r>
              <a:rPr lang="en-US" dirty="0" smtClean="0"/>
              <a:t>same column.</a:t>
            </a:r>
          </a:p>
          <a:p>
            <a:r>
              <a:rPr lang="en-US" dirty="0" smtClean="0"/>
              <a:t>For Example: </a:t>
            </a:r>
          </a:p>
          <a:p>
            <a:endParaRPr lang="en-US" dirty="0"/>
          </a:p>
          <a:p>
            <a:r>
              <a:rPr lang="en-US" dirty="0" smtClean="0"/>
              <a:t>State-Country Name column actually contains two variables separated by a slash.</a:t>
            </a:r>
          </a:p>
          <a:p>
            <a:pPr marL="0" indent="0">
              <a:buNone/>
            </a:pPr>
            <a:r>
              <a:rPr lang="en-US" sz="4800" b="1" u="sng" dirty="0">
                <a:solidFill>
                  <a:srgbClr val="FF0000"/>
                </a:solidFill>
              </a:rPr>
              <a:t>s</a:t>
            </a:r>
            <a:r>
              <a:rPr lang="en-US" sz="4800" b="1" u="sng" dirty="0" smtClean="0">
                <a:solidFill>
                  <a:srgbClr val="FF0000"/>
                </a:solidFill>
              </a:rPr>
              <a:t>eparate() function</a:t>
            </a:r>
            <a:endParaRPr lang="en-US" sz="4800" dirty="0" smtClean="0"/>
          </a:p>
          <a:p>
            <a:r>
              <a:rPr lang="en-US" dirty="0" smtClean="0"/>
              <a:t>The </a:t>
            </a:r>
            <a:r>
              <a:rPr lang="en-US" dirty="0"/>
              <a:t>separate</a:t>
            </a:r>
            <a:r>
              <a:rPr lang="en-US" dirty="0" smtClean="0"/>
              <a:t>() function </a:t>
            </a:r>
            <a:r>
              <a:rPr lang="en-US" dirty="0"/>
              <a:t>can be used to split a column into multiple columns </a:t>
            </a:r>
            <a:r>
              <a:rPr lang="en-US" dirty="0" smtClean="0"/>
              <a:t>by splitting </a:t>
            </a:r>
            <a:r>
              <a:rPr lang="en-US" dirty="0"/>
              <a:t>on a separator.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default, the separate() function will </a:t>
            </a:r>
            <a:r>
              <a:rPr lang="en-US" dirty="0" smtClean="0"/>
              <a:t>automatically look </a:t>
            </a:r>
            <a:r>
              <a:rPr lang="en-US" dirty="0"/>
              <a:t>for any </a:t>
            </a:r>
            <a:r>
              <a:rPr lang="en-US" dirty="0" err="1"/>
              <a:t>nonalphanumeric</a:t>
            </a:r>
            <a:r>
              <a:rPr lang="en-US" dirty="0"/>
              <a:t> character or you can define a specific character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Here, the separate() function will split the values of the State-County </a:t>
            </a:r>
            <a:r>
              <a:rPr lang="en-US" dirty="0" smtClean="0"/>
              <a:t>Name column </a:t>
            </a:r>
            <a:r>
              <a:rPr lang="en-US" dirty="0"/>
              <a:t>into two variables: </a:t>
            </a:r>
            <a:r>
              <a:rPr lang="en-US" dirty="0" err="1"/>
              <a:t>StateAbbrev</a:t>
            </a:r>
            <a:r>
              <a:rPr lang="en-US" dirty="0"/>
              <a:t> and </a:t>
            </a:r>
            <a:r>
              <a:rPr lang="en-US" dirty="0" err="1"/>
              <a:t>CountyName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251284"/>
            <a:ext cx="7972926" cy="1419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86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pPr marL="0" indent="0"/>
            <a:r>
              <a:rPr lang="en-US" b="1" u="sng" dirty="0" smtClean="0">
                <a:solidFill>
                  <a:srgbClr val="FF0000"/>
                </a:solidFill>
              </a:rPr>
              <a:t>Exercise 3: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2"/>
            <a:ext cx="11951368" cy="6160167"/>
          </a:xfrm>
        </p:spPr>
        <p:txBody>
          <a:bodyPr>
            <a:normAutofit/>
          </a:bodyPr>
          <a:lstStyle/>
          <a:p>
            <a:r>
              <a:rPr lang="en-US" dirty="0"/>
              <a:t>Load the usco2005.csv </a:t>
            </a:r>
            <a:r>
              <a:rPr lang="en-US" dirty="0" smtClean="0"/>
              <a:t>file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df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read_csv</a:t>
            </a:r>
            <a:r>
              <a:rPr lang="en-US" dirty="0"/>
              <a:t>("usco2005.csv", </a:t>
            </a:r>
            <a:r>
              <a:rPr lang="en-US" dirty="0" err="1"/>
              <a:t>col_names</a:t>
            </a:r>
            <a:r>
              <a:rPr lang="en-US" dirty="0"/>
              <a:t> = TRUE</a:t>
            </a:r>
            <a:r>
              <a:rPr lang="en-US" dirty="0" smtClean="0"/>
              <a:t>)</a:t>
            </a:r>
          </a:p>
          <a:p>
            <a:r>
              <a:rPr lang="en-US" dirty="0"/>
              <a:t>View the imported data.</a:t>
            </a:r>
          </a:p>
          <a:p>
            <a:pPr marL="0" indent="0">
              <a:buNone/>
            </a:pPr>
            <a:r>
              <a:rPr lang="en-US" dirty="0" smtClean="0"/>
              <a:t>	View(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Use </a:t>
            </a:r>
            <a:r>
              <a:rPr lang="en-US" dirty="0"/>
              <a:t>the separate() function to separate the contents of the </a:t>
            </a:r>
            <a:r>
              <a:rPr lang="en-US" dirty="0" err="1"/>
              <a:t>StateCounty</a:t>
            </a:r>
            <a:r>
              <a:rPr lang="en-US" dirty="0"/>
              <a:t> </a:t>
            </a:r>
            <a:r>
              <a:rPr lang="en-US" dirty="0" smtClean="0"/>
              <a:t>Name column </a:t>
            </a:r>
            <a:r>
              <a:rPr lang="en-US" dirty="0"/>
              <a:t>into </a:t>
            </a:r>
            <a:r>
              <a:rPr lang="en-US" dirty="0" err="1"/>
              <a:t>StateAbbrev</a:t>
            </a:r>
            <a:r>
              <a:rPr lang="en-US" dirty="0"/>
              <a:t> and </a:t>
            </a:r>
            <a:r>
              <a:rPr lang="en-US" dirty="0" err="1"/>
              <a:t>CountyName</a:t>
            </a:r>
            <a:r>
              <a:rPr lang="en-US" dirty="0"/>
              <a:t> columns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df2 </a:t>
            </a:r>
            <a:r>
              <a:rPr lang="en-US" dirty="0"/>
              <a:t>= separate(</a:t>
            </a:r>
            <a:r>
              <a:rPr lang="en-US" dirty="0" err="1"/>
              <a:t>df</a:t>
            </a:r>
            <a:r>
              <a:rPr lang="en-US" dirty="0"/>
              <a:t>,"State-County </a:t>
            </a:r>
            <a:r>
              <a:rPr lang="en-US" dirty="0" err="1"/>
              <a:t>Name",into</a:t>
            </a:r>
            <a:r>
              <a:rPr lang="en-US" dirty="0"/>
              <a:t> = c("</a:t>
            </a:r>
            <a:r>
              <a:rPr lang="en-US" dirty="0" err="1"/>
              <a:t>StateAbbrev</a:t>
            </a:r>
            <a:r>
              <a:rPr lang="en-US" dirty="0"/>
              <a:t>","</a:t>
            </a:r>
            <a:r>
              <a:rPr lang="en-US" dirty="0" err="1"/>
              <a:t>CountyName</a:t>
            </a:r>
            <a:r>
              <a:rPr lang="en-US" dirty="0" smtClean="0"/>
              <a:t>"))</a:t>
            </a:r>
          </a:p>
          <a:p>
            <a:r>
              <a:rPr lang="en-US" dirty="0"/>
              <a:t>View the results.</a:t>
            </a:r>
          </a:p>
          <a:p>
            <a:pPr marL="0" indent="0">
              <a:buNone/>
            </a:pPr>
            <a:r>
              <a:rPr lang="en-US" dirty="0" smtClean="0"/>
              <a:t>	View(df2</a:t>
            </a:r>
            <a:r>
              <a:rPr lang="en-US" dirty="0"/>
              <a:t>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937" y="1804736"/>
            <a:ext cx="6905877" cy="144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74" y="5101389"/>
            <a:ext cx="6761747" cy="1612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2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Uniting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97833"/>
            <a:ext cx="11951368" cy="6400800"/>
          </a:xfrm>
        </p:spPr>
        <p:txBody>
          <a:bodyPr>
            <a:normAutofit/>
          </a:bodyPr>
          <a:lstStyle/>
          <a:p>
            <a:r>
              <a:rPr lang="en-US" dirty="0"/>
              <a:t>The Unite()function is the exact opposite of separate() in that it </a:t>
            </a:r>
            <a:r>
              <a:rPr lang="en-US" dirty="0" smtClean="0"/>
              <a:t>combines multiple </a:t>
            </a:r>
            <a:r>
              <a:rPr lang="en-US" dirty="0"/>
              <a:t>columns into a single column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4: unite() function</a:t>
            </a:r>
            <a:endParaRPr lang="en-US" sz="4800" dirty="0" smtClean="0"/>
          </a:p>
          <a:p>
            <a:r>
              <a:rPr lang="en-US" dirty="0" smtClean="0"/>
              <a:t>Consider </a:t>
            </a:r>
            <a:r>
              <a:rPr lang="en-US" dirty="0"/>
              <a:t>below to unite the </a:t>
            </a:r>
            <a:r>
              <a:rPr lang="en-US" dirty="0" err="1"/>
              <a:t>StateAbbrev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CountyName</a:t>
            </a:r>
            <a:r>
              <a:rPr lang="en-US" dirty="0" smtClean="0"/>
              <a:t> </a:t>
            </a:r>
            <a:r>
              <a:rPr lang="en-US" dirty="0"/>
              <a:t>columns back into a single column.</a:t>
            </a:r>
          </a:p>
          <a:p>
            <a:pPr marL="0" indent="0">
              <a:buNone/>
            </a:pPr>
            <a:r>
              <a:rPr lang="en-US" dirty="0" smtClean="0"/>
              <a:t>	df3 </a:t>
            </a:r>
            <a:r>
              <a:rPr lang="en-US" dirty="0"/>
              <a:t>= unite(df2, </a:t>
            </a:r>
            <a:r>
              <a:rPr lang="en-US" dirty="0" err="1"/>
              <a:t>State_County_Name</a:t>
            </a:r>
            <a:r>
              <a:rPr lang="en-US" dirty="0"/>
              <a:t>, </a:t>
            </a:r>
            <a:r>
              <a:rPr lang="en-US" dirty="0" err="1"/>
              <a:t>StateAbbrev</a:t>
            </a:r>
            <a:r>
              <a:rPr lang="en-US" dirty="0"/>
              <a:t>, </a:t>
            </a:r>
            <a:r>
              <a:rPr lang="en-US" dirty="0" err="1"/>
              <a:t>CountyName</a:t>
            </a:r>
            <a:r>
              <a:rPr lang="en-US" dirty="0"/>
              <a:t>)</a:t>
            </a:r>
          </a:p>
          <a:p>
            <a:r>
              <a:rPr lang="en-US" dirty="0" smtClean="0"/>
              <a:t>View </a:t>
            </a:r>
            <a:r>
              <a:rPr lang="en-US" dirty="0"/>
              <a:t>the result.</a:t>
            </a:r>
          </a:p>
          <a:p>
            <a:pPr marL="0" indent="0">
              <a:buNone/>
            </a:pPr>
            <a:r>
              <a:rPr lang="en-US" dirty="0" smtClean="0"/>
              <a:t>	View(df3)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16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654" y="3922295"/>
            <a:ext cx="8470230" cy="269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71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985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Module 5</vt:lpstr>
      <vt:lpstr>Contents</vt:lpstr>
      <vt:lpstr>Creating Tidy Data</vt:lpstr>
      <vt:lpstr>Advantages of Tidy Data</vt:lpstr>
      <vt:lpstr>Few Reasons why dataset isn’t Tidy?</vt:lpstr>
      <vt:lpstr>Tidying messy dataset</vt:lpstr>
      <vt:lpstr>Gathering</vt:lpstr>
      <vt:lpstr>Gathering – gather() function</vt:lpstr>
      <vt:lpstr>Exercise 1: Gathering</vt:lpstr>
      <vt:lpstr>Spreading</vt:lpstr>
      <vt:lpstr>Spreading – spread() function</vt:lpstr>
      <vt:lpstr>Exercise 2 (cont…)</vt:lpstr>
      <vt:lpstr>Exercise 2 (cont…)</vt:lpstr>
      <vt:lpstr>Separating</vt:lpstr>
      <vt:lpstr>Exercise 3:</vt:lpstr>
      <vt:lpstr>Uniting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MOHD HAQ</dc:creator>
  <cp:lastModifiedBy>MOHD HAQ</cp:lastModifiedBy>
  <cp:revision>106</cp:revision>
  <dcterms:created xsi:type="dcterms:W3CDTF">2021-01-17T15:40:32Z</dcterms:created>
  <dcterms:modified xsi:type="dcterms:W3CDTF">2021-02-28T07:15:58Z</dcterms:modified>
</cp:coreProperties>
</file>