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1" r:id="rId6"/>
    <p:sldId id="316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6" autoAdjust="0"/>
    <p:restoredTop sz="94794" autoAdjust="0"/>
  </p:normalViewPr>
  <p:slideViewPr>
    <p:cSldViewPr snapToGrid="0">
      <p:cViewPr>
        <p:scale>
          <a:sx n="70" d="100"/>
          <a:sy n="70" d="100"/>
        </p:scale>
        <p:origin x="-864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3104A-6E55-4B2B-87C6-D272CBE8B7E2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2334-DE96-4D8F-AA39-DB763625A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ACFB-A2D7-4DCD-947F-7B69551739A3}" type="datetime1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1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12C61-F5C4-4CE8-B8BC-EDFD5BB391AF}" type="datetime1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6215-0066-4536-9FE6-9C47B52BD454}" type="datetime1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5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8F086-32D7-4FE0-9298-B72ECA56DADC}" type="datetime1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0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BDD2-9426-4B7F-A0E1-6BF030117F89}" type="datetime1">
              <a:rPr lang="en-US" smtClean="0"/>
              <a:t>3/21/2021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DEF55-0317-47D2-A824-F4B42C4D23B6}" type="datetime1">
              <a:rPr lang="en-US" smtClean="0"/>
              <a:t>3/21/2021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39059-6ACC-4992-B9BC-2688A4455B19}" type="datetime1">
              <a:rPr lang="en-US" smtClean="0"/>
              <a:t>3/21/2021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3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C1CD-8705-4E2F-AB86-DF1CBB6BC4AF}" type="datetime1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9E99-B50E-45DC-8C7A-E76B9C53804A}" type="datetime1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59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197C-4F4B-4DA8-B842-8D7192562179}" type="datetime1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8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00B4-8E9A-42D1-B9FC-FC3A6B4A25B7}" type="datetime1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EAD6F-8CBA-452B-9F26-691547BAB364}" type="datetime1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1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51598"/>
          </a:xfrm>
        </p:spPr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C00000"/>
                </a:solidFill>
              </a:rPr>
              <a:t>R Markdown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4990" y="6163844"/>
            <a:ext cx="669758" cy="501650"/>
          </a:xfrm>
        </p:spPr>
        <p:txBody>
          <a:bodyPr/>
          <a:lstStyle/>
          <a:p>
            <a:fld id="{3B2AE6E0-6B8A-4A35-8B79-45936E9DB0A3}" type="slidenum">
              <a:rPr lang="en-US" sz="1600" smtClean="0">
                <a:solidFill>
                  <a:srgbClr val="C00000"/>
                </a:solidFill>
              </a:rPr>
              <a:t>1</a:t>
            </a:fld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36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57" y="174056"/>
            <a:ext cx="10515600" cy="808583"/>
          </a:xfrm>
        </p:spPr>
        <p:txBody>
          <a:bodyPr/>
          <a:lstStyle/>
          <a:p>
            <a:r>
              <a:rPr lang="en-US" b="1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8174"/>
            <a:ext cx="11090564" cy="5779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• Creating a </a:t>
            </a:r>
            <a:r>
              <a:rPr lang="en-US" sz="3200" dirty="0" smtClean="0"/>
              <a:t>R Markdown file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• Adding </a:t>
            </a:r>
            <a:r>
              <a:rPr lang="en-US" sz="3200" dirty="0" smtClean="0"/>
              <a:t>code chunks and text to an R Markdown file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• </a:t>
            </a:r>
            <a:r>
              <a:rPr lang="en-US" sz="3200" dirty="0" smtClean="0"/>
              <a:t>Code chunk and header options</a:t>
            </a:r>
          </a:p>
          <a:p>
            <a:r>
              <a:rPr lang="en-US" sz="3200" dirty="0" smtClean="0"/>
              <a:t>Caching</a:t>
            </a:r>
          </a:p>
          <a:p>
            <a:r>
              <a:rPr lang="en-US" sz="3200" dirty="0" smtClean="0"/>
              <a:t>Using Knit to output an R Markdown file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24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R Markdown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90337"/>
            <a:ext cx="12069170" cy="596766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/>
              <a:t>R Markdown is an authoring </a:t>
            </a:r>
            <a:r>
              <a:rPr lang="en-US" sz="3200" dirty="0">
                <a:solidFill>
                  <a:srgbClr val="FF0000"/>
                </a:solidFill>
              </a:rPr>
              <a:t>framework</a:t>
            </a:r>
            <a:r>
              <a:rPr lang="en-US" sz="3200" dirty="0"/>
              <a:t> for data science that combines code</a:t>
            </a:r>
            <a:r>
              <a:rPr lang="en-US" sz="3200" dirty="0" smtClean="0"/>
              <a:t>, results</a:t>
            </a:r>
            <a:r>
              <a:rPr lang="en-US" sz="3200" dirty="0"/>
              <a:t>, and commentary. Output formats include PDF, Word, HTML</a:t>
            </a:r>
            <a:r>
              <a:rPr lang="en-US" sz="3200" dirty="0" smtClean="0"/>
              <a:t>, slideshows</a:t>
            </a:r>
            <a:r>
              <a:rPr lang="en-US" sz="3200" dirty="0"/>
              <a:t>, and more. </a:t>
            </a:r>
            <a:endParaRPr lang="en-US" sz="320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 smtClean="0"/>
              <a:t>An </a:t>
            </a:r>
            <a:r>
              <a:rPr lang="en-US" sz="3200" dirty="0"/>
              <a:t>R Markdown document essentially serves </a:t>
            </a:r>
            <a:r>
              <a:rPr lang="en-US" sz="3200" dirty="0" smtClean="0"/>
              <a:t>three purposes</a:t>
            </a:r>
            <a:r>
              <a:rPr lang="en-US" sz="3200" dirty="0"/>
              <a:t>: communication, collaboration, and as a modern-day lab </a:t>
            </a:r>
            <a:r>
              <a:rPr lang="en-US" sz="3200" dirty="0" smtClean="0"/>
              <a:t>environment that </a:t>
            </a:r>
            <a:r>
              <a:rPr lang="en-US" sz="3200" dirty="0"/>
              <a:t>captures not only what you did, but also what you were thinking. </a:t>
            </a:r>
            <a:endParaRPr lang="en-US" sz="320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 smtClean="0"/>
              <a:t>From a communication </a:t>
            </a:r>
            <a:r>
              <a:rPr lang="en-US" sz="3200" dirty="0"/>
              <a:t>perspective it enables decision makers to focus more on </a:t>
            </a:r>
            <a:r>
              <a:rPr lang="en-US" sz="3200" dirty="0" smtClean="0"/>
              <a:t>the results </a:t>
            </a:r>
            <a:r>
              <a:rPr lang="en-US" sz="3200" dirty="0"/>
              <a:t>of your analysis rather than the code. </a:t>
            </a:r>
            <a:endParaRPr lang="en-US" sz="320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 smtClean="0"/>
              <a:t>However</a:t>
            </a:r>
            <a:r>
              <a:rPr lang="en-US" sz="3200" dirty="0"/>
              <a:t>, because it enables you </a:t>
            </a:r>
            <a:r>
              <a:rPr lang="en-US" sz="3200" dirty="0" smtClean="0"/>
              <a:t>to also </a:t>
            </a:r>
            <a:r>
              <a:rPr lang="en-US" sz="3200" dirty="0"/>
              <a:t>include the code, it functions as a means of collaboration between </a:t>
            </a:r>
            <a:r>
              <a:rPr lang="en-US" sz="3200" dirty="0" smtClean="0"/>
              <a:t>data scientists</a:t>
            </a:r>
            <a:r>
              <a:rPr lang="en-US" sz="3200" dirty="0"/>
              <a:t>.</a:t>
            </a: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7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R Markdown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3200" dirty="0"/>
              <a:t>R Markdown uses the </a:t>
            </a:r>
            <a:r>
              <a:rPr lang="en-US" sz="3200" dirty="0" err="1" smtClean="0"/>
              <a:t>rmarkdown</a:t>
            </a:r>
            <a:r>
              <a:rPr lang="en-US" sz="3200" dirty="0" smtClean="0"/>
              <a:t> package</a:t>
            </a:r>
            <a:r>
              <a:rPr lang="en-US" sz="3200" dirty="0"/>
              <a:t>, but you don’t have to explicitly </a:t>
            </a:r>
            <a:r>
              <a:rPr lang="en-US" sz="3200" dirty="0" smtClean="0"/>
              <a:t>load the </a:t>
            </a:r>
            <a:r>
              <a:rPr lang="en-US" sz="3200" dirty="0"/>
              <a:t>package in </a:t>
            </a:r>
            <a:r>
              <a:rPr lang="en-US" sz="3200" dirty="0" err="1"/>
              <a:t>RStudio</a:t>
            </a:r>
            <a:r>
              <a:rPr lang="en-US" sz="3200" dirty="0"/>
              <a:t>. </a:t>
            </a:r>
            <a:endParaRPr lang="en-US" sz="3200" dirty="0" smtClean="0"/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3200" dirty="0" err="1" smtClean="0"/>
              <a:t>RStudio</a:t>
            </a:r>
            <a:r>
              <a:rPr lang="en-US" sz="3200" dirty="0" smtClean="0"/>
              <a:t> </a:t>
            </a:r>
            <a:r>
              <a:rPr lang="en-US" sz="3200" dirty="0"/>
              <a:t>will automatically load the package as needed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3200" dirty="0"/>
              <a:t>The output format of an R Markdown file is a plain text file with an extension </a:t>
            </a:r>
            <a:r>
              <a:rPr lang="en-US" sz="3200" dirty="0" smtClean="0"/>
              <a:t>of </a:t>
            </a:r>
            <a:r>
              <a:rPr lang="en-US" sz="3200" dirty="0" err="1" smtClean="0"/>
              <a:t>Rmd</a:t>
            </a:r>
            <a:r>
              <a:rPr lang="en-US" sz="3200" dirty="0"/>
              <a:t>. </a:t>
            </a:r>
            <a:endParaRPr lang="en-US" sz="3200" dirty="0" smtClean="0"/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3200" dirty="0" smtClean="0"/>
              <a:t>These </a:t>
            </a:r>
            <a:r>
              <a:rPr lang="en-US" sz="3200" dirty="0"/>
              <a:t>files contain a mixture of three types of content including a </a:t>
            </a:r>
            <a:r>
              <a:rPr lang="en-US" sz="3200" dirty="0" smtClean="0"/>
              <a:t>YAML header</a:t>
            </a:r>
            <a:r>
              <a:rPr lang="en-US" sz="3200" dirty="0"/>
              <a:t>, R code, and text mixed with simple text formatting.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3200" dirty="0"/>
              <a:t>The output R markdown file contains both code and the output of the code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3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R Markdown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5" y="818147"/>
            <a:ext cx="11999495" cy="6015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1885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R Markdown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3200" b="1" dirty="0"/>
              <a:t>YAML</a:t>
            </a:r>
            <a:r>
              <a:rPr lang="en-US" sz="3200" dirty="0"/>
              <a:t> (“Yet Another Markup Language” or “</a:t>
            </a:r>
            <a:r>
              <a:rPr lang="en-US" sz="3200" b="1" dirty="0"/>
              <a:t>YAML</a:t>
            </a:r>
            <a:r>
              <a:rPr lang="en-US" sz="3200" dirty="0"/>
              <a:t> </a:t>
            </a:r>
            <a:r>
              <a:rPr lang="en-US" sz="3200" dirty="0" err="1"/>
              <a:t>Ain't</a:t>
            </a:r>
            <a:r>
              <a:rPr lang="en-US" sz="3200" dirty="0"/>
              <a:t> Markup Language,” depending on who you ask) is the metadata that tells </a:t>
            </a:r>
            <a:r>
              <a:rPr lang="en-US" sz="3200" b="1" dirty="0"/>
              <a:t>R</a:t>
            </a:r>
            <a:r>
              <a:rPr lang="en-US" sz="3200" dirty="0"/>
              <a:t> Markdown, </a:t>
            </a:r>
            <a:r>
              <a:rPr lang="en-US" sz="3200" dirty="0" err="1"/>
              <a:t>pandoc</a:t>
            </a:r>
            <a:r>
              <a:rPr lang="en-US" sz="3200" dirty="0"/>
              <a:t>, and other software exactly how to process or display the </a:t>
            </a:r>
            <a:r>
              <a:rPr lang="en-US" sz="3200" dirty="0" smtClean="0"/>
              <a:t>document.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3200" dirty="0" smtClean="0"/>
              <a:t>An</a:t>
            </a:r>
            <a:r>
              <a:rPr lang="en-US" sz="3200" dirty="0"/>
              <a:t> </a:t>
            </a:r>
            <a:r>
              <a:rPr lang="en-US" sz="3200" b="1" dirty="0"/>
              <a:t>R</a:t>
            </a:r>
            <a:r>
              <a:rPr lang="en-US" sz="3200" dirty="0"/>
              <a:t> Markdown document ( *.</a:t>
            </a:r>
            <a:r>
              <a:rPr lang="en-US" sz="3200" dirty="0" err="1"/>
              <a:t>Rmd</a:t>
            </a:r>
            <a:r>
              <a:rPr lang="en-US" sz="3200" dirty="0"/>
              <a:t> ) is first compiled to Markdown ( *.md ) through the </a:t>
            </a:r>
            <a:r>
              <a:rPr lang="en-US" sz="3200" dirty="0" err="1"/>
              <a:t>knitr</a:t>
            </a:r>
            <a:r>
              <a:rPr lang="en-US" sz="3200" dirty="0"/>
              <a:t> package, and then Markdown is compiled to other output formats (such as </a:t>
            </a:r>
            <a:r>
              <a:rPr lang="en-US" sz="3200" dirty="0" err="1"/>
              <a:t>LaTeX</a:t>
            </a:r>
            <a:r>
              <a:rPr lang="en-US" sz="3200" dirty="0"/>
              <a:t> or HTML) through </a:t>
            </a:r>
            <a:r>
              <a:rPr lang="en-US" sz="3200" b="1" dirty="0" err="1"/>
              <a:t>Pandoc</a:t>
            </a:r>
            <a:r>
              <a:rPr lang="en-US" sz="3200" dirty="0"/>
              <a:t>. This process is automated by the </a:t>
            </a:r>
            <a:r>
              <a:rPr lang="en-US" sz="3200" dirty="0" err="1"/>
              <a:t>rmarkdown</a:t>
            </a:r>
            <a:r>
              <a:rPr lang="en-US" sz="3200" dirty="0"/>
              <a:t> package</a:t>
            </a:r>
            <a:r>
              <a:rPr lang="en-US" sz="3200" dirty="0" smtClean="0"/>
              <a:t>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3200" b="1" dirty="0" err="1"/>
              <a:t>Pandoc</a:t>
            </a:r>
            <a:r>
              <a:rPr lang="en-US" sz="3200" dirty="0"/>
              <a:t> is a free and open-source document converter, widely used as a writing tool (especially by scholars) and as a basis for publishing workflows.</a:t>
            </a:r>
            <a:endParaRPr lang="en-US" sz="3200" dirty="0" smtClean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3200" dirty="0" smtClean="0"/>
              <a:t>https</a:t>
            </a:r>
            <a:r>
              <a:rPr lang="en-US" sz="3200" dirty="0"/>
              <a:t>://pandoc.org/getting-started.html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6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R Markdown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r>
              <a:rPr lang="en-US" sz="3200" dirty="0"/>
              <a:t>Using the </a:t>
            </a:r>
            <a:r>
              <a:rPr lang="en-US" sz="3200" dirty="0" err="1"/>
              <a:t>RStudio</a:t>
            </a:r>
            <a:r>
              <a:rPr lang="en-US" sz="3200" dirty="0"/>
              <a:t> interface you can run sections of the code or all the code in the file.</a:t>
            </a:r>
            <a:endParaRPr lang="en-US" sz="3100" dirty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The code </a:t>
            </a:r>
            <a:r>
              <a:rPr lang="en-US" sz="3200" dirty="0"/>
              <a:t>is enclosed by three </a:t>
            </a:r>
            <a:r>
              <a:rPr lang="en-US" sz="3200" dirty="0" smtClean="0"/>
              <a:t>back-ticks(```   ….. ```) </a:t>
            </a:r>
            <a:r>
              <a:rPr lang="en-US" sz="3200" dirty="0"/>
              <a:t>followed by the output of the code below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If you want to export the contents to a specific file type you can use the </a:t>
            </a:r>
            <a:r>
              <a:rPr lang="en-US" sz="3200" dirty="0" smtClean="0"/>
              <a:t>Knit functionality </a:t>
            </a:r>
            <a:r>
              <a:rPr lang="en-US" sz="3200" dirty="0"/>
              <a:t>embedded in </a:t>
            </a:r>
            <a:r>
              <a:rPr lang="en-US" sz="3200" dirty="0" err="1"/>
              <a:t>RStudio</a:t>
            </a:r>
            <a:r>
              <a:rPr lang="en-US" sz="3200" dirty="0"/>
              <a:t> to export to HTML, PDF, and Word formats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This will export a complete file containing text, code, and results.</a:t>
            </a: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1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an R Markdown file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3200" dirty="0"/>
              <a:t>An R Markdown file is simply a plain text file with a file extension of .</a:t>
            </a:r>
            <a:r>
              <a:rPr lang="en-US" sz="3200" dirty="0" err="1"/>
              <a:t>Rmd</a:t>
            </a:r>
            <a:r>
              <a:rPr lang="en-US" sz="3200" dirty="0" smtClean="0"/>
              <a:t>. You </a:t>
            </a:r>
            <a:r>
              <a:rPr lang="en-US" sz="3200" dirty="0"/>
              <a:t>can use </a:t>
            </a:r>
            <a:r>
              <a:rPr lang="en-US" sz="3200" dirty="0" err="1"/>
              <a:t>RStudio</a:t>
            </a:r>
            <a:r>
              <a:rPr lang="en-US" sz="3200" dirty="0"/>
              <a:t> to create new markdown files, which is what you’ll do </a:t>
            </a:r>
            <a:r>
              <a:rPr lang="en-US" sz="3200" dirty="0" smtClean="0"/>
              <a:t>in this </a:t>
            </a:r>
            <a:r>
              <a:rPr lang="en-US" sz="3200" dirty="0"/>
              <a:t>brief exercise.</a:t>
            </a:r>
          </a:p>
          <a:p>
            <a:pPr marL="514350" indent="-514350">
              <a:spcBef>
                <a:spcPts val="1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3200" dirty="0" smtClean="0"/>
              <a:t>The </a:t>
            </a:r>
            <a:r>
              <a:rPr lang="en-US" sz="3200" dirty="0"/>
              <a:t>exercises in this chapter require the following packages: </a:t>
            </a:r>
            <a:r>
              <a:rPr lang="en-US" sz="3200" dirty="0" err="1"/>
              <a:t>readr</a:t>
            </a:r>
            <a:r>
              <a:rPr lang="en-US" sz="3200" dirty="0"/>
              <a:t>, </a:t>
            </a:r>
            <a:r>
              <a:rPr lang="en-US" sz="3200" dirty="0" err="1"/>
              <a:t>dplyr</a:t>
            </a:r>
            <a:r>
              <a:rPr lang="en-US" sz="3200" dirty="0" smtClean="0"/>
              <a:t>, ggplot2</a:t>
            </a:r>
            <a:r>
              <a:rPr lang="en-US" sz="3200" dirty="0"/>
              <a:t>, and </a:t>
            </a:r>
            <a:r>
              <a:rPr lang="en-US" sz="3200" dirty="0" err="1"/>
              <a:t>ggmap</a:t>
            </a:r>
            <a:r>
              <a:rPr lang="en-US" sz="3200" dirty="0" smtClean="0"/>
              <a:t>. They </a:t>
            </a:r>
            <a:r>
              <a:rPr lang="en-US" sz="3200" dirty="0"/>
              <a:t>can be loaded from the </a:t>
            </a:r>
            <a:r>
              <a:rPr lang="en-US" sz="3200" b="1" dirty="0"/>
              <a:t>Packages </a:t>
            </a:r>
            <a:r>
              <a:rPr lang="en-US" sz="3200" dirty="0"/>
              <a:t>pane, the </a:t>
            </a:r>
            <a:r>
              <a:rPr lang="en-US" sz="3200" b="1" dirty="0" smtClean="0"/>
              <a:t>Console </a:t>
            </a:r>
            <a:r>
              <a:rPr lang="en-US" sz="3200" dirty="0" smtClean="0"/>
              <a:t>pane</a:t>
            </a:r>
            <a:r>
              <a:rPr lang="en-US" sz="3200" dirty="0"/>
              <a:t>, or a script</a:t>
            </a:r>
            <a:r>
              <a:rPr lang="en-US" sz="3200" dirty="0" smtClean="0"/>
              <a:t>. </a:t>
            </a:r>
          </a:p>
          <a:p>
            <a:pPr marL="514350" indent="-514350">
              <a:spcBef>
                <a:spcPts val="1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3200" dirty="0" smtClean="0"/>
              <a:t>Open </a:t>
            </a:r>
            <a:r>
              <a:rPr lang="en-US" sz="3200" dirty="0" err="1"/>
              <a:t>RStudio</a:t>
            </a:r>
            <a:r>
              <a:rPr lang="en-US" sz="3200" dirty="0"/>
              <a:t> and go to File | New File | R Markdown. This will display </a:t>
            </a:r>
            <a:r>
              <a:rPr lang="en-US" sz="3200" dirty="0" smtClean="0"/>
              <a:t>the dialog </a:t>
            </a:r>
            <a:r>
              <a:rPr lang="en-US" sz="3200" dirty="0"/>
              <a:t>you see below. There are different types of markdown that can be created</a:t>
            </a:r>
            <a:r>
              <a:rPr lang="en-US" sz="3200" dirty="0" smtClean="0"/>
              <a:t>, but </a:t>
            </a:r>
            <a:r>
              <a:rPr lang="en-US" sz="3200" dirty="0"/>
              <a:t>for this exercise we’ll keep it simple and create a document.</a:t>
            </a: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41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412956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an R Markdown file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11" y="794084"/>
            <a:ext cx="11550315" cy="606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690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an R Markdown file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3. Select </a:t>
            </a:r>
            <a:r>
              <a:rPr lang="en-US" sz="3200" dirty="0"/>
              <a:t>Document (which is the default), give it a title of Creating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Maps with R</a:t>
            </a:r>
            <a:r>
              <a:rPr lang="en-US" sz="3200" dirty="0"/>
              <a:t>, change the author name if you’d like, and select PDF as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the </a:t>
            </a:r>
            <a:r>
              <a:rPr lang="en-US" sz="3200" dirty="0"/>
              <a:t>output.</a:t>
            </a:r>
            <a:endParaRPr lang="en-US" sz="32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74" y="2213812"/>
            <a:ext cx="11782925" cy="440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394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an R Markdown file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31795"/>
            <a:ext cx="12069170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4. This </a:t>
            </a:r>
            <a:r>
              <a:rPr lang="en-US" sz="3200" dirty="0"/>
              <a:t>will create a file with some header information, text, and code.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Your file should </a:t>
            </a:r>
            <a:r>
              <a:rPr lang="en-US" sz="3200" dirty="0"/>
              <a:t>look similar to the screenshot below.</a:t>
            </a:r>
            <a:endParaRPr lang="en-US" sz="320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58" y="1973179"/>
            <a:ext cx="11429999" cy="462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9532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an R Markdown file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5. At the very top of the file is the header information, which is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surrounded by dashes</a:t>
            </a:r>
            <a:r>
              <a:rPr lang="en-US" sz="3200" dirty="0"/>
              <a:t>. We’ll add some content to this section in a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later </a:t>
            </a:r>
            <a:r>
              <a:rPr lang="en-US" sz="3200" dirty="0"/>
              <a:t>exercise, but for </a:t>
            </a:r>
            <a:r>
              <a:rPr lang="en-US" sz="3200" dirty="0" smtClean="0"/>
              <a:t>now we’ll </a:t>
            </a:r>
            <a:r>
              <a:rPr lang="en-US" sz="3200" dirty="0"/>
              <a:t>leave it as is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6. Code sections </a:t>
            </a:r>
            <a:r>
              <a:rPr lang="en-US" sz="3200" dirty="0" smtClean="0"/>
              <a:t>are grouped </a:t>
            </a:r>
            <a:r>
              <a:rPr lang="en-US" sz="3200" dirty="0"/>
              <a:t>through the use of back-ticks as seen in the screenshot below.</a:t>
            </a:r>
            <a:endParaRPr lang="en-US" sz="32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318" y="2343149"/>
            <a:ext cx="4616617" cy="208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363" y="5197642"/>
            <a:ext cx="4031583" cy="1178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8610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an R Markdown file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7. Plain </a:t>
            </a:r>
            <a:r>
              <a:rPr lang="en-US" sz="3200" dirty="0"/>
              <a:t>text and formatted text can be included in a markdown file </a:t>
            </a:r>
            <a:r>
              <a:rPr lang="en-US" sz="3200" dirty="0" smtClean="0"/>
              <a:t>as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well</a:t>
            </a:r>
            <a:r>
              <a:rPr lang="en-US" sz="3200" dirty="0"/>
              <a:t>. </a:t>
            </a:r>
            <a:endParaRPr lang="en-US" sz="3200" dirty="0" smtClean="0"/>
          </a:p>
          <a:p>
            <a:r>
              <a:rPr lang="en-US" sz="3200" dirty="0" smtClean="0"/>
              <a:t>Text that </a:t>
            </a:r>
            <a:r>
              <a:rPr lang="en-US" sz="3200" dirty="0"/>
              <a:t>needs to be formatted must follow a specific syntax. For example, </a:t>
            </a:r>
            <a:r>
              <a:rPr lang="en-US" sz="3200" dirty="0" smtClean="0"/>
              <a:t>you format </a:t>
            </a:r>
            <a:r>
              <a:rPr lang="en-US" sz="3200" dirty="0"/>
              <a:t>text for italics, bold font, headings, links and images.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sz="3200" dirty="0" smtClean="0"/>
              <a:t>8</a:t>
            </a:r>
            <a:r>
              <a:rPr lang="en-US" sz="3200" dirty="0"/>
              <a:t>. Other than the header information we aren’t going to use any of the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default code </a:t>
            </a:r>
            <a:r>
              <a:rPr lang="en-US" sz="3200" dirty="0"/>
              <a:t>or text provided so go ahead and delete everything </a:t>
            </a:r>
            <a:r>
              <a:rPr lang="en-US" sz="3200" dirty="0" smtClean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other </a:t>
            </a:r>
            <a:r>
              <a:rPr lang="en-US" sz="3200" dirty="0"/>
              <a:t>than the header.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200" dirty="0"/>
              <a:t>9. Save the file to your working directory with a name </a:t>
            </a:r>
            <a:r>
              <a:rPr lang="en-US" sz="3200" dirty="0" smtClean="0"/>
              <a:t>of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</a:t>
            </a:r>
            <a:r>
              <a:rPr lang="en-US" sz="3200" dirty="0" err="1" smtClean="0"/>
              <a:t>CreatingMapsWithR.Rmd</a:t>
            </a:r>
            <a:r>
              <a:rPr lang="en-US" sz="32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29335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Adding Code Chunks and Text to an R Markdown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938463"/>
            <a:ext cx="12069170" cy="5919535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3200" dirty="0"/>
              <a:t>R code can be included in the R Markdown file through the use of chunks, </a:t>
            </a:r>
            <a:r>
              <a:rPr lang="en-US" sz="3200" dirty="0" smtClean="0"/>
              <a:t>which are </a:t>
            </a:r>
            <a:r>
              <a:rPr lang="en-US" sz="3200" dirty="0"/>
              <a:t>defined through the use of three back-ticks followed by an r enclosed </a:t>
            </a:r>
            <a:r>
              <a:rPr lang="en-US" sz="3200" dirty="0" smtClean="0"/>
              <a:t>within curly </a:t>
            </a:r>
            <a:r>
              <a:rPr lang="en-US" sz="3200" dirty="0"/>
              <a:t>braces. </a:t>
            </a:r>
            <a:endParaRPr lang="en-US" sz="3200" dirty="0" smtClean="0"/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3200" dirty="0" smtClean="0"/>
              <a:t>Inside </a:t>
            </a:r>
            <a:r>
              <a:rPr lang="en-US" sz="3200" dirty="0"/>
              <a:t>the curly braces are options that can be included. </a:t>
            </a:r>
            <a:endParaRPr lang="en-US" sz="3200" dirty="0" smtClean="0"/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3200" dirty="0" smtClean="0"/>
              <a:t>These options </a:t>
            </a:r>
            <a:r>
              <a:rPr lang="en-US" sz="3200" dirty="0"/>
              <a:t>can include TRUE | FALSE parameters for turning various types </a:t>
            </a:r>
            <a:r>
              <a:rPr lang="en-US" sz="3200" dirty="0" smtClean="0"/>
              <a:t>of messaging </a:t>
            </a:r>
            <a:r>
              <a:rPr lang="en-US" sz="3200" dirty="0"/>
              <a:t>on and off.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3200" dirty="0"/>
              <a:t>Chunks define a single task, sort of like a function.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356676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Adding Code Chunks and Text to an R Markdown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3200" dirty="0" smtClean="0"/>
              <a:t>They </a:t>
            </a:r>
            <a:r>
              <a:rPr lang="en-US" sz="3200" dirty="0"/>
              <a:t>should be </a:t>
            </a:r>
            <a:r>
              <a:rPr lang="en-US" sz="3200" dirty="0" err="1" smtClean="0"/>
              <a:t>selfcontained</a:t>
            </a:r>
            <a:r>
              <a:rPr lang="en-US" sz="3200" dirty="0" smtClean="0"/>
              <a:t> and </a:t>
            </a:r>
            <a:r>
              <a:rPr lang="en-US" sz="3200" dirty="0"/>
              <a:t>tightly defined pieces of code. </a:t>
            </a:r>
            <a:endParaRPr lang="en-US" sz="3200" dirty="0" smtClean="0"/>
          </a:p>
          <a:p>
            <a:pPr marL="0" indent="0">
              <a:spcAft>
                <a:spcPts val="1200"/>
              </a:spcAft>
              <a:buNone/>
            </a:pPr>
            <a:endParaRPr lang="en-US" sz="3200" dirty="0" smtClean="0"/>
          </a:p>
          <a:p>
            <a:pPr>
              <a:spcAft>
                <a:spcPts val="1200"/>
              </a:spcAft>
            </a:pPr>
            <a:r>
              <a:rPr lang="en-US" sz="3200" dirty="0" smtClean="0"/>
              <a:t>There </a:t>
            </a:r>
            <a:r>
              <a:rPr lang="en-US" sz="3200" dirty="0"/>
              <a:t>are three ways to </a:t>
            </a:r>
            <a:r>
              <a:rPr lang="en-US" sz="3200" dirty="0" smtClean="0"/>
              <a:t>insert chunks </a:t>
            </a:r>
            <a:r>
              <a:rPr lang="en-US" sz="3200" dirty="0"/>
              <a:t>into an R Markdown file: </a:t>
            </a:r>
            <a:r>
              <a:rPr lang="en-US" sz="3200" dirty="0" err="1"/>
              <a:t>Cmd</a:t>
            </a:r>
            <a:r>
              <a:rPr lang="en-US" sz="3200" dirty="0"/>
              <a:t>/Ctrl-Alt-I, the </a:t>
            </a:r>
            <a:r>
              <a:rPr lang="en-US" sz="3200" b="1" dirty="0" smtClean="0"/>
              <a:t>Insert </a:t>
            </a:r>
            <a:r>
              <a:rPr lang="en-US" sz="3200" dirty="0" smtClean="0"/>
              <a:t>button </a:t>
            </a:r>
            <a:r>
              <a:rPr lang="en-US" sz="3200" dirty="0"/>
              <a:t>on the </a:t>
            </a:r>
            <a:r>
              <a:rPr lang="en-US" sz="3200" dirty="0" smtClean="0"/>
              <a:t>editor toolbar</a:t>
            </a:r>
            <a:r>
              <a:rPr lang="en-US" sz="3200" dirty="0"/>
              <a:t>, and by manually typing the chunk delimiters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r>
              <a:rPr lang="en-US" sz="3200" dirty="0" smtClean="0"/>
              <a:t>You </a:t>
            </a:r>
            <a:r>
              <a:rPr lang="en-US" sz="3200" dirty="0"/>
              <a:t>can also add plain text and formatted text to an R Markdown file.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Formatted text </a:t>
            </a:r>
            <a:r>
              <a:rPr lang="en-US" sz="3200" dirty="0"/>
              <a:t>has to be defined according to a specific syntax.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94424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2: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##Step 1: Creating a </a:t>
            </a:r>
            <a:r>
              <a:rPr lang="en-US" sz="3200" dirty="0" err="1"/>
              <a:t>Basemap</a:t>
            </a:r>
            <a:r>
              <a:rPr lang="en-US" sz="3200" dirty="0"/>
              <a:t>.</a:t>
            </a:r>
            <a:endParaRPr lang="en-US" sz="3200" dirty="0" smtClean="0"/>
          </a:p>
          <a:p>
            <a:pPr marL="514350" indent="-514350">
              <a:buAutoNum type="arabicPeriod"/>
            </a:pPr>
            <a:r>
              <a:rPr lang="en-US" sz="3200" dirty="0" smtClean="0"/>
              <a:t>First</a:t>
            </a:r>
            <a:r>
              <a:rPr lang="en-US" sz="3200" dirty="0"/>
              <a:t>, </a:t>
            </a:r>
            <a:r>
              <a:rPr lang="en-US" sz="3200" dirty="0" smtClean="0"/>
              <a:t>add </a:t>
            </a:r>
            <a:r>
              <a:rPr lang="en-US" sz="3200" dirty="0"/>
              <a:t>some descriptive text that will be included in the output </a:t>
            </a:r>
            <a:r>
              <a:rPr lang="en-US" sz="3200" dirty="0" smtClean="0"/>
              <a:t>R Markup </a:t>
            </a:r>
            <a:r>
              <a:rPr lang="en-US" sz="3200" dirty="0"/>
              <a:t>file. </a:t>
            </a:r>
            <a:endParaRPr lang="en-US" sz="3200" dirty="0" smtClean="0"/>
          </a:p>
          <a:p>
            <a:r>
              <a:rPr lang="en-US" sz="3200" dirty="0" smtClean="0"/>
              <a:t>Notice </a:t>
            </a:r>
            <a:r>
              <a:rPr lang="en-US" sz="3200" dirty="0"/>
              <a:t>that the text Step 1: Creating a </a:t>
            </a:r>
            <a:r>
              <a:rPr lang="en-US" sz="3200" dirty="0" err="1"/>
              <a:t>Basemap</a:t>
            </a:r>
            <a:r>
              <a:rPr lang="en-US" sz="3200" dirty="0"/>
              <a:t> has been </a:t>
            </a:r>
            <a:r>
              <a:rPr lang="en-US" sz="3200" dirty="0" smtClean="0"/>
              <a:t>preceded by </a:t>
            </a:r>
            <a:r>
              <a:rPr lang="en-US" sz="3200" dirty="0"/>
              <a:t>two pound signs.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pound signs are used </a:t>
            </a:r>
            <a:r>
              <a:rPr lang="en-US" sz="3200" dirty="0" smtClean="0"/>
              <a:t>to define </a:t>
            </a:r>
            <a:r>
              <a:rPr lang="en-US" sz="3200" dirty="0"/>
              <a:t>headings. In this case two pound signs would translate to an HTML &lt;h2</a:t>
            </a:r>
            <a:r>
              <a:rPr lang="en-US" sz="3200" dirty="0" smtClean="0"/>
              <a:t>&gt; tag</a:t>
            </a:r>
            <a:r>
              <a:rPr lang="en-US" sz="3200" dirty="0"/>
              <a:t>, which simply defines the size of the text. </a:t>
            </a:r>
            <a:endParaRPr lang="en-US" sz="3200" dirty="0" smtClean="0"/>
          </a:p>
          <a:p>
            <a:r>
              <a:rPr lang="en-US" sz="3200" dirty="0" smtClean="0"/>
              <a:t>Also </a:t>
            </a:r>
            <a:r>
              <a:rPr lang="en-US" sz="3200" dirty="0"/>
              <a:t>notice that some of </a:t>
            </a:r>
            <a:r>
              <a:rPr lang="en-US" sz="3200" dirty="0" smtClean="0"/>
              <a:t>the words </a:t>
            </a:r>
            <a:r>
              <a:rPr lang="en-US" sz="3200" dirty="0"/>
              <a:t>like </a:t>
            </a:r>
            <a:r>
              <a:rPr lang="en-US" sz="3200" dirty="0" err="1"/>
              <a:t>ggmap</a:t>
            </a:r>
            <a:r>
              <a:rPr lang="en-US" sz="3200" dirty="0"/>
              <a:t> and </a:t>
            </a:r>
            <a:r>
              <a:rPr lang="en-US" sz="3200" dirty="0" err="1"/>
              <a:t>ggplot</a:t>
            </a:r>
            <a:r>
              <a:rPr lang="en-US" sz="3200" dirty="0"/>
              <a:t> are surrounded by single quotes. </a:t>
            </a:r>
            <a:endParaRPr lang="en-US" sz="3200" dirty="0" smtClean="0"/>
          </a:p>
          <a:p>
            <a:r>
              <a:rPr lang="en-US" sz="3200" dirty="0" smtClean="0"/>
              <a:t>Single </a:t>
            </a:r>
            <a:r>
              <a:rPr lang="en-US" sz="3200" dirty="0"/>
              <a:t>quotes </a:t>
            </a:r>
            <a:r>
              <a:rPr lang="en-US" sz="3200" dirty="0" smtClean="0"/>
              <a:t>are used </a:t>
            </a:r>
            <a:r>
              <a:rPr lang="en-US" sz="3200" dirty="0"/>
              <a:t>to define a different style for the word that indicates this word </a:t>
            </a:r>
            <a:r>
              <a:rPr lang="en-US" sz="3200" dirty="0" smtClean="0"/>
              <a:t>is programmatic </a:t>
            </a:r>
            <a:r>
              <a:rPr lang="en-US" sz="3200" dirty="0"/>
              <a:t>code.</a:t>
            </a:r>
          </a:p>
        </p:txBody>
      </p:sp>
    </p:spTree>
    <p:extLst>
      <p:ext uri="{BB962C8B-B14F-4D97-AF65-F5344CB8AC3E}">
        <p14:creationId xmlns:p14="http://schemas.microsoft.com/office/powerpoint/2010/main" val="1148132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2: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 smtClean="0"/>
              <a:t>1.1.  First</a:t>
            </a:r>
            <a:r>
              <a:rPr lang="en-US" sz="3200" dirty="0"/>
              <a:t>, load the </a:t>
            </a:r>
            <a:r>
              <a:rPr lang="en-US" sz="3200" dirty="0" smtClean="0"/>
              <a:t>needed libraries</a:t>
            </a:r>
            <a:endParaRPr lang="en-US" sz="3200" dirty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1.2</a:t>
            </a:r>
            <a:r>
              <a:rPr lang="en-US" sz="3200" dirty="0"/>
              <a:t>. </a:t>
            </a:r>
            <a:r>
              <a:rPr lang="en-US" sz="3200" dirty="0" smtClean="0"/>
              <a:t> Click </a:t>
            </a:r>
            <a:r>
              <a:rPr lang="en-US" sz="3200" b="1" dirty="0"/>
              <a:t>Insert </a:t>
            </a:r>
            <a:r>
              <a:rPr lang="en-US" sz="3200" dirty="0"/>
              <a:t>and then </a:t>
            </a:r>
            <a:r>
              <a:rPr lang="en-US" sz="3200" b="1" dirty="0"/>
              <a:t>R </a:t>
            </a:r>
            <a:r>
              <a:rPr lang="en-US" sz="3200" dirty="0"/>
              <a:t>to insert a new code chunk as seen below. </a:t>
            </a:r>
            <a:endParaRPr lang="en-US" sz="3200" dirty="0" smtClean="0"/>
          </a:p>
          <a:p>
            <a:pPr>
              <a:spcBef>
                <a:spcPts val="0"/>
              </a:spcBef>
            </a:pPr>
            <a:r>
              <a:rPr lang="en-US" sz="3200" dirty="0" smtClean="0"/>
              <a:t>The code you </a:t>
            </a:r>
            <a:r>
              <a:rPr lang="en-US" sz="3200" dirty="0"/>
              <a:t>add will go in between the set of back-ticks. </a:t>
            </a:r>
            <a:r>
              <a:rPr lang="en-US" sz="3200" dirty="0" smtClean="0"/>
              <a:t>There can be </a:t>
            </a:r>
            <a:r>
              <a:rPr lang="en-US" sz="3200" dirty="0"/>
              <a:t>number of code chunks, with each </a:t>
            </a:r>
            <a:r>
              <a:rPr lang="en-US" sz="3200" dirty="0" smtClean="0"/>
              <a:t>defining </a:t>
            </a:r>
            <a:r>
              <a:rPr lang="en-US" sz="3200" dirty="0"/>
              <a:t>a specific task. They are similar </a:t>
            </a:r>
            <a:r>
              <a:rPr lang="en-US" sz="3200" dirty="0" smtClean="0"/>
              <a:t>in many </a:t>
            </a:r>
            <a:r>
              <a:rPr lang="en-US" sz="3200" dirty="0"/>
              <a:t>ways to functions.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27" y="3441031"/>
            <a:ext cx="11405936" cy="3272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2037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2: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1.3</a:t>
            </a:r>
            <a:r>
              <a:rPr lang="en-US" sz="3200" dirty="0"/>
              <a:t>. For this code chunk we’ll just load the libraries that will be used in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this exercise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Add </a:t>
            </a:r>
            <a:r>
              <a:rPr lang="en-US" sz="3200" dirty="0"/>
              <a:t>the code you see below inside the code chunk boundaries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pPr marL="457200" lvl="1" indent="0">
              <a:buNone/>
            </a:pPr>
            <a:r>
              <a:rPr lang="en-US" sz="3200" dirty="0"/>
              <a:t>```{r}</a:t>
            </a:r>
          </a:p>
          <a:p>
            <a:pPr marL="457200" lvl="1" indent="0">
              <a:buNone/>
            </a:pPr>
            <a:r>
              <a:rPr lang="en-US" sz="3200" dirty="0"/>
              <a:t>library(ggplot2) library(</a:t>
            </a:r>
            <a:r>
              <a:rPr lang="en-US" sz="3200" dirty="0" err="1"/>
              <a:t>ggmap</a:t>
            </a:r>
            <a:r>
              <a:rPr lang="en-US" sz="3200" dirty="0"/>
              <a:t>) library(</a:t>
            </a:r>
            <a:r>
              <a:rPr lang="en-US" sz="3200" dirty="0" err="1"/>
              <a:t>readr</a:t>
            </a:r>
            <a:r>
              <a:rPr lang="en-US" sz="3200" dirty="0"/>
              <a:t>) library(</a:t>
            </a:r>
            <a:r>
              <a:rPr lang="en-US" sz="3200" dirty="0" err="1"/>
              <a:t>dplyr</a:t>
            </a:r>
            <a:r>
              <a:rPr lang="en-US" sz="3200" dirty="0"/>
              <a:t>) </a:t>
            </a:r>
            <a:r>
              <a:rPr lang="en-US" sz="3200" dirty="0" smtClean="0"/>
              <a:t>```</a:t>
            </a:r>
          </a:p>
          <a:p>
            <a:pPr marL="457200" lvl="1" indent="0">
              <a:buNone/>
            </a:pPr>
            <a:endParaRPr lang="en-US" sz="3200" dirty="0"/>
          </a:p>
          <a:p>
            <a:pPr marL="457200" lvl="1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1.4</a:t>
            </a:r>
            <a:r>
              <a:rPr lang="en-US" sz="3200" dirty="0"/>
              <a:t>. Add some additional text that describes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2458640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2</a:t>
            </a:r>
            <a:r>
              <a:rPr lang="en-US" sz="3200" dirty="0"/>
              <a:t>. Create a variable called `</a:t>
            </a:r>
            <a:r>
              <a:rPr lang="en-US" sz="3200" dirty="0" err="1"/>
              <a:t>myLocation</a:t>
            </a:r>
            <a:r>
              <a:rPr lang="en-US" sz="3200" dirty="0"/>
              <a:t>` and set it to `California`. </a:t>
            </a:r>
            <a:endParaRPr lang="en-US" sz="3200" dirty="0" smtClean="0"/>
          </a:p>
          <a:p>
            <a:r>
              <a:rPr lang="en-US" sz="3200" dirty="0" smtClean="0"/>
              <a:t>Call the `</a:t>
            </a:r>
            <a:r>
              <a:rPr lang="en-US" sz="3200" dirty="0" err="1"/>
              <a:t>get_map</a:t>
            </a:r>
            <a:r>
              <a:rPr lang="en-US" sz="3200" dirty="0"/>
              <a:t>()` function with a zoom level </a:t>
            </a:r>
            <a:r>
              <a:rPr lang="en-US" sz="3200" dirty="0" smtClean="0"/>
              <a:t>of 6</a:t>
            </a:r>
            <a:r>
              <a:rPr lang="en-US" sz="3200" dirty="0"/>
              <a:t>, and plot the map using the `</a:t>
            </a:r>
            <a:r>
              <a:rPr lang="en-US" sz="3200" dirty="0" err="1"/>
              <a:t>ggmap</a:t>
            </a:r>
            <a:r>
              <a:rPr lang="en-US" sz="3200" dirty="0"/>
              <a:t>()` function, passing in a reference to </a:t>
            </a:r>
            <a:r>
              <a:rPr lang="en-US" sz="3200" dirty="0" smtClean="0"/>
              <a:t>the variable </a:t>
            </a:r>
            <a:r>
              <a:rPr lang="en-US" sz="3200" dirty="0"/>
              <a:t>returned by the `</a:t>
            </a:r>
            <a:r>
              <a:rPr lang="en-US" sz="3200" dirty="0" err="1"/>
              <a:t>get_map</a:t>
            </a:r>
            <a:r>
              <a:rPr lang="en-US" sz="3200" dirty="0"/>
              <a:t>()` function. The default map type is </a:t>
            </a:r>
            <a:r>
              <a:rPr lang="en-US" sz="3200" dirty="0" smtClean="0"/>
              <a:t>Google Maps </a:t>
            </a:r>
            <a:r>
              <a:rPr lang="en-US" sz="3200" dirty="0"/>
              <a:t>with a style of Terrain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2.1. </a:t>
            </a:r>
            <a:r>
              <a:rPr lang="en-US" sz="3200" dirty="0"/>
              <a:t>Insert a new code chunk just below the descriptive text and add the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following code</a:t>
            </a:r>
            <a:r>
              <a:rPr lang="en-US" sz="3200" dirty="0"/>
              <a:t>.</a:t>
            </a:r>
          </a:p>
          <a:p>
            <a:r>
              <a:rPr lang="en-US" sz="3200" dirty="0"/>
              <a:t>```{r}</a:t>
            </a:r>
          </a:p>
          <a:p>
            <a:r>
              <a:rPr lang="en-US" sz="3200" dirty="0" err="1"/>
              <a:t>myLocation</a:t>
            </a:r>
            <a:r>
              <a:rPr lang="en-US" sz="3200" dirty="0"/>
              <a:t> &lt;- </a:t>
            </a:r>
            <a:r>
              <a:rPr lang="en-US" sz="3200" dirty="0" smtClean="0"/>
              <a:t>"California</a:t>
            </a:r>
            <a:r>
              <a:rPr lang="en-US" sz="3200" dirty="0"/>
              <a:t>”</a:t>
            </a:r>
          </a:p>
          <a:p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err="1"/>
              <a:t>myLocation</a:t>
            </a:r>
            <a:r>
              <a:rPr lang="en-US" sz="3200" dirty="0"/>
              <a:t>, zoom = 6) </a:t>
            </a:r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1338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2.2. </a:t>
            </a:r>
            <a:r>
              <a:rPr lang="en-US" sz="3200" dirty="0"/>
              <a:t>Let’s run the code that has been added so far to see the result. </a:t>
            </a:r>
            <a:r>
              <a:rPr lang="en-US" sz="3200" dirty="0" smtClean="0"/>
              <a:t> 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Select Run | Run </a:t>
            </a:r>
            <a:r>
              <a:rPr lang="en-US" sz="3200" dirty="0"/>
              <a:t>All from the </a:t>
            </a:r>
            <a:r>
              <a:rPr lang="en-US" sz="3200" dirty="0" err="1"/>
              <a:t>RStudio</a:t>
            </a:r>
            <a:r>
              <a:rPr lang="en-US" sz="3200" dirty="0"/>
              <a:t> interface.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output is included inside the markdown document. If not, check </a:t>
            </a:r>
            <a:r>
              <a:rPr lang="en-US" sz="3200" dirty="0" smtClean="0"/>
              <a:t>your code </a:t>
            </a:r>
            <a:r>
              <a:rPr lang="en-US" sz="3200" dirty="0"/>
              <a:t>and try running it again.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463" y="2887580"/>
            <a:ext cx="8787565" cy="3970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724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3</a:t>
            </a:r>
            <a:r>
              <a:rPr lang="en-US" sz="3200" dirty="0"/>
              <a:t>. The code you see below will create a Google satellite </a:t>
            </a:r>
            <a:r>
              <a:rPr lang="en-US" sz="3200" dirty="0" err="1"/>
              <a:t>basemap</a:t>
            </a:r>
            <a:r>
              <a:rPr lang="en-US" sz="3200" dirty="0"/>
              <a:t> layer.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Other </a:t>
            </a:r>
            <a:r>
              <a:rPr lang="en-US" sz="3200" dirty="0" err="1" smtClean="0"/>
              <a:t>basemap</a:t>
            </a:r>
            <a:r>
              <a:rPr lang="en-US" sz="3200" dirty="0" smtClean="0"/>
              <a:t> </a:t>
            </a:r>
            <a:r>
              <a:rPr lang="en-US" sz="3200" dirty="0"/>
              <a:t>layers include Stamen, OSM, and </a:t>
            </a:r>
            <a:r>
              <a:rPr lang="en-US" sz="3200" dirty="0" err="1"/>
              <a:t>CloudMade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3.1. </a:t>
            </a:r>
            <a:r>
              <a:rPr lang="en-US" sz="3200" dirty="0"/>
              <a:t>Create a new code chunk and add the code you see below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```{r}</a:t>
            </a:r>
          </a:p>
          <a:p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err="1"/>
              <a:t>myLocation</a:t>
            </a:r>
            <a:r>
              <a:rPr lang="en-US" sz="3200" dirty="0"/>
              <a:t>, zoom = 6, source=”</a:t>
            </a:r>
            <a:r>
              <a:rPr lang="en-US" sz="3200" dirty="0" err="1"/>
              <a:t>google</a:t>
            </a:r>
            <a:r>
              <a:rPr lang="en-US" sz="3200" dirty="0"/>
              <a:t>”,</a:t>
            </a:r>
          </a:p>
          <a:p>
            <a:r>
              <a:rPr lang="en-US" sz="3200" dirty="0" err="1"/>
              <a:t>maptype</a:t>
            </a:r>
            <a:r>
              <a:rPr lang="en-US" sz="3200" dirty="0"/>
              <a:t>=”satellite”)</a:t>
            </a: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3627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4. There are a number of ways that you can define the input location:</a:t>
            </a:r>
          </a:p>
          <a:p>
            <a:pPr marL="0" indent="0">
              <a:buNone/>
            </a:pPr>
            <a:r>
              <a:rPr lang="en-US" sz="3200" dirty="0" smtClean="0"/>
              <a:t>     longitude/latitude </a:t>
            </a:r>
            <a:r>
              <a:rPr lang="en-US" sz="3200" dirty="0"/>
              <a:t>coordinate pair, a character string, or a bounding </a:t>
            </a:r>
            <a:r>
              <a:rPr lang="en-US" sz="3200" dirty="0" smtClean="0"/>
              <a:t>  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box</a:t>
            </a:r>
            <a:r>
              <a:rPr lang="en-US" sz="3200" dirty="0"/>
              <a:t>. </a:t>
            </a:r>
            <a:endParaRPr lang="en-US" sz="3200" dirty="0" smtClean="0"/>
          </a:p>
          <a:p>
            <a:r>
              <a:rPr lang="en-US" sz="3200" dirty="0" smtClean="0"/>
              <a:t>When a </a:t>
            </a:r>
            <a:r>
              <a:rPr lang="en-US" sz="3200" dirty="0"/>
              <a:t>character string is passed to the location parameter it is then passed to </a:t>
            </a:r>
            <a:r>
              <a:rPr lang="en-US" sz="3200" dirty="0" smtClean="0"/>
              <a:t>the geocoding </a:t>
            </a:r>
            <a:r>
              <a:rPr lang="en-US" sz="3200" dirty="0"/>
              <a:t>service to obtain the latitude/ longitude coordinate pair.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4.1. </a:t>
            </a:r>
            <a:r>
              <a:rPr lang="en-US" sz="3200" dirty="0"/>
              <a:t>Create a new code chunk and add the code you see below.</a:t>
            </a:r>
          </a:p>
          <a:p>
            <a:r>
              <a:rPr lang="en-US" sz="3200" dirty="0"/>
              <a:t>```{r}</a:t>
            </a:r>
          </a:p>
          <a:p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“Grand Canyon, Arizona”, zoom = 11)</a:t>
            </a:r>
          </a:p>
          <a:p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9603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4.2. Let’s </a:t>
            </a:r>
            <a:r>
              <a:rPr lang="en-US" sz="3200" dirty="0"/>
              <a:t>stop adding code for now and run what is currently in the file </a:t>
            </a:r>
            <a:r>
              <a:rPr lang="en-US" sz="3200" dirty="0" smtClean="0"/>
              <a:t> 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to </a:t>
            </a:r>
            <a:r>
              <a:rPr lang="en-US" sz="3200" dirty="0"/>
              <a:t>see </a:t>
            </a:r>
            <a:r>
              <a:rPr lang="en-US" sz="3200" dirty="0" smtClean="0"/>
              <a:t>the result</a:t>
            </a:r>
            <a:r>
              <a:rPr lang="en-US" sz="3200" dirty="0"/>
              <a:t>. </a:t>
            </a:r>
            <a:r>
              <a:rPr lang="en-US" sz="3200" dirty="0" smtClean="0"/>
              <a:t> Select </a:t>
            </a:r>
            <a:r>
              <a:rPr lang="en-US" sz="3200" dirty="0"/>
              <a:t>Run | Run All.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042" y="2045368"/>
            <a:ext cx="9168063" cy="4564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882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r>
              <a:rPr lang="en-US" sz="3200" dirty="0"/>
              <a:t>##Step 2: Adding Operational Data Layers</a:t>
            </a:r>
          </a:p>
          <a:p>
            <a:r>
              <a:rPr lang="en-US" sz="3200" dirty="0"/>
              <a:t>`</a:t>
            </a:r>
            <a:r>
              <a:rPr lang="en-US" sz="3200" dirty="0" err="1"/>
              <a:t>ggmap</a:t>
            </a:r>
            <a:r>
              <a:rPr lang="en-US" sz="3200" dirty="0"/>
              <a:t>()` returns a `</a:t>
            </a:r>
            <a:r>
              <a:rPr lang="en-US" sz="3200" dirty="0" err="1"/>
              <a:t>ggplot</a:t>
            </a:r>
            <a:r>
              <a:rPr lang="en-US" sz="3200" dirty="0"/>
              <a:t>` object, meaning that it acts as a base layer in </a:t>
            </a:r>
            <a:r>
              <a:rPr lang="en-US" sz="3200" dirty="0" smtClean="0"/>
              <a:t>the `</a:t>
            </a:r>
            <a:r>
              <a:rPr lang="en-US" sz="3200" dirty="0"/>
              <a:t>ggplot2` framework. This allows for the full range of `ggplot2` </a:t>
            </a:r>
            <a:r>
              <a:rPr lang="en-US" sz="3200" dirty="0" smtClean="0"/>
              <a:t>capabilities meaning </a:t>
            </a:r>
            <a:r>
              <a:rPr lang="en-US" sz="3200" dirty="0"/>
              <a:t>that you can plot points on the map, add contours and 2D heat maps</a:t>
            </a:r>
            <a:r>
              <a:rPr lang="en-US" sz="3200" dirty="0" smtClean="0"/>
              <a:t>, and </a:t>
            </a:r>
            <a:r>
              <a:rPr lang="en-US" sz="3200" dirty="0"/>
              <a:t>more. </a:t>
            </a:r>
          </a:p>
          <a:p>
            <a:pPr marL="514350" indent="-514350">
              <a:buAutoNum type="arabicPeriod"/>
            </a:pPr>
            <a:r>
              <a:rPr lang="en-US" sz="3200" dirty="0" smtClean="0"/>
              <a:t>For </a:t>
            </a:r>
            <a:r>
              <a:rPr lang="en-US" sz="3200" dirty="0"/>
              <a:t>this section we’ll use the historical wildfire information found in </a:t>
            </a:r>
            <a:r>
              <a:rPr lang="en-US" sz="3200" dirty="0" smtClean="0"/>
              <a:t>the StudyArea_SmallFile.csv </a:t>
            </a:r>
            <a:r>
              <a:rPr lang="en-US" sz="3200" dirty="0"/>
              <a:t>file. Load this dataset using the `</a:t>
            </a:r>
            <a:r>
              <a:rPr lang="en-US" sz="3200" dirty="0" err="1"/>
              <a:t>read_csv</a:t>
            </a:r>
            <a:r>
              <a:rPr lang="en-US" sz="3200" dirty="0"/>
              <a:t>()` function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1.1.  Create </a:t>
            </a:r>
            <a:r>
              <a:rPr lang="en-US" sz="3200" dirty="0"/>
              <a:t>a new code chunk and add the code you see below. This will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load wildfire </a:t>
            </a:r>
            <a:r>
              <a:rPr lang="en-US" sz="3200" dirty="0"/>
              <a:t>data from a </a:t>
            </a:r>
            <a:r>
              <a:rPr lang="en-US" sz="3200" dirty="0" err="1"/>
              <a:t>csv</a:t>
            </a:r>
            <a:r>
              <a:rPr lang="en-US" sz="3200" dirty="0"/>
              <a:t> file. Note: The path to your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</a:t>
            </a:r>
            <a:r>
              <a:rPr lang="en-US" sz="3200" dirty="0" err="1" smtClean="0"/>
              <a:t>StudyArea_SmallFile</a:t>
            </a:r>
            <a:r>
              <a:rPr lang="en-US" sz="3200" dirty="0"/>
              <a:t>. </a:t>
            </a:r>
            <a:r>
              <a:rPr lang="en-US" sz="3200" dirty="0" err="1"/>
              <a:t>csv</a:t>
            </a: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1842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200" dirty="0" smtClean="0"/>
              <a:t>Note</a:t>
            </a:r>
            <a:r>
              <a:rPr lang="en-US" sz="3200" dirty="0"/>
              <a:t>: The path to your </a:t>
            </a:r>
            <a:r>
              <a:rPr lang="en-US" sz="3200" dirty="0" smtClean="0"/>
              <a:t> </a:t>
            </a:r>
            <a:r>
              <a:rPr lang="en-US" sz="3200" dirty="0" err="1" smtClean="0"/>
              <a:t>StudyArea_SmallFile</a:t>
            </a:r>
            <a:r>
              <a:rPr lang="en-US" sz="3200" dirty="0"/>
              <a:t>. </a:t>
            </a:r>
            <a:r>
              <a:rPr lang="en-US" sz="3200" dirty="0" err="1" smtClean="0"/>
              <a:t>Csv</a:t>
            </a:r>
            <a:r>
              <a:rPr lang="en-US" sz="3200" dirty="0" smtClean="0"/>
              <a:t> file may differ from the one you see below</a:t>
            </a:r>
          </a:p>
          <a:p>
            <a:pPr marL="0" indent="0">
              <a:spcBef>
                <a:spcPts val="0"/>
              </a:spcBef>
              <a:buNone/>
            </a:pPr>
            <a:endParaRPr lang="en-US" sz="3200" dirty="0" smtClean="0"/>
          </a:p>
          <a:p>
            <a:r>
              <a:rPr lang="en-US" sz="3200" dirty="0"/>
              <a:t>```{r</a:t>
            </a:r>
            <a:r>
              <a:rPr lang="en-US" sz="3200" dirty="0" smtClean="0"/>
              <a:t>}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 err="1"/>
              <a:t>dfWildfires</a:t>
            </a:r>
            <a:r>
              <a:rPr lang="en-US" sz="3200" dirty="0"/>
              <a:t> &lt;- </a:t>
            </a:r>
            <a:r>
              <a:rPr lang="en-US" sz="3200" dirty="0" err="1"/>
              <a:t>read_csv</a:t>
            </a:r>
            <a:r>
              <a:rPr lang="en-US" sz="3200" dirty="0" smtClean="0"/>
              <a:t>("~/</a:t>
            </a:r>
            <a:r>
              <a:rPr lang="en-US" sz="3200" dirty="0"/>
              <a:t>Desktop/</a:t>
            </a:r>
            <a:r>
              <a:rPr lang="en-US" sz="3200" dirty="0" err="1"/>
              <a:t>IntroR</a:t>
            </a:r>
            <a:r>
              <a:rPr lang="en-US" sz="3200" dirty="0"/>
              <a:t>/Data/</a:t>
            </a:r>
            <a:r>
              <a:rPr lang="en-US" sz="3200" dirty="0" err="1"/>
              <a:t>StudyArea_SmallFile</a:t>
            </a:r>
            <a:r>
              <a:rPr lang="en-US" sz="3200" dirty="0"/>
              <a:t>. </a:t>
            </a:r>
            <a:r>
              <a:rPr lang="en-US" sz="3200" dirty="0" err="1" smtClean="0"/>
              <a:t>Csv</a:t>
            </a:r>
            <a:r>
              <a:rPr lang="en-US" sz="3200" dirty="0" smtClean="0"/>
              <a:t>", </a:t>
            </a:r>
            <a:r>
              <a:rPr lang="en-US" sz="3200" dirty="0" err="1" smtClean="0"/>
              <a:t>col_types</a:t>
            </a:r>
            <a:r>
              <a:rPr lang="en-US" sz="3200" dirty="0" smtClean="0"/>
              <a:t> </a:t>
            </a:r>
            <a:r>
              <a:rPr lang="en-US" sz="3200" dirty="0"/>
              <a:t>= list(FIRENUMBER = </a:t>
            </a:r>
            <a:r>
              <a:rPr lang="en-US" sz="3200" dirty="0" err="1"/>
              <a:t>col_character</a:t>
            </a:r>
            <a:r>
              <a:rPr lang="en-US" sz="3200" dirty="0"/>
              <a:t>(), UNIT = col_ character</a:t>
            </a:r>
            <a:r>
              <a:rPr lang="en-US" sz="3200" dirty="0" smtClean="0"/>
              <a:t>()), </a:t>
            </a:r>
            <a:r>
              <a:rPr lang="en-US" sz="3200" dirty="0" err="1" smtClean="0"/>
              <a:t>col_names</a:t>
            </a:r>
            <a:r>
              <a:rPr lang="en-US" sz="3200" dirty="0" smtClean="0"/>
              <a:t> </a:t>
            </a:r>
            <a:r>
              <a:rPr lang="en-US" sz="3200" dirty="0"/>
              <a:t>= TRUE</a:t>
            </a:r>
            <a:r>
              <a:rPr lang="en-US" sz="3200" dirty="0" smtClean="0"/>
              <a:t>)</a:t>
            </a:r>
          </a:p>
          <a:p>
            <a:pPr marL="0" indent="0">
              <a:buNone/>
            </a:pPr>
            <a:r>
              <a:rPr lang="en-US" sz="3200" dirty="0" smtClean="0"/>
              <a:t>```</a:t>
            </a: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9022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2. Initially </a:t>
            </a:r>
            <a:r>
              <a:rPr lang="en-US" sz="3200" dirty="0" smtClean="0"/>
              <a:t>just </a:t>
            </a:r>
            <a:r>
              <a:rPr lang="en-US" sz="3200" dirty="0"/>
              <a:t>load the wildfire events as points. Add the code you </a:t>
            </a:r>
            <a:r>
              <a:rPr lang="en-US" sz="3200" dirty="0" smtClean="0"/>
              <a:t> 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see below </a:t>
            </a:r>
            <a:r>
              <a:rPr lang="en-US" sz="3200" dirty="0"/>
              <a:t>to produce a map of California that displays wildfires from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the years 1980-2016 </a:t>
            </a:r>
            <a:r>
              <a:rPr lang="en-US" sz="3200" dirty="0"/>
              <a:t>that burned more than 1,000 acres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>
              <a:spcAft>
                <a:spcPts val="1200"/>
              </a:spcAft>
            </a:pPr>
            <a:r>
              <a:rPr lang="en-US" sz="3200" dirty="0" smtClean="0"/>
              <a:t>2.1. </a:t>
            </a:r>
            <a:r>
              <a:rPr lang="en-US" sz="3200" dirty="0"/>
              <a:t>Create a new code chunk and add the code you see below. This code </a:t>
            </a:r>
            <a:r>
              <a:rPr lang="en-US" sz="3200" dirty="0" smtClean="0"/>
              <a:t>chunk will </a:t>
            </a:r>
            <a:r>
              <a:rPr lang="en-US" sz="3200" dirty="0"/>
              <a:t>display each of the wildfires as a point on the map.</a:t>
            </a:r>
          </a:p>
          <a:p>
            <a:pPr marL="457200" lvl="1" indent="0">
              <a:buNone/>
            </a:pPr>
            <a:r>
              <a:rPr lang="en-US" sz="3200" dirty="0" smtClean="0"/>
              <a:t>```{</a:t>
            </a:r>
            <a:r>
              <a:rPr lang="en-US" sz="3200" dirty="0"/>
              <a:t>r}</a:t>
            </a:r>
          </a:p>
          <a:p>
            <a:pPr marL="457200" lvl="1" indent="0">
              <a:buNone/>
            </a:pPr>
            <a:r>
              <a:rPr lang="en-US" sz="3200" dirty="0" err="1"/>
              <a:t>myLocation</a:t>
            </a:r>
            <a:r>
              <a:rPr lang="en-US" sz="3200" dirty="0"/>
              <a:t> &lt;- ‘California’</a:t>
            </a:r>
          </a:p>
          <a:p>
            <a:pPr marL="457200" lvl="1" indent="0">
              <a:buNone/>
            </a:pPr>
            <a:r>
              <a:rPr lang="en-US" sz="3200" dirty="0"/>
              <a:t>#get the </a:t>
            </a:r>
            <a:r>
              <a:rPr lang="en-US" sz="3200" dirty="0" err="1"/>
              <a:t>basemap</a:t>
            </a:r>
            <a:endParaRPr lang="en-US" sz="3200" dirty="0"/>
          </a:p>
          <a:p>
            <a:pPr marL="457200" lvl="1" indent="0">
              <a:buNone/>
            </a:pPr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err="1"/>
              <a:t>myLocation</a:t>
            </a:r>
            <a:r>
              <a:rPr lang="en-US" sz="3200" dirty="0"/>
              <a:t>, zoom = 6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0770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# </a:t>
            </a:r>
            <a:r>
              <a:rPr lang="en-US" sz="3200" dirty="0"/>
              <a:t>use the select() function to limit the columns from the data frame</a:t>
            </a:r>
          </a:p>
          <a:p>
            <a:pPr marL="457200" lvl="1" indent="0">
              <a:buNone/>
            </a:pPr>
            <a:r>
              <a:rPr lang="en-US" sz="3200" dirty="0" err="1"/>
              <a:t>df</a:t>
            </a:r>
            <a:r>
              <a:rPr lang="en-US" sz="3200" dirty="0"/>
              <a:t> &lt;- select(</a:t>
            </a:r>
            <a:r>
              <a:rPr lang="en-US" sz="3200" dirty="0" err="1"/>
              <a:t>dfWildfires</a:t>
            </a:r>
            <a:r>
              <a:rPr lang="en-US" sz="3200" dirty="0"/>
              <a:t>, STATE, YEAR_, TOTALACRES, DLATITUDE,</a:t>
            </a:r>
          </a:p>
          <a:p>
            <a:pPr marL="457200" lvl="1" indent="0">
              <a:buNone/>
            </a:pPr>
            <a:r>
              <a:rPr lang="en-US" sz="3200" dirty="0"/>
              <a:t>DLONGITUDE</a:t>
            </a:r>
            <a:r>
              <a:rPr lang="en-US" sz="3200" dirty="0" smtClean="0"/>
              <a:t>)</a:t>
            </a:r>
          </a:p>
          <a:p>
            <a:pPr marL="457200" lvl="1" indent="0">
              <a:buNone/>
            </a:pPr>
            <a:endParaRPr lang="en-US" sz="3200" dirty="0" smtClean="0"/>
          </a:p>
          <a:p>
            <a:pPr marL="0" lvl="1" indent="0">
              <a:buNone/>
            </a:pPr>
            <a:r>
              <a:rPr lang="en-US" sz="3200" dirty="0" smtClean="0"/>
              <a:t>#</a:t>
            </a:r>
            <a:r>
              <a:rPr lang="en-US" sz="3200" dirty="0"/>
              <a:t>use the filter() function to get only fires in California with acres</a:t>
            </a:r>
          </a:p>
          <a:p>
            <a:pPr marL="0" lvl="1" indent="0">
              <a:buNone/>
            </a:pPr>
            <a:r>
              <a:rPr lang="en-US" sz="3200" dirty="0"/>
              <a:t>#burned greater than 1000</a:t>
            </a:r>
          </a:p>
          <a:p>
            <a:pPr marL="457200" lvl="1" indent="0">
              <a:buNone/>
            </a:pPr>
            <a:r>
              <a:rPr lang="en-US" sz="3200" dirty="0" err="1"/>
              <a:t>df</a:t>
            </a:r>
            <a:r>
              <a:rPr lang="en-US" sz="3200" dirty="0"/>
              <a:t> &lt;- filter(</a:t>
            </a:r>
            <a:r>
              <a:rPr lang="en-US" sz="3200" dirty="0" err="1"/>
              <a:t>df</a:t>
            </a:r>
            <a:r>
              <a:rPr lang="en-US" sz="3200" dirty="0"/>
              <a:t>, TOTALACRES &gt;= 1000 &amp; STATE == ‘California’) </a:t>
            </a:r>
            <a:endParaRPr lang="en-US" sz="3200" dirty="0" smtClean="0"/>
          </a:p>
          <a:p>
            <a:pPr marL="457200" lvl="1" indent="0">
              <a:buNone/>
            </a:pPr>
            <a:endParaRPr lang="en-US" sz="3200" dirty="0" smtClean="0"/>
          </a:p>
          <a:p>
            <a:pPr marL="0" lvl="1" indent="0">
              <a:buNone/>
            </a:pPr>
            <a:r>
              <a:rPr lang="en-US" sz="3200" dirty="0" smtClean="0"/>
              <a:t>#</a:t>
            </a:r>
            <a:r>
              <a:rPr lang="en-US" sz="3200" dirty="0"/>
              <a:t>produce </a:t>
            </a:r>
            <a:r>
              <a:rPr lang="en-US" sz="3200" dirty="0" smtClean="0"/>
              <a:t>the final </a:t>
            </a:r>
            <a:r>
              <a:rPr lang="en-US" sz="3200" dirty="0"/>
              <a:t>map</a:t>
            </a:r>
          </a:p>
          <a:p>
            <a:pPr marL="457200" lvl="1" indent="0">
              <a:buNone/>
            </a:pPr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/>
              <a:t>) + </a:t>
            </a:r>
            <a:r>
              <a:rPr lang="en-US" sz="3200" dirty="0" err="1"/>
              <a:t>geom_point</a:t>
            </a:r>
            <a:r>
              <a:rPr lang="en-US" sz="3200" dirty="0"/>
              <a:t>(data=</a:t>
            </a:r>
            <a:r>
              <a:rPr lang="en-US" sz="3200" dirty="0" err="1"/>
              <a:t>df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 = DLONGITUDE, y =</a:t>
            </a:r>
          </a:p>
          <a:p>
            <a:pPr marL="457200" lvl="1" indent="0">
              <a:buNone/>
            </a:pPr>
            <a:r>
              <a:rPr lang="en-US" sz="3200" dirty="0"/>
              <a:t>DLATITUDE))</a:t>
            </a:r>
          </a:p>
          <a:p>
            <a:pPr marL="457200" lvl="1" indent="0">
              <a:buNone/>
            </a:pPr>
            <a:r>
              <a:rPr lang="en-US" sz="3200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21557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3</a:t>
            </a:r>
            <a:r>
              <a:rPr lang="en-US" sz="3200" dirty="0"/>
              <a:t>. Now let’s do something a little more interesting. First, use the `</a:t>
            </a:r>
            <a:r>
              <a:rPr lang="en-US" sz="3200" dirty="0" err="1"/>
              <a:t>dplyr</a:t>
            </a:r>
            <a:r>
              <a:rPr lang="en-US" sz="3200" dirty="0"/>
              <a:t>`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200" dirty="0" smtClean="0"/>
              <a:t>    `</a:t>
            </a:r>
            <a:r>
              <a:rPr lang="en-US" sz="3200" dirty="0"/>
              <a:t>mutate()` function to group the fires by decade.</a:t>
            </a:r>
          </a:p>
          <a:p>
            <a:pPr marL="0" indent="0">
              <a:buNone/>
            </a:pPr>
            <a:r>
              <a:rPr lang="en-US" sz="3200" dirty="0" smtClean="0"/>
              <a:t>3.1. </a:t>
            </a:r>
            <a:r>
              <a:rPr lang="en-US" sz="3200" dirty="0"/>
              <a:t>Create a new code chunk and add the code you see below.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mutate</a:t>
            </a:r>
            <a:r>
              <a:rPr lang="en-US" sz="3200" dirty="0" smtClean="0"/>
              <a:t>() function </a:t>
            </a:r>
            <a:r>
              <a:rPr lang="en-US" sz="3200" dirty="0"/>
              <a:t>is used in this code chunk to create a new column called DECADE </a:t>
            </a:r>
            <a:r>
              <a:rPr lang="en-US" sz="3200" dirty="0" smtClean="0"/>
              <a:t>and then </a:t>
            </a:r>
            <a:r>
              <a:rPr lang="en-US" sz="3200" dirty="0"/>
              <a:t>populate each row with a value for the decade in which the fire occurred.</a:t>
            </a:r>
          </a:p>
          <a:p>
            <a:pPr marL="0" indent="0">
              <a:buNone/>
            </a:pPr>
            <a:r>
              <a:rPr lang="en-US" sz="3200" b="1" dirty="0" smtClean="0"/>
              <a:t>```{</a:t>
            </a:r>
            <a:r>
              <a:rPr lang="en-US" sz="3200" b="1" dirty="0"/>
              <a:t>r}</a:t>
            </a:r>
          </a:p>
          <a:p>
            <a:pPr marL="0" indent="0">
              <a:buNone/>
            </a:pPr>
            <a:r>
              <a:rPr lang="en-US" sz="3200" b="1" dirty="0"/>
              <a:t>1989”, </a:t>
            </a:r>
            <a:r>
              <a:rPr lang="en-US" sz="3200" b="1" dirty="0" err="1"/>
              <a:t>ifelse</a:t>
            </a:r>
            <a:r>
              <a:rPr lang="en-US" sz="3200" b="1" dirty="0"/>
              <a:t>(YEAR_ %in% 1990:1999, </a:t>
            </a:r>
            <a:r>
              <a:rPr lang="en-US" sz="3200" b="1" dirty="0" smtClean="0"/>
              <a:t>"1990-1999", </a:t>
            </a:r>
            <a:r>
              <a:rPr lang="en-US" sz="3200" b="1" dirty="0" err="1"/>
              <a:t>ifelse</a:t>
            </a:r>
            <a:r>
              <a:rPr lang="en-US" sz="3200" b="1" dirty="0"/>
              <a:t>(YEAR_ %in%</a:t>
            </a:r>
          </a:p>
          <a:p>
            <a:pPr marL="0" indent="0">
              <a:buNone/>
            </a:pPr>
            <a:r>
              <a:rPr lang="en-US" sz="3200" b="1" dirty="0"/>
              <a:t>2000:2009, </a:t>
            </a:r>
            <a:r>
              <a:rPr lang="en-US" sz="3200" b="1" dirty="0" smtClean="0"/>
              <a:t>"2000-2009", </a:t>
            </a:r>
            <a:r>
              <a:rPr lang="en-US" sz="3200" b="1" dirty="0" err="1"/>
              <a:t>ifelse</a:t>
            </a:r>
            <a:r>
              <a:rPr lang="en-US" sz="3200" b="1" dirty="0"/>
              <a:t>(YEAR_ %in% 2010:2016, </a:t>
            </a:r>
            <a:r>
              <a:rPr lang="en-US" sz="3200" b="1" dirty="0" smtClean="0"/>
              <a:t>"2010-2016",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 smtClean="0"/>
              <a:t>"-99")))))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 smtClean="0"/>
              <a:t>```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1557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4</a:t>
            </a:r>
            <a:r>
              <a:rPr lang="en-US" sz="3200" dirty="0"/>
              <a:t>. Next, color code the wildfires by `DECADE` and create a graduated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symbol map </a:t>
            </a:r>
            <a:r>
              <a:rPr lang="en-US" sz="3200" dirty="0"/>
              <a:t>based on the size of each fire. The `</a:t>
            </a:r>
            <a:r>
              <a:rPr lang="en-US" sz="3200" dirty="0" err="1"/>
              <a:t>colour</a:t>
            </a:r>
            <a:r>
              <a:rPr lang="en-US" sz="3200" dirty="0"/>
              <a:t>` property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defines </a:t>
            </a:r>
            <a:r>
              <a:rPr lang="en-US" sz="3200" dirty="0"/>
              <a:t>the column </a:t>
            </a:r>
            <a:r>
              <a:rPr lang="en-US" sz="3200" dirty="0" smtClean="0"/>
              <a:t>to use </a:t>
            </a:r>
            <a:r>
              <a:rPr lang="en-US" sz="3200" dirty="0"/>
              <a:t>for grouping, and the `size` property </a:t>
            </a:r>
            <a:endParaRPr lang="en-US" sz="3200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sz="3200" dirty="0"/>
              <a:t> </a:t>
            </a:r>
            <a:r>
              <a:rPr lang="en-US" sz="3200" dirty="0" smtClean="0"/>
              <a:t>   defines </a:t>
            </a:r>
            <a:r>
              <a:rPr lang="en-US" sz="3200" dirty="0"/>
              <a:t>the column to use for the size </a:t>
            </a:r>
            <a:r>
              <a:rPr lang="en-US" sz="3200" dirty="0" smtClean="0"/>
              <a:t>of each </a:t>
            </a:r>
            <a:r>
              <a:rPr lang="en-US" sz="3200" dirty="0"/>
              <a:t>symbol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/>
              <a:t>4.1. </a:t>
            </a:r>
            <a:r>
              <a:rPr lang="en-US" sz="3200" dirty="0"/>
              <a:t>Create a new code chunk and add the code you see below. This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code chunk will </a:t>
            </a:r>
            <a:r>
              <a:rPr lang="en-US" sz="3200" dirty="0"/>
              <a:t>color code the fires by decade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457200" lvl="1" indent="0">
              <a:buNone/>
            </a:pPr>
            <a:r>
              <a:rPr lang="en-US" sz="3200" b="1" dirty="0"/>
              <a:t>```{r}</a:t>
            </a:r>
          </a:p>
          <a:p>
            <a:pPr marL="457200" lvl="1" indent="0">
              <a:buNone/>
            </a:pPr>
            <a:r>
              <a:rPr lang="en-US" sz="3200" b="1" dirty="0" err="1"/>
              <a:t>ggmap</a:t>
            </a:r>
            <a:r>
              <a:rPr lang="en-US" sz="3200" b="1" dirty="0"/>
              <a:t>(</a:t>
            </a:r>
            <a:r>
              <a:rPr lang="en-US" sz="3200" b="1" dirty="0" err="1"/>
              <a:t>myMap</a:t>
            </a:r>
            <a:r>
              <a:rPr lang="en-US" sz="3200" b="1" dirty="0"/>
              <a:t>) + </a:t>
            </a:r>
            <a:r>
              <a:rPr lang="en-US" sz="3200" b="1" dirty="0" err="1"/>
              <a:t>geom_point</a:t>
            </a:r>
            <a:r>
              <a:rPr lang="en-US" sz="3200" b="1" dirty="0"/>
              <a:t>(data=</a:t>
            </a:r>
            <a:r>
              <a:rPr lang="en-US" sz="3200" b="1" dirty="0" err="1"/>
              <a:t>df</a:t>
            </a:r>
            <a:r>
              <a:rPr lang="en-US" sz="3200" b="1" dirty="0"/>
              <a:t>, </a:t>
            </a:r>
            <a:r>
              <a:rPr lang="en-US" sz="3200" b="1" dirty="0" err="1"/>
              <a:t>aes</a:t>
            </a:r>
            <a:r>
              <a:rPr lang="en-US" sz="3200" b="1" dirty="0"/>
              <a:t>(x = DLONGITUDE, y =</a:t>
            </a:r>
          </a:p>
          <a:p>
            <a:pPr marL="457200" lvl="1" indent="0">
              <a:buNone/>
            </a:pPr>
            <a:r>
              <a:rPr lang="en-US" sz="3200" b="1" dirty="0"/>
              <a:t>DLATITUDE, </a:t>
            </a:r>
            <a:r>
              <a:rPr lang="en-US" sz="3200" b="1" dirty="0" err="1"/>
              <a:t>colour</a:t>
            </a:r>
            <a:r>
              <a:rPr lang="en-US" sz="3200" b="1" dirty="0"/>
              <a:t>= DECADE, size = TOTALACRES))</a:t>
            </a:r>
          </a:p>
        </p:txBody>
      </p:sp>
    </p:spTree>
    <p:extLst>
      <p:ext uri="{BB962C8B-B14F-4D97-AF65-F5344CB8AC3E}">
        <p14:creationId xmlns:p14="http://schemas.microsoft.com/office/powerpoint/2010/main" val="11761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r>
              <a:rPr lang="en-US" sz="3200" dirty="0"/>
              <a:t>Let’s stop adding code for now and run what is currently in the file to see </a:t>
            </a:r>
            <a:r>
              <a:rPr lang="en-US" sz="3200" dirty="0" smtClean="0"/>
              <a:t>the result</a:t>
            </a:r>
            <a:r>
              <a:rPr lang="en-US" sz="3200" dirty="0"/>
              <a:t>. Before running the code again go ahead and clear the past results </a:t>
            </a:r>
            <a:r>
              <a:rPr lang="en-US" sz="3200" dirty="0" smtClean="0"/>
              <a:t>by clicking </a:t>
            </a:r>
            <a:r>
              <a:rPr lang="en-US" sz="3200" dirty="0"/>
              <a:t>the small X in the upper right hands corner of the output for each </a:t>
            </a:r>
            <a:r>
              <a:rPr lang="en-US" sz="3200" dirty="0" smtClean="0"/>
              <a:t>map as </a:t>
            </a:r>
            <a:r>
              <a:rPr lang="en-US" sz="3200" dirty="0"/>
              <a:t>seen in the screenshot below.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48" y="2983832"/>
            <a:ext cx="10780294" cy="370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160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r>
              <a:rPr lang="en-US" sz="3200" dirty="0"/>
              <a:t>Select Run | Run All. The output produced will include several maps </a:t>
            </a:r>
            <a:r>
              <a:rPr lang="en-US" sz="3200" dirty="0" smtClean="0"/>
              <a:t>with the </a:t>
            </a:r>
            <a:r>
              <a:rPr lang="en-US" sz="3200" dirty="0"/>
              <a:t>final map appearing as seen in the screenshot below.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042" y="1804738"/>
            <a:ext cx="8758990" cy="505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04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5. Let’s change the map view to focus more on southern California, and </a:t>
            </a:r>
            <a:endParaRPr lang="en-US" sz="3200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sz="3200" dirty="0"/>
              <a:t> </a:t>
            </a:r>
            <a:r>
              <a:rPr lang="en-US" sz="3200" dirty="0" smtClean="0"/>
              <a:t>    in particular </a:t>
            </a:r>
            <a:r>
              <a:rPr lang="en-US" sz="3200" dirty="0"/>
              <a:t>the area just north of Los Angeles.</a:t>
            </a:r>
          </a:p>
          <a:p>
            <a:pPr marL="0" indent="0">
              <a:buNone/>
            </a:pPr>
            <a:r>
              <a:rPr lang="en-US" sz="3200" dirty="0" smtClean="0"/>
              <a:t>5.1 Create </a:t>
            </a:r>
            <a:r>
              <a:rPr lang="en-US" sz="3200" dirty="0"/>
              <a:t>a new code chunk and add the code you see below. This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code chunk will </a:t>
            </a:r>
            <a:r>
              <a:rPr lang="en-US" sz="3200" dirty="0"/>
              <a:t>color code the fires by decade and size the symbols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according </a:t>
            </a:r>
            <a:r>
              <a:rPr lang="en-US" sz="3200" dirty="0"/>
              <a:t>the </a:t>
            </a:r>
            <a:r>
              <a:rPr lang="en-US" sz="3200" dirty="0" smtClean="0"/>
              <a:t>total acreage </a:t>
            </a:r>
            <a:r>
              <a:rPr lang="en-US" sz="3200" dirty="0"/>
              <a:t>burned.</a:t>
            </a:r>
          </a:p>
          <a:p>
            <a:pPr marL="0" indent="0">
              <a:buNone/>
            </a:pPr>
            <a:r>
              <a:rPr lang="en-US" sz="3200" b="1" dirty="0"/>
              <a:t>```{r}</a:t>
            </a:r>
          </a:p>
          <a:p>
            <a:pPr marL="0" indent="0">
              <a:buNone/>
            </a:pPr>
            <a:r>
              <a:rPr lang="en-US" sz="3200" b="1" dirty="0" err="1"/>
              <a:t>myMap</a:t>
            </a:r>
            <a:r>
              <a:rPr lang="en-US" sz="3200" b="1" dirty="0"/>
              <a:t> &lt;- </a:t>
            </a:r>
            <a:r>
              <a:rPr lang="en-US" sz="3200" b="1" dirty="0" err="1"/>
              <a:t>get_map</a:t>
            </a:r>
            <a:r>
              <a:rPr lang="en-US" sz="3200" b="1" dirty="0"/>
              <a:t>(location = “Santa Clarita, California”, zoom = 10)</a:t>
            </a:r>
          </a:p>
          <a:p>
            <a:pPr marL="0" indent="0">
              <a:buNone/>
            </a:pPr>
            <a:r>
              <a:rPr lang="en-US" sz="3200" b="1" dirty="0" err="1"/>
              <a:t>ggmap</a:t>
            </a:r>
            <a:r>
              <a:rPr lang="en-US" sz="3200" b="1" dirty="0"/>
              <a:t>(</a:t>
            </a:r>
            <a:r>
              <a:rPr lang="en-US" sz="3200" b="1" dirty="0" err="1"/>
              <a:t>myMap</a:t>
            </a:r>
            <a:r>
              <a:rPr lang="en-US" sz="3200" b="1" dirty="0"/>
              <a:t>) + </a:t>
            </a:r>
            <a:r>
              <a:rPr lang="en-US" sz="3200" b="1" dirty="0" err="1"/>
              <a:t>geom_point</a:t>
            </a:r>
            <a:r>
              <a:rPr lang="en-US" sz="3200" b="1" dirty="0"/>
              <a:t>(data=</a:t>
            </a:r>
            <a:r>
              <a:rPr lang="en-US" sz="3200" b="1" dirty="0" err="1"/>
              <a:t>df</a:t>
            </a:r>
            <a:r>
              <a:rPr lang="en-US" sz="3200" b="1" dirty="0"/>
              <a:t>, </a:t>
            </a:r>
            <a:r>
              <a:rPr lang="en-US" sz="3200" b="1" dirty="0" err="1"/>
              <a:t>aes</a:t>
            </a:r>
            <a:r>
              <a:rPr lang="en-US" sz="3200" b="1" dirty="0"/>
              <a:t>(x = DLONGITUDE, y =</a:t>
            </a:r>
          </a:p>
          <a:p>
            <a:pPr marL="0" indent="0">
              <a:buNone/>
            </a:pPr>
            <a:r>
              <a:rPr lang="en-US" sz="3200" b="1" dirty="0"/>
              <a:t>DLATITUDE, </a:t>
            </a:r>
            <a:r>
              <a:rPr lang="en-US" sz="3200" b="1" dirty="0" err="1"/>
              <a:t>colour</a:t>
            </a:r>
            <a:r>
              <a:rPr lang="en-US" sz="3200" b="1" dirty="0"/>
              <a:t>= DECADE, size = TOTALACRES</a:t>
            </a:r>
            <a:r>
              <a:rPr lang="en-US" sz="3200" b="1" dirty="0" smtClean="0"/>
              <a:t>))</a:t>
            </a:r>
          </a:p>
          <a:p>
            <a:pPr marL="0" indent="0">
              <a:buNone/>
            </a:pPr>
            <a:r>
              <a:rPr lang="en-US" sz="3200" b="1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94240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6. Next we’ll add contour and heat layers.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`geom_density2d()` function </a:t>
            </a:r>
            <a:r>
              <a:rPr lang="en-US" sz="3200" dirty="0" smtClean="0"/>
              <a:t>is used </a:t>
            </a:r>
            <a:r>
              <a:rPr lang="en-US" sz="3200" dirty="0"/>
              <a:t>to create the contours while the `stat_ density2d()` function creates the </a:t>
            </a:r>
            <a:r>
              <a:rPr lang="en-US" sz="3200" dirty="0" smtClean="0"/>
              <a:t>heat map</a:t>
            </a:r>
            <a:r>
              <a:rPr lang="en-US" sz="3200" dirty="0"/>
              <a:t>. </a:t>
            </a:r>
            <a:endParaRPr lang="en-US" sz="3200" dirty="0" smtClean="0"/>
          </a:p>
          <a:p>
            <a:pPr>
              <a:spcAft>
                <a:spcPts val="1200"/>
              </a:spcAft>
            </a:pPr>
            <a:r>
              <a:rPr lang="en-US" sz="3200" dirty="0" smtClean="0"/>
              <a:t>You can experiment </a:t>
            </a:r>
            <a:r>
              <a:rPr lang="en-US" sz="3200" dirty="0"/>
              <a:t>with the colors using the `</a:t>
            </a:r>
            <a:r>
              <a:rPr lang="en-US" sz="3200" dirty="0" err="1"/>
              <a:t>scale_fill_gradient</a:t>
            </a:r>
            <a:r>
              <a:rPr lang="en-US" sz="3200" dirty="0"/>
              <a:t>(low and high</a:t>
            </a:r>
            <a:r>
              <a:rPr lang="en-US" sz="3200" dirty="0" smtClean="0"/>
              <a:t>)` properties</a:t>
            </a:r>
            <a:r>
              <a:rPr lang="en-US" sz="3200" dirty="0"/>
              <a:t>. Here we’ve set them to green and red respectively, but you may </a:t>
            </a:r>
            <a:r>
              <a:rPr lang="en-US" sz="3200" dirty="0" smtClean="0"/>
              <a:t>want to </a:t>
            </a:r>
            <a:r>
              <a:rPr lang="en-US" sz="3200" dirty="0"/>
              <a:t>change the color scheme.</a:t>
            </a:r>
          </a:p>
          <a:p>
            <a:pPr marL="0" indent="0">
              <a:buNone/>
            </a:pPr>
            <a:r>
              <a:rPr lang="en-US" sz="3200" dirty="0" smtClean="0"/>
              <a:t>6.1 Create </a:t>
            </a:r>
            <a:r>
              <a:rPr lang="en-US" sz="3200" dirty="0"/>
              <a:t>a new code chunk and add the code you see below. This code </a:t>
            </a:r>
            <a:r>
              <a:rPr lang="en-US" sz="3200" dirty="0" smtClean="0"/>
              <a:t>chunk will </a:t>
            </a:r>
            <a:r>
              <a:rPr lang="en-US" sz="3200" dirty="0"/>
              <a:t>create a heat map and add contours.</a:t>
            </a:r>
          </a:p>
          <a:p>
            <a:pPr marL="0" indent="0">
              <a:buNone/>
            </a:pPr>
            <a:r>
              <a:rPr lang="en-US" sz="3200" b="1" dirty="0"/>
              <a:t>```{r}</a:t>
            </a:r>
          </a:p>
          <a:p>
            <a:pPr marL="0" indent="0">
              <a:buNone/>
            </a:pPr>
            <a:r>
              <a:rPr lang="en-US" sz="3200" b="1" dirty="0" err="1"/>
              <a:t>myMap</a:t>
            </a:r>
            <a:r>
              <a:rPr lang="en-US" sz="3200" b="1" dirty="0"/>
              <a:t> &lt;- </a:t>
            </a:r>
            <a:r>
              <a:rPr lang="en-US" sz="3200" b="1" dirty="0" err="1"/>
              <a:t>get_map</a:t>
            </a:r>
            <a:r>
              <a:rPr lang="en-US" sz="3200" b="1" dirty="0"/>
              <a:t>(location = “Santa Clarita, California”, zoom = 8)</a:t>
            </a:r>
          </a:p>
        </p:txBody>
      </p:sp>
    </p:spTree>
    <p:extLst>
      <p:ext uri="{BB962C8B-B14F-4D97-AF65-F5344CB8AC3E}">
        <p14:creationId xmlns:p14="http://schemas.microsoft.com/office/powerpoint/2010/main" val="126196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7. If you’d prefer to see the heat map without contours, the code can be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200" dirty="0" smtClean="0"/>
              <a:t>     simplified </a:t>
            </a:r>
            <a:r>
              <a:rPr lang="en-US" sz="3200" dirty="0"/>
              <a:t>as follows:</a:t>
            </a:r>
          </a:p>
          <a:p>
            <a:pPr marL="0" indent="0">
              <a:buNone/>
            </a:pPr>
            <a:r>
              <a:rPr lang="en-US" sz="3200" dirty="0" smtClean="0"/>
              <a:t>7.1.  </a:t>
            </a:r>
            <a:r>
              <a:rPr lang="en-US" sz="3200" dirty="0"/>
              <a:t>Create a new code chunk and add the code you see below. This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code chunk will </a:t>
            </a:r>
            <a:r>
              <a:rPr lang="en-US" sz="3200" dirty="0"/>
              <a:t>remove the contours.</a:t>
            </a:r>
          </a:p>
          <a:p>
            <a:pPr marL="0" indent="0">
              <a:buNone/>
            </a:pPr>
            <a:r>
              <a:rPr lang="en-US" sz="3200" b="1" dirty="0"/>
              <a:t>```{r}</a:t>
            </a:r>
          </a:p>
          <a:p>
            <a:pPr marL="0" indent="0">
              <a:buNone/>
            </a:pPr>
            <a:r>
              <a:rPr lang="en-US" sz="3200" b="1" dirty="0" err="1"/>
              <a:t>ggmap</a:t>
            </a:r>
            <a:r>
              <a:rPr lang="en-US" sz="3200" b="1" dirty="0"/>
              <a:t>(</a:t>
            </a:r>
            <a:r>
              <a:rPr lang="en-US" sz="3200" b="1" dirty="0" err="1"/>
              <a:t>myMap</a:t>
            </a:r>
            <a:r>
              <a:rPr lang="en-US" sz="3200" b="1" dirty="0"/>
              <a:t>, extent = </a:t>
            </a:r>
            <a:r>
              <a:rPr lang="en-US" sz="3200" b="1" dirty="0" smtClean="0"/>
              <a:t>"device</a:t>
            </a:r>
            <a:r>
              <a:rPr lang="en-US" sz="3200" b="1" dirty="0"/>
              <a:t> "</a:t>
            </a:r>
            <a:r>
              <a:rPr lang="en-US" sz="3200" b="1" dirty="0" smtClean="0"/>
              <a:t>) </a:t>
            </a:r>
            <a:r>
              <a:rPr lang="en-US" sz="3200" b="1" dirty="0"/>
              <a:t>+ stat_density2d(data = </a:t>
            </a:r>
            <a:r>
              <a:rPr lang="en-US" sz="3200" b="1" dirty="0" err="1"/>
              <a:t>df</a:t>
            </a:r>
            <a:r>
              <a:rPr lang="en-US" sz="3200" b="1" dirty="0"/>
              <a:t>, </a:t>
            </a:r>
            <a:r>
              <a:rPr lang="en-US" sz="3200" b="1" dirty="0" err="1"/>
              <a:t>aes</a:t>
            </a:r>
            <a:r>
              <a:rPr lang="en-US" sz="3200" b="1" dirty="0"/>
              <a:t>(x =</a:t>
            </a:r>
          </a:p>
          <a:p>
            <a:pPr marL="0" indent="0">
              <a:buNone/>
            </a:pPr>
            <a:r>
              <a:rPr lang="en-US" sz="3200" b="1" dirty="0"/>
              <a:t>DLONGITUDE, y = DLATITUDE, fill = ..level.., alpha = ..level..), size =</a:t>
            </a:r>
          </a:p>
          <a:p>
            <a:pPr marL="0" indent="0">
              <a:buNone/>
            </a:pPr>
            <a:r>
              <a:rPr lang="en-US" sz="3200" b="1" dirty="0"/>
              <a:t>0.01,bins = 16, </a:t>
            </a:r>
            <a:r>
              <a:rPr lang="en-US" sz="3200" b="1" dirty="0" err="1"/>
              <a:t>geom</a:t>
            </a:r>
            <a:r>
              <a:rPr lang="en-US" sz="3200" b="1" dirty="0"/>
              <a:t> = " </a:t>
            </a:r>
            <a:r>
              <a:rPr lang="en-US" sz="3200" b="1" dirty="0" smtClean="0"/>
              <a:t>polygon</a:t>
            </a:r>
            <a:r>
              <a:rPr lang="en-US" sz="3200" b="1" dirty="0"/>
              <a:t> "</a:t>
            </a:r>
            <a:r>
              <a:rPr lang="en-US" sz="3200" b="1" dirty="0" smtClean="0"/>
              <a:t>) </a:t>
            </a:r>
            <a:r>
              <a:rPr lang="en-US" sz="3200" b="1" dirty="0"/>
              <a:t>+ </a:t>
            </a:r>
            <a:r>
              <a:rPr lang="en-US" sz="3200" b="1" dirty="0" err="1"/>
              <a:t>scale_fill_gradient</a:t>
            </a:r>
            <a:r>
              <a:rPr lang="en-US" sz="3200" b="1" dirty="0"/>
              <a:t>(low = " </a:t>
            </a:r>
            <a:r>
              <a:rPr lang="en-US" sz="3200" b="1" dirty="0" smtClean="0"/>
              <a:t>green</a:t>
            </a:r>
            <a:r>
              <a:rPr lang="en-US" sz="3200" b="1" dirty="0"/>
              <a:t> "</a:t>
            </a:r>
            <a:r>
              <a:rPr lang="en-US" sz="3200" b="1" dirty="0" smtClean="0"/>
              <a:t>, </a:t>
            </a:r>
            <a:r>
              <a:rPr lang="en-US" sz="3200" b="1" dirty="0"/>
              <a:t>high </a:t>
            </a:r>
            <a:r>
              <a:rPr lang="en-US" sz="3200" b="1" dirty="0" smtClean="0"/>
              <a:t>= </a:t>
            </a:r>
            <a:r>
              <a:rPr lang="en-US" sz="3200" b="1" dirty="0"/>
              <a:t>" </a:t>
            </a:r>
            <a:r>
              <a:rPr lang="en-US" sz="3200" b="1" dirty="0" smtClean="0"/>
              <a:t>red</a:t>
            </a:r>
            <a:r>
              <a:rPr lang="en-US" sz="3200" b="1" dirty="0"/>
              <a:t> "</a:t>
            </a:r>
            <a:r>
              <a:rPr lang="en-US" sz="3200" b="1" dirty="0" smtClean="0"/>
              <a:t>) </a:t>
            </a:r>
            <a:r>
              <a:rPr lang="en-US" sz="3200" b="1" dirty="0"/>
              <a:t>+ </a:t>
            </a:r>
            <a:r>
              <a:rPr lang="en-US" sz="3200" b="1" dirty="0" err="1"/>
              <a:t>scale_alpha</a:t>
            </a:r>
            <a:r>
              <a:rPr lang="en-US" sz="3200" b="1" dirty="0"/>
              <a:t>(range = c(0, 0.3), guide = FALSE)</a:t>
            </a:r>
          </a:p>
          <a:p>
            <a:pPr marL="0" indent="0">
              <a:buNone/>
            </a:pPr>
            <a:r>
              <a:rPr lang="en-US" sz="3200" b="1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220665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8. Finally, let’s create a facet map that depicts hot spots for each year in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the current </a:t>
            </a:r>
            <a:r>
              <a:rPr lang="en-US" sz="3200" dirty="0"/>
              <a:t>decade. </a:t>
            </a:r>
            <a:endParaRPr lang="en-US" sz="3200" dirty="0" smtClean="0"/>
          </a:p>
          <a:p>
            <a:r>
              <a:rPr lang="en-US" sz="3200" dirty="0" smtClean="0"/>
              <a:t>The dataset contains </a:t>
            </a:r>
            <a:r>
              <a:rPr lang="en-US" sz="3200" dirty="0"/>
              <a:t>information up through the year 2016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8.1.  </a:t>
            </a:r>
            <a:r>
              <a:rPr lang="en-US" sz="3200" dirty="0"/>
              <a:t>Create a code chunk and add the code you see below.</a:t>
            </a:r>
          </a:p>
          <a:p>
            <a:pPr marL="0" indent="0">
              <a:buNone/>
            </a:pPr>
            <a:r>
              <a:rPr lang="en-US" sz="3200" b="1" dirty="0"/>
              <a:t>```{r}</a:t>
            </a:r>
          </a:p>
          <a:p>
            <a:pPr marL="0" indent="0">
              <a:buNone/>
            </a:pPr>
            <a:r>
              <a:rPr lang="en-US" sz="3200" b="1" dirty="0" err="1"/>
              <a:t>df</a:t>
            </a:r>
            <a:r>
              <a:rPr lang="en-US" sz="3200" b="1" dirty="0"/>
              <a:t> &lt;- filter(</a:t>
            </a:r>
            <a:r>
              <a:rPr lang="en-US" sz="3200" b="1" dirty="0" err="1"/>
              <a:t>dfWildfires</a:t>
            </a:r>
            <a:r>
              <a:rPr lang="en-US" sz="3200" b="1" dirty="0"/>
              <a:t>, STATE == ‘California’)</a:t>
            </a:r>
          </a:p>
          <a:p>
            <a:pPr marL="0" indent="0">
              <a:buNone/>
            </a:pPr>
            <a:r>
              <a:rPr lang="en-US" sz="3200" b="1" dirty="0" err="1"/>
              <a:t>df</a:t>
            </a:r>
            <a:r>
              <a:rPr lang="en-US" sz="3200" b="1" dirty="0"/>
              <a:t> &lt;- filter(</a:t>
            </a:r>
            <a:r>
              <a:rPr lang="en-US" sz="3200" b="1" dirty="0" err="1"/>
              <a:t>df</a:t>
            </a:r>
            <a:r>
              <a:rPr lang="en-US" sz="3200" b="1" dirty="0"/>
              <a:t>, YEAR_ %in% c(2010, 2011, 2012, 2013, 2014, 2015, 2016))</a:t>
            </a:r>
          </a:p>
          <a:p>
            <a:pPr marL="0" indent="0">
              <a:buNone/>
            </a:pPr>
            <a:r>
              <a:rPr lang="en-US" sz="3200" b="1" dirty="0" err="1"/>
              <a:t>myMap</a:t>
            </a:r>
            <a:r>
              <a:rPr lang="en-US" sz="3200" b="1" dirty="0"/>
              <a:t> &lt;- </a:t>
            </a:r>
            <a:r>
              <a:rPr lang="en-US" sz="3200" b="1" dirty="0" err="1"/>
              <a:t>get_map</a:t>
            </a:r>
            <a:r>
              <a:rPr lang="en-US" sz="3200" b="1" dirty="0"/>
              <a:t>(location = “Santa Clarita, California”, zoom = 9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3109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3200" b="1" dirty="0" smtClean="0"/>
          </a:p>
          <a:p>
            <a:pPr marL="0" indent="0">
              <a:buNone/>
            </a:pPr>
            <a:r>
              <a:rPr lang="en-US" sz="3200" b="1" dirty="0" err="1" smtClean="0"/>
              <a:t>ggmap</a:t>
            </a:r>
            <a:r>
              <a:rPr lang="en-US" sz="3200" b="1" dirty="0" smtClean="0"/>
              <a:t>(</a:t>
            </a:r>
            <a:r>
              <a:rPr lang="en-US" sz="3200" b="1" dirty="0" err="1" smtClean="0"/>
              <a:t>myMap</a:t>
            </a:r>
            <a:r>
              <a:rPr lang="en-US" sz="3200" b="1" dirty="0"/>
              <a:t>, extent = </a:t>
            </a:r>
            <a:r>
              <a:rPr lang="en-US" sz="3200" b="1" dirty="0" smtClean="0"/>
              <a:t>"device</a:t>
            </a:r>
            <a:r>
              <a:rPr lang="en-US" sz="3200" b="1" dirty="0"/>
              <a:t> "</a:t>
            </a:r>
            <a:r>
              <a:rPr lang="en-US" sz="3200" b="1" dirty="0" smtClean="0"/>
              <a:t>) </a:t>
            </a:r>
            <a:r>
              <a:rPr lang="en-US" sz="3200" b="1" dirty="0"/>
              <a:t>+ stat_density2d(data = </a:t>
            </a:r>
            <a:r>
              <a:rPr lang="en-US" sz="3200" b="1" dirty="0" err="1"/>
              <a:t>df</a:t>
            </a:r>
            <a:r>
              <a:rPr lang="en-US" sz="3200" b="1" dirty="0"/>
              <a:t>, </a:t>
            </a:r>
            <a:r>
              <a:rPr lang="en-US" sz="3200" b="1" dirty="0" err="1"/>
              <a:t>aes</a:t>
            </a:r>
            <a:r>
              <a:rPr lang="en-US" sz="3200" b="1" dirty="0"/>
              <a:t>(x =</a:t>
            </a:r>
          </a:p>
          <a:p>
            <a:pPr marL="0" indent="0">
              <a:buNone/>
            </a:pPr>
            <a:r>
              <a:rPr lang="en-US" sz="3200" b="1" dirty="0"/>
              <a:t>DLONGITUDE, y = DLATITUDE, fill = ..level.., alpha = ..level..), size =</a:t>
            </a:r>
          </a:p>
          <a:p>
            <a:pPr marL="0" indent="0">
              <a:buNone/>
            </a:pPr>
            <a:r>
              <a:rPr lang="en-US" sz="3200" b="1" dirty="0"/>
              <a:t>0.01,bins = 16, </a:t>
            </a:r>
            <a:r>
              <a:rPr lang="en-US" sz="3200" b="1" dirty="0" err="1"/>
              <a:t>geom</a:t>
            </a:r>
            <a:r>
              <a:rPr lang="en-US" sz="3200" b="1" dirty="0"/>
              <a:t> = " </a:t>
            </a:r>
            <a:r>
              <a:rPr lang="en-US" sz="3200" b="1" dirty="0" smtClean="0"/>
              <a:t>polygon</a:t>
            </a:r>
            <a:r>
              <a:rPr lang="en-US" sz="3200" b="1" dirty="0"/>
              <a:t> "</a:t>
            </a:r>
            <a:r>
              <a:rPr lang="en-US" sz="3200" b="1" dirty="0" smtClean="0"/>
              <a:t>) </a:t>
            </a:r>
            <a:r>
              <a:rPr lang="en-US" sz="3200" b="1" dirty="0"/>
              <a:t>+ </a:t>
            </a:r>
            <a:r>
              <a:rPr lang="en-US" sz="3200" b="1" dirty="0" err="1"/>
              <a:t>scale_fill_gradient</a:t>
            </a:r>
            <a:r>
              <a:rPr lang="en-US" sz="3200" b="1" dirty="0"/>
              <a:t>(low = " </a:t>
            </a:r>
            <a:r>
              <a:rPr lang="en-US" sz="3200" b="1" dirty="0" smtClean="0"/>
              <a:t>green</a:t>
            </a:r>
            <a:r>
              <a:rPr lang="en-US" sz="3200" b="1" dirty="0"/>
              <a:t> "</a:t>
            </a:r>
            <a:r>
              <a:rPr lang="en-US" sz="3200" b="1" dirty="0" smtClean="0"/>
              <a:t>, </a:t>
            </a:r>
            <a:r>
              <a:rPr lang="en-US" sz="3200" b="1" dirty="0"/>
              <a:t>high </a:t>
            </a:r>
            <a:r>
              <a:rPr lang="en-US" sz="3200" b="1" dirty="0" smtClean="0"/>
              <a:t>= </a:t>
            </a:r>
            <a:r>
              <a:rPr lang="en-US" sz="3200" b="1" dirty="0"/>
              <a:t>" </a:t>
            </a:r>
            <a:r>
              <a:rPr lang="en-US" sz="3200" b="1" dirty="0" smtClean="0"/>
              <a:t>red</a:t>
            </a:r>
            <a:r>
              <a:rPr lang="en-US" sz="3200" b="1" dirty="0"/>
              <a:t> "</a:t>
            </a:r>
            <a:r>
              <a:rPr lang="en-US" sz="3200" b="1" dirty="0" smtClean="0"/>
              <a:t>) </a:t>
            </a:r>
            <a:r>
              <a:rPr lang="en-US" sz="3200" b="1" dirty="0"/>
              <a:t>+ </a:t>
            </a:r>
            <a:r>
              <a:rPr lang="en-US" sz="3200" b="1" dirty="0" err="1"/>
              <a:t>scale_alpha</a:t>
            </a:r>
            <a:r>
              <a:rPr lang="en-US" sz="3200" b="1" dirty="0"/>
              <a:t>(range = c(0, 0.3), guide = FALSE) + </a:t>
            </a:r>
            <a:r>
              <a:rPr lang="en-US" sz="3200" b="1" dirty="0" err="1"/>
              <a:t>facet_wrap</a:t>
            </a:r>
            <a:r>
              <a:rPr lang="en-US" sz="3200" b="1" dirty="0"/>
              <a:t>(~ YEAR</a:t>
            </a:r>
            <a:r>
              <a:rPr lang="en-US" sz="3200" b="1" dirty="0" smtClean="0"/>
              <a:t>_)</a:t>
            </a:r>
          </a:p>
          <a:p>
            <a:pPr marL="0" indent="0">
              <a:buNone/>
            </a:pPr>
            <a:endParaRPr lang="en-US" sz="3200" b="1" dirty="0"/>
          </a:p>
          <a:p>
            <a:r>
              <a:rPr lang="en-US" sz="3200" dirty="0" smtClean="0"/>
              <a:t>That </a:t>
            </a:r>
            <a:r>
              <a:rPr lang="en-US" sz="3200" dirty="0"/>
              <a:t>completes the code for this R Markdown file. Go ahead and run </a:t>
            </a:r>
            <a:r>
              <a:rPr lang="en-US" sz="3200" dirty="0" smtClean="0"/>
              <a:t>the code </a:t>
            </a:r>
            <a:r>
              <a:rPr lang="en-US" sz="3200" dirty="0"/>
              <a:t>again to see the final output by </a:t>
            </a:r>
            <a:r>
              <a:rPr lang="en-US" sz="3200" dirty="0" smtClean="0"/>
              <a:t>selecting Run </a:t>
            </a:r>
            <a:r>
              <a:rPr lang="en-US" sz="3200" dirty="0"/>
              <a:t>| Run All.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1885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Code chunk and header options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r>
              <a:rPr lang="en-US" sz="3200" dirty="0"/>
              <a:t>Chunk options are arguments supplied to the chunk header. Currently there </a:t>
            </a:r>
            <a:r>
              <a:rPr lang="en-US" sz="3200" dirty="0" smtClean="0"/>
              <a:t>are approximately </a:t>
            </a:r>
            <a:r>
              <a:rPr lang="en-US" sz="3200" dirty="0"/>
              <a:t>60 such options. We’ll examine some of the more commonly </a:t>
            </a:r>
            <a:r>
              <a:rPr lang="en-US" sz="3200" dirty="0" smtClean="0"/>
              <a:t>used and </a:t>
            </a:r>
            <a:r>
              <a:rPr lang="en-US" sz="3200" dirty="0"/>
              <a:t>important options in this exercise. All code chunk options are placed </a:t>
            </a:r>
            <a:r>
              <a:rPr lang="en-US" sz="3200" dirty="0" smtClean="0"/>
              <a:t>inside the </a:t>
            </a:r>
            <a:r>
              <a:rPr lang="en-US" sz="3200" dirty="0"/>
              <a:t>{r} block.</a:t>
            </a:r>
          </a:p>
          <a:p>
            <a:r>
              <a:rPr lang="en-US" sz="3200" dirty="0"/>
              <a:t>Code chunks can be given an optional name as seen in the example code </a:t>
            </a:r>
            <a:r>
              <a:rPr lang="en-US" sz="3200" dirty="0" smtClean="0"/>
              <a:t>below where </a:t>
            </a:r>
            <a:r>
              <a:rPr lang="en-US" sz="3200" dirty="0"/>
              <a:t>the code chunk has been given a name </a:t>
            </a:r>
            <a:r>
              <a:rPr lang="en-US" sz="3200" dirty="0" smtClean="0"/>
              <a:t>of </a:t>
            </a:r>
            <a:r>
              <a:rPr lang="en-US" sz="3200" dirty="0" err="1" smtClean="0"/>
              <a:t>MapSetup</a:t>
            </a:r>
            <a:endParaRPr lang="en-US" sz="3200" dirty="0"/>
          </a:p>
          <a:p>
            <a:r>
              <a:rPr lang="en-US" sz="3200" dirty="0"/>
              <a:t>.</a:t>
            </a:r>
          </a:p>
          <a:p>
            <a:r>
              <a:rPr lang="en-US" sz="3200" dirty="0"/>
              <a:t>```{r </a:t>
            </a:r>
            <a:r>
              <a:rPr lang="en-US" sz="3200" dirty="0" err="1"/>
              <a:t>MapSetup</a:t>
            </a:r>
            <a:r>
              <a:rPr lang="en-US" sz="3200" dirty="0"/>
              <a:t>, warning=FALSE, error=FALSE, message=FALSE}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87549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Code chunk and header options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r>
              <a:rPr lang="en-US" sz="3200" dirty="0"/>
              <a:t>The advantages of naming chunks include </a:t>
            </a:r>
            <a:endParaRPr lang="en-US" sz="3200" dirty="0" smtClean="0"/>
          </a:p>
          <a:p>
            <a:pPr lvl="1"/>
            <a:r>
              <a:rPr lang="en-US" sz="3200" dirty="0" smtClean="0"/>
              <a:t>easier </a:t>
            </a:r>
            <a:r>
              <a:rPr lang="en-US" sz="3200" dirty="0"/>
              <a:t>navigation using the </a:t>
            </a:r>
            <a:r>
              <a:rPr lang="en-US" sz="3200" dirty="0" smtClean="0"/>
              <a:t>code navigator </a:t>
            </a:r>
            <a:r>
              <a:rPr lang="en-US" sz="3200" dirty="0"/>
              <a:t>in </a:t>
            </a:r>
            <a:r>
              <a:rPr lang="en-US" sz="3200" dirty="0" err="1"/>
              <a:t>RStudio</a:t>
            </a:r>
            <a:r>
              <a:rPr lang="en-US" sz="3200" dirty="0"/>
              <a:t>, </a:t>
            </a:r>
            <a:endParaRPr lang="en-US" sz="3200" dirty="0" smtClean="0"/>
          </a:p>
          <a:p>
            <a:pPr lvl="1"/>
            <a:r>
              <a:rPr lang="en-US" sz="3200" dirty="0" smtClean="0"/>
              <a:t>useful </a:t>
            </a:r>
            <a:r>
              <a:rPr lang="en-US" sz="3200" dirty="0"/>
              <a:t>names given to graphics produced by chunks, </a:t>
            </a:r>
            <a:r>
              <a:rPr lang="en-US" sz="3200" dirty="0" smtClean="0"/>
              <a:t>and </a:t>
            </a:r>
          </a:p>
          <a:p>
            <a:pPr lvl="1"/>
            <a:r>
              <a:rPr lang="en-US" sz="3200" dirty="0" smtClean="0"/>
              <a:t>the </a:t>
            </a:r>
            <a:r>
              <a:rPr lang="en-US" sz="3200" dirty="0"/>
              <a:t>ability to cache chunks to avoid re-performing computations on each run.</a:t>
            </a:r>
          </a:p>
          <a:p>
            <a:r>
              <a:rPr lang="en-US" sz="3200" dirty="0"/>
              <a:t>This last advantage is perhaps the most useful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C00000"/>
                </a:solidFill>
              </a:rPr>
              <a:t>Exercise 3:</a:t>
            </a:r>
            <a:endParaRPr lang="en-US" sz="4800" dirty="0"/>
          </a:p>
          <a:p>
            <a:pPr marL="514350" indent="-514350">
              <a:buAutoNum type="arabicPeriod"/>
            </a:pPr>
            <a:r>
              <a:rPr lang="en-US" sz="3200" dirty="0" smtClean="0"/>
              <a:t>The </a:t>
            </a:r>
            <a:r>
              <a:rPr lang="en-US" sz="3200" dirty="0"/>
              <a:t>R Markdown pane includes a quick access menu for easily </a:t>
            </a:r>
            <a:r>
              <a:rPr lang="en-US" sz="3200" dirty="0" smtClean="0"/>
              <a:t> navigating to </a:t>
            </a:r>
            <a:r>
              <a:rPr lang="en-US" sz="3200" dirty="0"/>
              <a:t>different sections of your R Markdown page. The arrow in the </a:t>
            </a:r>
            <a:r>
              <a:rPr lang="en-US" sz="3200" dirty="0" smtClean="0"/>
              <a:t>screenshot below </a:t>
            </a:r>
            <a:r>
              <a:rPr lang="en-US" sz="3200" dirty="0"/>
              <a:t>displays the location of this functionality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511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4" y="842211"/>
            <a:ext cx="11758863" cy="5702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65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pPr marL="514350" indent="-514350">
              <a:buAutoNum type="arabicPeriod" startAt="2"/>
            </a:pPr>
            <a:r>
              <a:rPr lang="en-US" sz="3200" dirty="0" smtClean="0"/>
              <a:t>Click </a:t>
            </a:r>
            <a:r>
              <a:rPr lang="en-US" sz="3200" dirty="0"/>
              <a:t>on the quick access button now to see the different sections </a:t>
            </a:r>
            <a:r>
              <a:rPr lang="en-US" sz="3200" dirty="0" smtClean="0"/>
              <a:t>of the R Markdown </a:t>
            </a:r>
            <a:r>
              <a:rPr lang="en-US" sz="3200" dirty="0"/>
              <a:t>file. </a:t>
            </a:r>
          </a:p>
          <a:p>
            <a:r>
              <a:rPr lang="en-US" sz="3200" dirty="0"/>
              <a:t>You’ll notice that it is sectioned by headings and then code chunks. To </a:t>
            </a:r>
            <a:r>
              <a:rPr lang="en-US" sz="3200" dirty="0" smtClean="0"/>
              <a:t>make navigation </a:t>
            </a:r>
            <a:r>
              <a:rPr lang="en-US" sz="3200" dirty="0"/>
              <a:t>easier you can name each of these chunks.</a:t>
            </a:r>
            <a:endParaRPr lang="en-US" sz="32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443" y="2952750"/>
            <a:ext cx="9023684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2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42211"/>
            <a:ext cx="12069170" cy="6015787"/>
          </a:xfrm>
        </p:spPr>
        <p:txBody>
          <a:bodyPr>
            <a:noAutofit/>
          </a:bodyPr>
          <a:lstStyle/>
          <a:p>
            <a:r>
              <a:rPr lang="en-US" sz="3200" dirty="0" smtClean="0"/>
              <a:t>Select Chunk 1 under Step 1: Creating a </a:t>
            </a:r>
            <a:r>
              <a:rPr lang="en-US" sz="3200" dirty="0" err="1" smtClean="0"/>
              <a:t>Basemap</a:t>
            </a:r>
            <a:r>
              <a:rPr lang="en-US" sz="3200" dirty="0" smtClean="0"/>
              <a:t> to return to the first code chunk you created in an earlier exercise. </a:t>
            </a:r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This code chunk simply defines the libraries that will be used in the file. In the {r} section of the header name the chunk libs.</a:t>
            </a:r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```{r libs}</a:t>
            </a:r>
          </a:p>
          <a:p>
            <a:pPr marL="0" indent="0">
              <a:buNone/>
            </a:pPr>
            <a:endParaRPr lang="en-US" sz="3200" dirty="0" smtClean="0"/>
          </a:p>
          <a:p>
            <a:pPr marL="514350" indent="-514350">
              <a:buAutoNum type="arabicPeriod" startAt="3"/>
            </a:pPr>
            <a:r>
              <a:rPr lang="en-US" sz="3200" dirty="0" smtClean="0"/>
              <a:t>Notice that the value has now been updated in the quick access  dropdown menu.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6444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983" y="246021"/>
            <a:ext cx="5340222" cy="206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2574758"/>
            <a:ext cx="12069170" cy="42832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4.  Rename </a:t>
            </a:r>
            <a:r>
              <a:rPr lang="en-US" sz="3200" dirty="0"/>
              <a:t>the rest of your code chunks. You can use whatever name    </a:t>
            </a:r>
          </a:p>
          <a:p>
            <a:pPr marL="0" indent="0">
              <a:buNone/>
            </a:pPr>
            <a:r>
              <a:rPr lang="en-US" sz="3200" dirty="0"/>
              <a:t>     makes the most sense for each. </a:t>
            </a:r>
          </a:p>
          <a:p>
            <a:pPr marL="514350" indent="-514350">
              <a:buAutoNum type="arabicPeriod" startAt="5"/>
            </a:pPr>
            <a:r>
              <a:rPr lang="en-US" sz="3200" dirty="0" smtClean="0"/>
              <a:t>Next</a:t>
            </a:r>
            <a:r>
              <a:rPr lang="en-US" sz="3200" dirty="0"/>
              <a:t>, we’ll add some code options. Although there are currently 60+ </a:t>
            </a:r>
            <a:r>
              <a:rPr lang="en-US" sz="3200" dirty="0" smtClean="0"/>
              <a:t>options that </a:t>
            </a:r>
            <a:r>
              <a:rPr lang="en-US" sz="3200" dirty="0"/>
              <a:t>can be applied to a code chunk we’ll examine only a few of the </a:t>
            </a:r>
            <a:r>
              <a:rPr lang="en-US" sz="3200" dirty="0" smtClean="0"/>
              <a:t>more important </a:t>
            </a:r>
            <a:r>
              <a:rPr lang="en-US" sz="3200" dirty="0"/>
              <a:t>options. You can get a list of all the available code chunk options at</a:t>
            </a:r>
          </a:p>
          <a:p>
            <a:r>
              <a:rPr lang="en-US" sz="3200" dirty="0"/>
              <a:t>https://www.rstudio.com/wp-content/uploads/2015/03/ </a:t>
            </a:r>
            <a:r>
              <a:rPr lang="en-US" sz="3200" dirty="0" smtClean="0"/>
              <a:t>rmarkdownreference.pdf.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4192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6"/>
            </a:pPr>
            <a:r>
              <a:rPr lang="en-US" sz="3200" dirty="0" smtClean="0"/>
              <a:t>Messaging </a:t>
            </a:r>
            <a:r>
              <a:rPr lang="en-US" sz="3200" dirty="0"/>
              <a:t>is one of the most commonly used and useful options. </a:t>
            </a:r>
            <a:endParaRPr lang="en-US" sz="3200" dirty="0" smtClean="0"/>
          </a:p>
          <a:p>
            <a:r>
              <a:rPr lang="en-US" sz="3200" dirty="0" smtClean="0"/>
              <a:t>There are actually </a:t>
            </a:r>
            <a:r>
              <a:rPr lang="en-US" sz="3200" dirty="0"/>
              <a:t>three messaging options: messages, warnings, errors. All three </a:t>
            </a:r>
            <a:r>
              <a:rPr lang="en-US" sz="3200" dirty="0" smtClean="0"/>
              <a:t>are TRUE </a:t>
            </a:r>
            <a:r>
              <a:rPr lang="en-US" sz="3200" dirty="0"/>
              <a:t>| FALSE values that can be set and all are set to FALSE by default.</a:t>
            </a:r>
          </a:p>
          <a:p>
            <a:r>
              <a:rPr lang="en-US" sz="3200" dirty="0"/>
              <a:t>Navigate to Chunk 2 and add the options you see highlighted below. This </a:t>
            </a:r>
            <a:r>
              <a:rPr lang="en-US" sz="3200" dirty="0" smtClean="0"/>
              <a:t>will turn </a:t>
            </a:r>
            <a:r>
              <a:rPr lang="en-US" sz="3200" dirty="0"/>
              <a:t>on the messaging for any general information messages, warnings, </a:t>
            </a:r>
            <a:r>
              <a:rPr lang="en-US" sz="3200" dirty="0" smtClean="0"/>
              <a:t>and errors</a:t>
            </a:r>
            <a:r>
              <a:rPr lang="en-US" sz="3200" dirty="0"/>
              <a:t>.</a:t>
            </a:r>
          </a:p>
          <a:p>
            <a:pPr marL="457200" lvl="1" indent="0">
              <a:buNone/>
            </a:pPr>
            <a:r>
              <a:rPr lang="en-US" sz="3200" dirty="0"/>
              <a:t>```{r </a:t>
            </a:r>
            <a:r>
              <a:rPr lang="en-US" sz="3200" b="1" dirty="0"/>
              <a:t>error=TRUE, warning=TRUE, message=TRUE</a:t>
            </a:r>
            <a:r>
              <a:rPr lang="en-US" sz="3200" dirty="0"/>
              <a:t>}</a:t>
            </a:r>
          </a:p>
          <a:p>
            <a:pPr marL="457200" lvl="1" indent="0">
              <a:buNone/>
            </a:pPr>
            <a:r>
              <a:rPr lang="en-US" sz="3200" dirty="0" err="1"/>
              <a:t>myLocation</a:t>
            </a:r>
            <a:r>
              <a:rPr lang="en-US" sz="3200" dirty="0"/>
              <a:t> &lt;- “California”</a:t>
            </a:r>
          </a:p>
          <a:p>
            <a:pPr marL="457200" lvl="1" indent="0">
              <a:buNone/>
            </a:pPr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err="1"/>
              <a:t>myLocation</a:t>
            </a:r>
            <a:r>
              <a:rPr lang="en-US" sz="3200" dirty="0"/>
              <a:t>, zoom = 6)</a:t>
            </a:r>
          </a:p>
          <a:p>
            <a:pPr marL="457200" lvl="1" indent="0">
              <a:buNone/>
            </a:pPr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/>
              <a:t>)</a:t>
            </a:r>
          </a:p>
          <a:p>
            <a:pPr marL="457200" lvl="1" indent="0">
              <a:buNone/>
            </a:pPr>
            <a:r>
              <a:rPr lang="en-US" sz="3200" dirty="0" smtClean="0"/>
              <a:t>```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183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7"/>
            </a:pPr>
            <a:r>
              <a:rPr lang="en-US" sz="3200" dirty="0" smtClean="0"/>
              <a:t>Now </a:t>
            </a:r>
            <a:r>
              <a:rPr lang="en-US" sz="3200" dirty="0"/>
              <a:t>when you run this section any of these messages will be printed </a:t>
            </a:r>
            <a:r>
              <a:rPr lang="en-US" sz="3200" dirty="0" smtClean="0"/>
              <a:t>out along </a:t>
            </a:r>
            <a:r>
              <a:rPr lang="en-US" sz="3200" dirty="0"/>
              <a:t>with the output. Rather than running the entire markdown file code </a:t>
            </a:r>
            <a:r>
              <a:rPr lang="en-US" sz="3200" dirty="0" smtClean="0"/>
              <a:t>each time </a:t>
            </a:r>
            <a:r>
              <a:rPr lang="en-US" sz="3200" dirty="0"/>
              <a:t>you want to test something you can limit the run to a particular code </a:t>
            </a:r>
            <a:r>
              <a:rPr lang="en-US" sz="3200" dirty="0" smtClean="0"/>
              <a:t>chunk by </a:t>
            </a:r>
            <a:r>
              <a:rPr lang="en-US" sz="3200" dirty="0"/>
              <a:t>clicking the arrow on the far-right hand side of the code chunk as seen in </a:t>
            </a:r>
            <a:r>
              <a:rPr lang="en-US" sz="3200" dirty="0" smtClean="0"/>
              <a:t>the screenshot </a:t>
            </a:r>
            <a:r>
              <a:rPr lang="en-US" sz="3200" dirty="0"/>
              <a:t>below.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821" y="3272589"/>
            <a:ext cx="8590547" cy="358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888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Clicking the R Console window should produce an output similar to </a:t>
            </a:r>
            <a:r>
              <a:rPr lang="en-US" sz="3200" dirty="0" smtClean="0"/>
              <a:t>the screenshot </a:t>
            </a:r>
            <a:r>
              <a:rPr lang="en-US" sz="3200" dirty="0"/>
              <a:t>below.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06" y="1997242"/>
            <a:ext cx="10154652" cy="3441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202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9"/>
            </a:pPr>
            <a:r>
              <a:rPr lang="en-US" sz="3200" dirty="0" smtClean="0"/>
              <a:t>Now </a:t>
            </a:r>
            <a:r>
              <a:rPr lang="en-US" sz="3200" dirty="0"/>
              <a:t>add the same message, warning, and error options to your </a:t>
            </a:r>
            <a:r>
              <a:rPr lang="en-US" sz="3200" dirty="0" smtClean="0"/>
              <a:t> other code chunks. </a:t>
            </a:r>
          </a:p>
          <a:p>
            <a:pPr marL="514350" indent="-514350">
              <a:buAutoNum type="arabicPeriod" startAt="9"/>
            </a:pPr>
            <a:r>
              <a:rPr lang="en-US" sz="3200" dirty="0" smtClean="0"/>
              <a:t>Run </a:t>
            </a:r>
            <a:r>
              <a:rPr lang="en-US" sz="3200" dirty="0"/>
              <a:t>the code chunks one at a time an examine the output. Any warning </a:t>
            </a:r>
            <a:r>
              <a:rPr lang="en-US" sz="3200" dirty="0" smtClean="0"/>
              <a:t>and errors </a:t>
            </a:r>
            <a:r>
              <a:rPr lang="en-US" sz="3200" dirty="0"/>
              <a:t>will be prominently displayed as seen in the screenshot below.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158" y="3296653"/>
            <a:ext cx="7483642" cy="3073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750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11"/>
            </a:pPr>
            <a:r>
              <a:rPr lang="en-US" sz="3200" dirty="0" smtClean="0"/>
              <a:t>You </a:t>
            </a:r>
            <a:r>
              <a:rPr lang="en-US" sz="3200" dirty="0"/>
              <a:t>can also define document wide options as well. In this step </a:t>
            </a:r>
            <a:r>
              <a:rPr lang="en-US" sz="3200" dirty="0" smtClean="0"/>
              <a:t> we’ll </a:t>
            </a:r>
            <a:r>
              <a:rPr lang="en-US" sz="3200" dirty="0"/>
              <a:t>look </a:t>
            </a:r>
            <a:r>
              <a:rPr lang="en-US" sz="3200" dirty="0" smtClean="0"/>
              <a:t>at a </a:t>
            </a:r>
            <a:r>
              <a:rPr lang="en-US" sz="3200" dirty="0"/>
              <a:t>common option defined in the header. The content of the header </a:t>
            </a:r>
            <a:r>
              <a:rPr lang="en-US" sz="3200" dirty="0" smtClean="0"/>
              <a:t>defines parameters </a:t>
            </a:r>
            <a:r>
              <a:rPr lang="en-US" sz="3200" dirty="0"/>
              <a:t>that control various settings for the entire document.</a:t>
            </a:r>
          </a:p>
          <a:p>
            <a:r>
              <a:rPr lang="en-US" sz="3200" dirty="0"/>
              <a:t>The header can include basic descriptive information including the title, author</a:t>
            </a:r>
            <a:r>
              <a:rPr lang="en-US" sz="3200" dirty="0" smtClean="0"/>
              <a:t>, date</a:t>
            </a:r>
            <a:r>
              <a:rPr lang="en-US" sz="3200" dirty="0"/>
              <a:t>, and output format along with other settings including parameters </a:t>
            </a:r>
            <a:r>
              <a:rPr lang="en-US" sz="3200" dirty="0" smtClean="0"/>
              <a:t>and bibliographies </a:t>
            </a:r>
            <a:r>
              <a:rPr lang="en-US" sz="3200" dirty="0"/>
              <a:t>and citations.</a:t>
            </a:r>
          </a:p>
          <a:p>
            <a:r>
              <a:rPr lang="en-US" sz="3200" dirty="0"/>
              <a:t>Parameters are used when you need to re-render the same report but with </a:t>
            </a:r>
            <a:r>
              <a:rPr lang="en-US" sz="3200" dirty="0" smtClean="0"/>
              <a:t>distinct values </a:t>
            </a:r>
            <a:r>
              <a:rPr lang="en-US" sz="3200" dirty="0"/>
              <a:t>for inputs.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 err="1"/>
              <a:t>params</a:t>
            </a:r>
            <a:r>
              <a:rPr lang="en-US" sz="3200" dirty="0"/>
              <a:t> field controls these parameters.</a:t>
            </a:r>
          </a:p>
        </p:txBody>
      </p:sp>
    </p:spTree>
    <p:extLst>
      <p:ext uri="{BB962C8B-B14F-4D97-AF65-F5344CB8AC3E}">
        <p14:creationId xmlns:p14="http://schemas.microsoft.com/office/powerpoint/2010/main" val="73044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/>
              <a:t>You’ll </a:t>
            </a:r>
            <a:r>
              <a:rPr lang="en-US" sz="3200" dirty="0"/>
              <a:t>notice in the code example below that a state parameter has been </a:t>
            </a:r>
            <a:r>
              <a:rPr lang="en-US" sz="3200" dirty="0" smtClean="0"/>
              <a:t>defined with </a:t>
            </a:r>
            <a:r>
              <a:rPr lang="en-US" sz="3200" dirty="0"/>
              <a:t>a value of California. </a:t>
            </a:r>
            <a:endParaRPr lang="en-US" sz="3200" dirty="0" smtClean="0"/>
          </a:p>
          <a:p>
            <a:r>
              <a:rPr lang="en-US" sz="3200" dirty="0" smtClean="0"/>
              <a:t>This </a:t>
            </a:r>
            <a:r>
              <a:rPr lang="en-US" sz="3200" dirty="0"/>
              <a:t>value can then be accessed elsewhere in the </a:t>
            </a:r>
            <a:r>
              <a:rPr lang="en-US" sz="3200" dirty="0" smtClean="0"/>
              <a:t>R Markdown </a:t>
            </a:r>
            <a:r>
              <a:rPr lang="en-US" sz="3200" dirty="0"/>
              <a:t>file using the syntax </a:t>
            </a:r>
            <a:r>
              <a:rPr lang="en-US" sz="3200" dirty="0" err="1"/>
              <a:t>params</a:t>
            </a:r>
            <a:r>
              <a:rPr lang="en-US" sz="3200" dirty="0"/>
              <a:t>$&lt;parameter&gt; or </a:t>
            </a:r>
            <a:r>
              <a:rPr lang="en-US" sz="3200" dirty="0" err="1"/>
              <a:t>params$state</a:t>
            </a:r>
            <a:r>
              <a:rPr lang="en-US" sz="3200" dirty="0"/>
              <a:t> in </a:t>
            </a:r>
            <a:r>
              <a:rPr lang="en-US" sz="3200" dirty="0" smtClean="0"/>
              <a:t>this example</a:t>
            </a:r>
            <a:r>
              <a:rPr lang="en-US" sz="3200" dirty="0"/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359" y="3200400"/>
            <a:ext cx="5967662" cy="298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68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12.  Navigate </a:t>
            </a:r>
            <a:r>
              <a:rPr lang="en-US" sz="3200" dirty="0"/>
              <a:t>to Chunk 2 and find the line you see below.</a:t>
            </a:r>
          </a:p>
          <a:p>
            <a:pPr marL="0" indent="0">
              <a:buNone/>
            </a:pPr>
            <a:r>
              <a:rPr lang="en-US" sz="3200" dirty="0" smtClean="0"/>
              <a:t>	</a:t>
            </a:r>
            <a:r>
              <a:rPr lang="en-US" sz="3200" dirty="0" err="1" smtClean="0"/>
              <a:t>myLocation</a:t>
            </a:r>
            <a:r>
              <a:rPr lang="en-US" sz="3200" dirty="0" smtClean="0"/>
              <a:t> </a:t>
            </a:r>
            <a:r>
              <a:rPr lang="en-US" sz="3200" dirty="0"/>
              <a:t>&lt;- </a:t>
            </a:r>
            <a:r>
              <a:rPr lang="en-US" sz="3200" dirty="0" smtClean="0"/>
              <a:t>"California“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13. Change this line as seen below to access the state parameter.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```{</a:t>
            </a:r>
            <a:r>
              <a:rPr lang="en-US" sz="3200" dirty="0"/>
              <a:t>r error=TRUE, warning=TRUE, message=TRUE}</a:t>
            </a:r>
          </a:p>
          <a:p>
            <a:pPr marL="0" indent="0">
              <a:buNone/>
            </a:pPr>
            <a:r>
              <a:rPr lang="en-US" sz="3200" b="1" dirty="0" err="1" smtClean="0"/>
              <a:t>myLocation</a:t>
            </a:r>
            <a:r>
              <a:rPr lang="en-US" sz="3200" b="1" dirty="0" smtClean="0"/>
              <a:t> </a:t>
            </a:r>
            <a:r>
              <a:rPr lang="en-US" sz="3200" b="1" dirty="0"/>
              <a:t>&lt;- </a:t>
            </a:r>
            <a:r>
              <a:rPr lang="en-US" sz="3200" b="1" dirty="0" err="1"/>
              <a:t>params$state</a:t>
            </a:r>
            <a:endParaRPr lang="en-US" sz="3200" b="1" dirty="0"/>
          </a:p>
          <a:p>
            <a:pPr marL="0" indent="0">
              <a:buNone/>
            </a:pPr>
            <a:r>
              <a:rPr lang="en-US" sz="3200" dirty="0" err="1" smtClean="0"/>
              <a:t>myMap</a:t>
            </a:r>
            <a:r>
              <a:rPr lang="en-US" sz="3200" dirty="0" smtClean="0"/>
              <a:t> </a:t>
            </a:r>
            <a:r>
              <a:rPr lang="en-US" sz="3200" dirty="0"/>
              <a:t>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err="1"/>
              <a:t>myLocation</a:t>
            </a:r>
            <a:r>
              <a:rPr lang="en-US" sz="3200" dirty="0"/>
              <a:t>, zoom = 6) </a:t>
            </a:r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 smtClean="0"/>
              <a:t>)</a:t>
            </a:r>
          </a:p>
          <a:p>
            <a:pPr marL="0" indent="0">
              <a:buNone/>
            </a:pPr>
            <a:r>
              <a:rPr lang="en-US" sz="3200" dirty="0" smtClean="0"/>
              <a:t>```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1991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14"/>
            </a:pPr>
            <a:r>
              <a:rPr lang="en-US" sz="3200" dirty="0" smtClean="0"/>
              <a:t>Run </a:t>
            </a:r>
            <a:r>
              <a:rPr lang="en-US" sz="3200" dirty="0"/>
              <a:t>the code for Chunk 2 only and you should see the same output </a:t>
            </a:r>
            <a:r>
              <a:rPr lang="en-US" sz="3200" dirty="0" smtClean="0"/>
              <a:t>map centered </a:t>
            </a:r>
            <a:r>
              <a:rPr lang="en-US" sz="3200" dirty="0"/>
              <a:t>on California</a:t>
            </a:r>
            <a:r>
              <a:rPr lang="en-US" sz="3200" dirty="0" smtClean="0"/>
              <a:t>. </a:t>
            </a:r>
          </a:p>
          <a:p>
            <a:pPr marL="514350" indent="-514350">
              <a:buAutoNum type="arabicPeriod" startAt="14"/>
            </a:pPr>
            <a:r>
              <a:rPr lang="en-US" sz="3200" dirty="0" smtClean="0"/>
              <a:t>Clear </a:t>
            </a:r>
            <a:r>
              <a:rPr lang="en-US" sz="3200" dirty="0"/>
              <a:t>the output for chunk 2 by clicking the X in the upper right-hand </a:t>
            </a:r>
            <a:r>
              <a:rPr lang="en-US" sz="3200" dirty="0" smtClean="0"/>
              <a:t>corner of </a:t>
            </a:r>
            <a:r>
              <a:rPr lang="en-US" sz="3200" dirty="0"/>
              <a:t>the output</a:t>
            </a:r>
            <a:r>
              <a:rPr lang="en-US" sz="3200" dirty="0" smtClean="0"/>
              <a:t>. </a:t>
            </a:r>
          </a:p>
          <a:p>
            <a:pPr marL="514350" indent="-514350">
              <a:buAutoNum type="arabicPeriod" startAt="14"/>
            </a:pPr>
            <a:r>
              <a:rPr lang="en-US" sz="3200" dirty="0" smtClean="0"/>
              <a:t>Return </a:t>
            </a:r>
            <a:r>
              <a:rPr lang="en-US" sz="3200" dirty="0"/>
              <a:t>to the state parameter in the header and change the value to Montana.</a:t>
            </a:r>
          </a:p>
          <a:p>
            <a:pPr marL="914400" lvl="2" indent="0">
              <a:buNone/>
            </a:pPr>
            <a:r>
              <a:rPr lang="en-US" sz="3000" dirty="0" smtClean="0"/>
              <a:t>title</a:t>
            </a:r>
            <a:r>
              <a:rPr lang="en-US" sz="3000" dirty="0"/>
              <a:t>: “Creating Maps with R”</a:t>
            </a:r>
          </a:p>
          <a:p>
            <a:pPr marL="914400" lvl="2" indent="0">
              <a:buNone/>
            </a:pPr>
            <a:r>
              <a:rPr lang="en-US" sz="3000" dirty="0"/>
              <a:t>author: “Eric </a:t>
            </a:r>
            <a:r>
              <a:rPr lang="en-US" sz="3000" dirty="0" err="1"/>
              <a:t>Pimpler</a:t>
            </a:r>
            <a:r>
              <a:rPr lang="en-US" sz="3000" dirty="0"/>
              <a:t>”</a:t>
            </a:r>
          </a:p>
          <a:p>
            <a:pPr marL="914400" lvl="2" indent="0">
              <a:buNone/>
            </a:pPr>
            <a:r>
              <a:rPr lang="en-US" sz="3000" dirty="0"/>
              <a:t>date: “7/18/2018”</a:t>
            </a:r>
          </a:p>
          <a:p>
            <a:pPr marL="914400" lvl="2" indent="0">
              <a:buNone/>
            </a:pPr>
            <a:r>
              <a:rPr lang="en-US" sz="3000" dirty="0"/>
              <a:t>output: </a:t>
            </a:r>
            <a:r>
              <a:rPr lang="en-US" sz="3000" dirty="0" err="1"/>
              <a:t>html_document</a:t>
            </a:r>
            <a:endParaRPr lang="en-US" sz="3000" dirty="0"/>
          </a:p>
          <a:p>
            <a:pPr marL="914400" lvl="2" indent="0">
              <a:buNone/>
            </a:pPr>
            <a:r>
              <a:rPr lang="en-US" sz="3000" dirty="0" err="1"/>
              <a:t>params</a:t>
            </a:r>
            <a:r>
              <a:rPr lang="en-US" sz="3000" dirty="0"/>
              <a:t>:</a:t>
            </a:r>
          </a:p>
          <a:p>
            <a:pPr marL="914400" lvl="2" indent="0">
              <a:buNone/>
            </a:pPr>
            <a:r>
              <a:rPr lang="en-US" sz="3000" dirty="0"/>
              <a:t>state: ‘Montana’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8758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Caching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3200" dirty="0"/>
              <a:t>Code chunks can also be cached, which is great for computation that takes a </a:t>
            </a:r>
            <a:r>
              <a:rPr lang="en-US" sz="3200" dirty="0" smtClean="0"/>
              <a:t>long time </a:t>
            </a:r>
            <a:r>
              <a:rPr lang="en-US" sz="3200" dirty="0"/>
              <a:t>to execute. </a:t>
            </a:r>
            <a:endParaRPr lang="en-US" sz="3200" dirty="0" smtClean="0"/>
          </a:p>
          <a:p>
            <a:pPr>
              <a:spcAft>
                <a:spcPts val="1200"/>
              </a:spcAft>
            </a:pPr>
            <a:r>
              <a:rPr lang="en-US" sz="3200" dirty="0" smtClean="0"/>
              <a:t>To </a:t>
            </a:r>
            <a:r>
              <a:rPr lang="en-US" sz="3200" dirty="0"/>
              <a:t>enable caching the cache parameter should be set to TRUE.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This will save the output of the code chunk to a specially named file on desk. </a:t>
            </a:r>
            <a:endParaRPr lang="en-US" sz="3200" dirty="0" smtClean="0"/>
          </a:p>
          <a:p>
            <a:pPr>
              <a:spcAft>
                <a:spcPts val="1200"/>
              </a:spcAft>
            </a:pPr>
            <a:r>
              <a:rPr lang="en-US" sz="3200" dirty="0" smtClean="0"/>
              <a:t>On any </a:t>
            </a:r>
            <a:r>
              <a:rPr lang="en-US" sz="3200" dirty="0"/>
              <a:t>subsequent runs, </a:t>
            </a:r>
            <a:r>
              <a:rPr lang="en-US" sz="3200" dirty="0" err="1"/>
              <a:t>knitr</a:t>
            </a:r>
            <a:r>
              <a:rPr lang="en-US" sz="3200" dirty="0"/>
              <a:t> checks to see if the code has changed, and if not, </a:t>
            </a:r>
            <a:r>
              <a:rPr lang="en-US" sz="3200" dirty="0" smtClean="0"/>
              <a:t>it will </a:t>
            </a:r>
            <a:r>
              <a:rPr lang="en-US" sz="3200" dirty="0"/>
              <a:t>reuse the cached results.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You do need to be careful with caching though as it will only re-run a </a:t>
            </a:r>
            <a:r>
              <a:rPr lang="en-US" sz="3200" dirty="0" smtClean="0"/>
              <a:t>code chunk </a:t>
            </a:r>
            <a:r>
              <a:rPr lang="en-US" sz="3200" dirty="0"/>
              <a:t>if the code changes. However, it doesn’t take into account things such </a:t>
            </a:r>
            <a:r>
              <a:rPr lang="en-US" sz="3200" dirty="0" smtClean="0"/>
              <a:t>as changes </a:t>
            </a:r>
            <a:r>
              <a:rPr lang="en-US" sz="3200" dirty="0"/>
              <a:t>to underlying data sources.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10091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4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600"/>
              </a:spcAft>
              <a:buAutoNum type="arabicPeriod"/>
            </a:pPr>
            <a:r>
              <a:rPr lang="en-US" sz="3200" dirty="0" smtClean="0"/>
              <a:t>Find </a:t>
            </a:r>
            <a:r>
              <a:rPr lang="en-US" sz="3200" dirty="0"/>
              <a:t>the code chunk you see below that maps the individual wildfire </a:t>
            </a:r>
            <a:r>
              <a:rPr lang="en-US" sz="3200" dirty="0" smtClean="0"/>
              <a:t>points</a:t>
            </a:r>
            <a:r>
              <a:rPr lang="en-US" sz="3200" dirty="0"/>
              <a:t>.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You may have named the chunk something other than what I have named </a:t>
            </a:r>
            <a:r>
              <a:rPr lang="en-US" sz="3200" dirty="0" smtClean="0"/>
              <a:t>the chunk </a:t>
            </a:r>
            <a:r>
              <a:rPr lang="en-US" sz="3200" dirty="0"/>
              <a:t>(</a:t>
            </a:r>
            <a:r>
              <a:rPr lang="en-US" sz="3200" dirty="0" err="1"/>
              <a:t>point_map</a:t>
            </a:r>
            <a:r>
              <a:rPr lang="en-US" sz="3200" dirty="0"/>
              <a:t>).</a:t>
            </a:r>
          </a:p>
          <a:p>
            <a:pPr>
              <a:spcAft>
                <a:spcPts val="600"/>
              </a:spcAft>
            </a:pPr>
            <a:r>
              <a:rPr lang="en-US" sz="3200" b="1" dirty="0"/>
              <a:t>```{r </a:t>
            </a:r>
            <a:r>
              <a:rPr lang="en-US" sz="3200" b="1" dirty="0" err="1"/>
              <a:t>point_map</a:t>
            </a:r>
            <a:r>
              <a:rPr lang="en-US" sz="3200" b="1" dirty="0"/>
              <a:t>, error=TRUE, warning=TRUE, message=TRUE} </a:t>
            </a:r>
            <a:r>
              <a:rPr lang="en-US" sz="3200" b="1" dirty="0" err="1" smtClean="0"/>
              <a:t>myLocation</a:t>
            </a:r>
            <a:r>
              <a:rPr lang="en-US" sz="3200" b="1" dirty="0" smtClean="0"/>
              <a:t> &lt;- </a:t>
            </a:r>
            <a:r>
              <a:rPr lang="en-US" sz="3200" b="1" dirty="0"/>
              <a:t>‘California’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3200" dirty="0"/>
              <a:t>#get the </a:t>
            </a:r>
            <a:r>
              <a:rPr lang="en-US" sz="3200" dirty="0" err="1"/>
              <a:t>basemap</a:t>
            </a:r>
            <a:endParaRPr lang="en-US" sz="3200" dirty="0"/>
          </a:p>
          <a:p>
            <a:pPr>
              <a:spcAft>
                <a:spcPts val="600"/>
              </a:spcAft>
            </a:pPr>
            <a:r>
              <a:rPr lang="en-US" sz="3200" b="1" dirty="0" err="1"/>
              <a:t>myMap</a:t>
            </a:r>
            <a:r>
              <a:rPr lang="en-US" sz="3200" b="1" dirty="0"/>
              <a:t> &lt;- </a:t>
            </a:r>
            <a:r>
              <a:rPr lang="en-US" sz="3200" b="1" dirty="0" err="1"/>
              <a:t>get_map</a:t>
            </a:r>
            <a:r>
              <a:rPr lang="en-US" sz="3200" b="1" dirty="0"/>
              <a:t>(location = </a:t>
            </a:r>
            <a:r>
              <a:rPr lang="en-US" sz="3200" b="1" dirty="0" err="1"/>
              <a:t>myLocation</a:t>
            </a:r>
            <a:r>
              <a:rPr lang="en-US" sz="3200" b="1" dirty="0"/>
              <a:t>, zoom = 6)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3200" dirty="0"/>
              <a:t># use the select() function to limit the columns from the data frame</a:t>
            </a:r>
          </a:p>
          <a:p>
            <a:pPr>
              <a:spcAft>
                <a:spcPts val="600"/>
              </a:spcAft>
            </a:pPr>
            <a:r>
              <a:rPr lang="en-US" sz="3200" b="1" dirty="0" err="1"/>
              <a:t>df</a:t>
            </a:r>
            <a:r>
              <a:rPr lang="en-US" sz="3200" b="1" dirty="0"/>
              <a:t> &lt;- select(</a:t>
            </a:r>
            <a:r>
              <a:rPr lang="en-US" sz="3200" b="1" dirty="0" err="1"/>
              <a:t>dfWildfires</a:t>
            </a:r>
            <a:r>
              <a:rPr lang="en-US" sz="3200" b="1" dirty="0"/>
              <a:t>, STATE, YEAR_, TOTALACRES, DLATITUDE</a:t>
            </a:r>
            <a:r>
              <a:rPr lang="en-US" sz="3200" b="1" dirty="0" smtClean="0"/>
              <a:t>, DLONGITUDE)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3356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4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#</a:t>
            </a:r>
            <a:r>
              <a:rPr lang="en-US" sz="3200" dirty="0"/>
              <a:t>use the filter() function to get only fires in California with acres</a:t>
            </a:r>
          </a:p>
          <a:p>
            <a:pPr marL="0" indent="0">
              <a:buNone/>
            </a:pPr>
            <a:r>
              <a:rPr lang="en-US" sz="3200" dirty="0"/>
              <a:t>#burned greater than 1000</a:t>
            </a:r>
          </a:p>
          <a:p>
            <a:endParaRPr lang="en-US" sz="3200" dirty="0" smtClean="0"/>
          </a:p>
          <a:p>
            <a:r>
              <a:rPr lang="en-US" sz="3200" b="1" dirty="0" err="1" smtClean="0"/>
              <a:t>df</a:t>
            </a:r>
            <a:r>
              <a:rPr lang="en-US" sz="3200" b="1" dirty="0" smtClean="0"/>
              <a:t> </a:t>
            </a:r>
            <a:r>
              <a:rPr lang="en-US" sz="3200" b="1" dirty="0"/>
              <a:t>&lt;- filter(</a:t>
            </a:r>
            <a:r>
              <a:rPr lang="en-US" sz="3200" b="1" dirty="0" err="1"/>
              <a:t>df</a:t>
            </a:r>
            <a:r>
              <a:rPr lang="en-US" sz="3200" b="1" dirty="0"/>
              <a:t>, TOTALACRES &gt;= 1000 &amp; STATE == ‘California’) </a:t>
            </a:r>
            <a:endParaRPr lang="en-US" sz="3200" b="1" dirty="0" smtClean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#produce the final </a:t>
            </a:r>
            <a:r>
              <a:rPr lang="en-US" sz="3200" dirty="0"/>
              <a:t>map</a:t>
            </a:r>
          </a:p>
          <a:p>
            <a:endParaRPr lang="en-US" sz="3200" dirty="0" smtClean="0"/>
          </a:p>
          <a:p>
            <a:r>
              <a:rPr lang="en-US" sz="3200" b="1" dirty="0" err="1" smtClean="0"/>
              <a:t>ggmap</a:t>
            </a:r>
            <a:r>
              <a:rPr lang="en-US" sz="3200" b="1" dirty="0" smtClean="0"/>
              <a:t>(</a:t>
            </a:r>
            <a:r>
              <a:rPr lang="en-US" sz="3200" b="1" dirty="0" err="1" smtClean="0"/>
              <a:t>myMap</a:t>
            </a:r>
            <a:r>
              <a:rPr lang="en-US" sz="3200" b="1" dirty="0"/>
              <a:t>) + </a:t>
            </a:r>
            <a:r>
              <a:rPr lang="en-US" sz="3200" b="1" dirty="0" err="1"/>
              <a:t>geom_point</a:t>
            </a:r>
            <a:r>
              <a:rPr lang="en-US" sz="3200" b="1" dirty="0"/>
              <a:t>(data=</a:t>
            </a:r>
            <a:r>
              <a:rPr lang="en-US" sz="3200" b="1" dirty="0" err="1"/>
              <a:t>df</a:t>
            </a:r>
            <a:r>
              <a:rPr lang="en-US" sz="3200" b="1" dirty="0"/>
              <a:t>, </a:t>
            </a:r>
            <a:r>
              <a:rPr lang="en-US" sz="3200" b="1" dirty="0" err="1"/>
              <a:t>aes</a:t>
            </a:r>
            <a:r>
              <a:rPr lang="en-US" sz="3200" b="1" dirty="0"/>
              <a:t>(x = DLONGITUDE, y =</a:t>
            </a:r>
          </a:p>
          <a:p>
            <a:pPr marL="0" indent="0">
              <a:buNone/>
            </a:pPr>
            <a:r>
              <a:rPr lang="en-US" sz="3200" b="1" dirty="0"/>
              <a:t>DLATITUDE))</a:t>
            </a:r>
          </a:p>
          <a:p>
            <a:pPr marL="0" indent="0">
              <a:buNone/>
            </a:pPr>
            <a:r>
              <a:rPr lang="en-US" sz="3200" b="1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256746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4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2. Add the cache parameter to the options for the chunk as seen below.</a:t>
            </a:r>
          </a:p>
          <a:p>
            <a:pPr marL="0" indent="0">
              <a:buNone/>
            </a:pPr>
            <a:r>
              <a:rPr lang="en-US" sz="3200" dirty="0"/>
              <a:t>```{r </a:t>
            </a:r>
            <a:r>
              <a:rPr lang="en-US" sz="3200" dirty="0" err="1"/>
              <a:t>point_map</a:t>
            </a:r>
            <a:r>
              <a:rPr lang="en-US" sz="3200" dirty="0"/>
              <a:t>, </a:t>
            </a:r>
            <a:r>
              <a:rPr lang="en-US" sz="3200" b="1" dirty="0"/>
              <a:t>cache=TRUE</a:t>
            </a:r>
            <a:r>
              <a:rPr lang="en-US" sz="3200" dirty="0"/>
              <a:t>, error=TRUE, warning=TRUE,</a:t>
            </a:r>
          </a:p>
          <a:p>
            <a:pPr marL="514350" indent="-514350">
              <a:buAutoNum type="arabicPeriod" startAt="3"/>
            </a:pPr>
            <a:r>
              <a:rPr lang="en-US" sz="3200" dirty="0" smtClean="0"/>
              <a:t>This </a:t>
            </a:r>
            <a:r>
              <a:rPr lang="en-US" sz="3200" dirty="0"/>
              <a:t>code chunk is dependent upon the data in the </a:t>
            </a:r>
            <a:r>
              <a:rPr lang="en-US" sz="3200" dirty="0" err="1"/>
              <a:t>dfWildfires</a:t>
            </a:r>
            <a:r>
              <a:rPr lang="en-US" sz="3200" dirty="0"/>
              <a:t> data </a:t>
            </a:r>
            <a:r>
              <a:rPr lang="en-US" sz="3200" dirty="0" smtClean="0"/>
              <a:t>frame, which </a:t>
            </a:r>
            <a:r>
              <a:rPr lang="en-US" sz="3200" dirty="0"/>
              <a:t>is loaded in the code chunk directly preceding this chunk.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code </a:t>
            </a:r>
            <a:r>
              <a:rPr lang="en-US" sz="3200" dirty="0" smtClean="0"/>
              <a:t>chunk that </a:t>
            </a:r>
            <a:r>
              <a:rPr lang="en-US" sz="3200" dirty="0"/>
              <a:t>loads the data from a </a:t>
            </a:r>
            <a:r>
              <a:rPr lang="en-US" sz="3200" dirty="0" err="1"/>
              <a:t>csv</a:t>
            </a:r>
            <a:r>
              <a:rPr lang="en-US" sz="3200" dirty="0"/>
              <a:t> file into the </a:t>
            </a:r>
            <a:r>
              <a:rPr lang="en-US" sz="3200" dirty="0" err="1"/>
              <a:t>dfWidlfires</a:t>
            </a:r>
            <a:r>
              <a:rPr lang="en-US" sz="3200" dirty="0"/>
              <a:t> variable can be </a:t>
            </a:r>
            <a:r>
              <a:rPr lang="en-US" sz="3200" dirty="0" err="1" smtClean="0"/>
              <a:t>seenbelow</a:t>
            </a:r>
            <a:r>
              <a:rPr lang="en-US" sz="3200" dirty="0"/>
              <a:t>. You may have named the chunk differently (</a:t>
            </a:r>
            <a:r>
              <a:rPr lang="en-US" sz="3200" dirty="0" err="1"/>
              <a:t>load_data</a:t>
            </a:r>
            <a:r>
              <a:rPr lang="en-US" sz="3200" dirty="0"/>
              <a:t>).</a:t>
            </a:r>
          </a:p>
          <a:p>
            <a:r>
              <a:rPr lang="en-US" sz="3200" dirty="0"/>
              <a:t>```{r </a:t>
            </a:r>
            <a:r>
              <a:rPr lang="en-US" sz="3200" dirty="0" err="1"/>
              <a:t>load_data</a:t>
            </a:r>
            <a:r>
              <a:rPr lang="en-US" sz="3200" dirty="0"/>
              <a:t>, error=TRUE, warning=TRUE, message=TRUE} </a:t>
            </a:r>
            <a:r>
              <a:rPr lang="en-US" sz="3200" dirty="0" err="1"/>
              <a:t>dfWildfires</a:t>
            </a:r>
            <a:r>
              <a:rPr lang="en-US" sz="3200" dirty="0"/>
              <a:t> </a:t>
            </a:r>
            <a:r>
              <a:rPr lang="en-US" sz="3200" dirty="0" smtClean="0"/>
              <a:t>&lt;- </a:t>
            </a:r>
            <a:r>
              <a:rPr lang="en-US" sz="3200" dirty="0" err="1" smtClean="0"/>
              <a:t>read_csv</a:t>
            </a:r>
            <a:r>
              <a:rPr lang="en-US" sz="3200" dirty="0"/>
              <a:t>(“~/Desktop/</a:t>
            </a:r>
            <a:r>
              <a:rPr lang="en-US" sz="3200" dirty="0" err="1"/>
              <a:t>IntroR</a:t>
            </a:r>
            <a:r>
              <a:rPr lang="en-US" sz="3200" dirty="0"/>
              <a:t>/Data/</a:t>
            </a:r>
            <a:r>
              <a:rPr lang="en-US" sz="3200" dirty="0" err="1"/>
              <a:t>StudyArea_SmallFile</a:t>
            </a:r>
            <a:r>
              <a:rPr lang="en-US" sz="3200" dirty="0"/>
              <a:t>. </a:t>
            </a:r>
            <a:r>
              <a:rPr lang="en-US" sz="3200" dirty="0" err="1"/>
              <a:t>csv</a:t>
            </a:r>
            <a:r>
              <a:rPr lang="en-US" sz="3200" dirty="0"/>
              <a:t>”, </a:t>
            </a:r>
            <a:r>
              <a:rPr lang="en-US" sz="3200" dirty="0" err="1"/>
              <a:t>col_types</a:t>
            </a:r>
            <a:r>
              <a:rPr lang="en-US" sz="3200" dirty="0"/>
              <a:t> </a:t>
            </a:r>
            <a:r>
              <a:rPr lang="en-US" sz="3200" dirty="0" smtClean="0"/>
              <a:t>= list(FIRENUMBER </a:t>
            </a:r>
            <a:r>
              <a:rPr lang="en-US" sz="3200" dirty="0"/>
              <a:t>= </a:t>
            </a:r>
            <a:r>
              <a:rPr lang="en-US" sz="3200" dirty="0" err="1"/>
              <a:t>col_character</a:t>
            </a:r>
            <a:r>
              <a:rPr lang="en-US" sz="3200" dirty="0"/>
              <a:t>(), UNIT = col_ character()), </a:t>
            </a:r>
            <a:r>
              <a:rPr lang="en-US" sz="3200" dirty="0" err="1"/>
              <a:t>col_names</a:t>
            </a:r>
            <a:r>
              <a:rPr lang="en-US" sz="3200" dirty="0"/>
              <a:t> </a:t>
            </a:r>
            <a:r>
              <a:rPr lang="en-US" sz="3200" dirty="0" smtClean="0"/>
              <a:t>= TRUE) ```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0946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4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4"/>
            </a:pPr>
            <a:r>
              <a:rPr lang="en-US" sz="3200" dirty="0" smtClean="0"/>
              <a:t>Because </a:t>
            </a:r>
            <a:r>
              <a:rPr lang="en-US" sz="3200" dirty="0"/>
              <a:t>the </a:t>
            </a:r>
            <a:r>
              <a:rPr lang="en-US" sz="3200" dirty="0" err="1"/>
              <a:t>point_map</a:t>
            </a:r>
            <a:r>
              <a:rPr lang="en-US" sz="3200" dirty="0"/>
              <a:t> code chunk is dependent upon the data in </a:t>
            </a:r>
            <a:r>
              <a:rPr lang="en-US" sz="3200" dirty="0" smtClean="0"/>
              <a:t>the </a:t>
            </a:r>
            <a:r>
              <a:rPr lang="en-US" sz="3200" dirty="0" err="1" smtClean="0"/>
              <a:t>dfWildfires</a:t>
            </a:r>
            <a:r>
              <a:rPr lang="en-US" sz="3200" dirty="0" smtClean="0"/>
              <a:t> </a:t>
            </a:r>
            <a:r>
              <a:rPr lang="en-US" sz="3200" dirty="0"/>
              <a:t>data frame you need to add a </a:t>
            </a:r>
            <a:r>
              <a:rPr lang="en-US" sz="3200" dirty="0" err="1"/>
              <a:t>dependson</a:t>
            </a:r>
            <a:r>
              <a:rPr lang="en-US" sz="3200" dirty="0"/>
              <a:t> parameter to the </a:t>
            </a:r>
            <a:r>
              <a:rPr lang="en-US" sz="3200" dirty="0" err="1" smtClean="0"/>
              <a:t>point_map</a:t>
            </a:r>
            <a:r>
              <a:rPr lang="en-US" sz="3200" dirty="0" smtClean="0"/>
              <a:t> code </a:t>
            </a:r>
            <a:r>
              <a:rPr lang="en-US" sz="3200" dirty="0"/>
              <a:t>chunk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```{r </a:t>
            </a:r>
            <a:r>
              <a:rPr lang="en-US" sz="3200" dirty="0" err="1"/>
              <a:t>point_map</a:t>
            </a:r>
            <a:r>
              <a:rPr lang="en-US" sz="3200" dirty="0"/>
              <a:t>, cache=TRUE, </a:t>
            </a:r>
            <a:r>
              <a:rPr lang="en-US" sz="3200" b="1" dirty="0" err="1"/>
              <a:t>dependson</a:t>
            </a:r>
            <a:r>
              <a:rPr lang="en-US" sz="3200" b="1" dirty="0"/>
              <a:t>=’</a:t>
            </a:r>
            <a:r>
              <a:rPr lang="en-US" sz="3200" b="1" dirty="0" err="1"/>
              <a:t>load_data</a:t>
            </a:r>
            <a:r>
              <a:rPr lang="en-US" sz="3200" b="1" dirty="0"/>
              <a:t>’</a:t>
            </a:r>
            <a:r>
              <a:rPr lang="en-US" sz="3200" dirty="0"/>
              <a:t>, error=TRUE</a:t>
            </a:r>
            <a:r>
              <a:rPr lang="en-US" sz="3200" dirty="0" smtClean="0"/>
              <a:t>, warning=TRUE</a:t>
            </a:r>
            <a:r>
              <a:rPr lang="en-US" sz="3200" dirty="0"/>
              <a:t>, message=TRUE</a:t>
            </a:r>
            <a:r>
              <a:rPr lang="en-US" sz="3200" dirty="0" smtClean="0"/>
              <a:t>}</a:t>
            </a:r>
          </a:p>
          <a:p>
            <a:endParaRPr lang="en-US" sz="3200" dirty="0"/>
          </a:p>
          <a:p>
            <a:r>
              <a:rPr lang="en-US" sz="3200" dirty="0"/>
              <a:t>This will cover situations where the </a:t>
            </a:r>
            <a:r>
              <a:rPr lang="en-US" sz="3200" dirty="0" err="1"/>
              <a:t>read_csv</a:t>
            </a:r>
            <a:r>
              <a:rPr lang="en-US" sz="3200" dirty="0"/>
              <a:t>() call changes. </a:t>
            </a:r>
            <a:endParaRPr lang="en-US" sz="3200" dirty="0" smtClean="0"/>
          </a:p>
          <a:p>
            <a:r>
              <a:rPr lang="en-US" sz="3200" dirty="0" smtClean="0"/>
              <a:t>For </a:t>
            </a:r>
            <a:r>
              <a:rPr lang="en-US" sz="3200" dirty="0"/>
              <a:t>example, </a:t>
            </a:r>
            <a:r>
              <a:rPr lang="en-US" sz="3200" dirty="0" smtClean="0"/>
              <a:t>a different </a:t>
            </a:r>
            <a:r>
              <a:rPr lang="en-US" sz="3200" dirty="0"/>
              <a:t>file might be read by the function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6490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4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5"/>
            </a:pPr>
            <a:r>
              <a:rPr lang="en-US" sz="3200" dirty="0" smtClean="0"/>
              <a:t>Keep </a:t>
            </a:r>
            <a:r>
              <a:rPr lang="en-US" sz="3200" dirty="0"/>
              <a:t>in mind that the cache and </a:t>
            </a:r>
            <a:r>
              <a:rPr lang="en-US" sz="3200" dirty="0" err="1"/>
              <a:t>dependson</a:t>
            </a:r>
            <a:r>
              <a:rPr lang="en-US" sz="3200" dirty="0"/>
              <a:t> parameters only </a:t>
            </a:r>
            <a:r>
              <a:rPr lang="en-US" sz="3200" dirty="0" smtClean="0"/>
              <a:t> monitor for changes </a:t>
            </a:r>
            <a:r>
              <a:rPr lang="en-US" sz="3200" dirty="0"/>
              <a:t>in the .</a:t>
            </a:r>
            <a:r>
              <a:rPr lang="en-US" sz="3200" dirty="0" err="1"/>
              <a:t>Rmd</a:t>
            </a:r>
            <a:r>
              <a:rPr lang="en-US" sz="3200" dirty="0"/>
              <a:t> file. </a:t>
            </a:r>
            <a:endParaRPr lang="en-US" sz="3200" dirty="0" smtClean="0"/>
          </a:p>
          <a:p>
            <a:r>
              <a:rPr lang="en-US" sz="3200" dirty="0" smtClean="0"/>
              <a:t>What </a:t>
            </a:r>
            <a:r>
              <a:rPr lang="en-US" sz="3200" dirty="0"/>
              <a:t>would happen if the underlying data in </a:t>
            </a:r>
            <a:r>
              <a:rPr lang="en-US" sz="3200" dirty="0" smtClean="0"/>
              <a:t>the StudyArea_SmallFile.csv </a:t>
            </a:r>
            <a:r>
              <a:rPr lang="en-US" sz="3200" dirty="0"/>
              <a:t>file changes?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answer is that the changes </a:t>
            </a:r>
            <a:r>
              <a:rPr lang="en-US" sz="3200" dirty="0" smtClean="0"/>
              <a:t>wouldn’t be </a:t>
            </a:r>
            <a:r>
              <a:rPr lang="en-US" sz="3200" dirty="0"/>
              <a:t>picked up. </a:t>
            </a:r>
            <a:endParaRPr lang="en-US" sz="3200" dirty="0" smtClean="0"/>
          </a:p>
          <a:p>
            <a:r>
              <a:rPr lang="en-US" sz="3200" dirty="0" smtClean="0"/>
              <a:t>To </a:t>
            </a:r>
            <a:r>
              <a:rPr lang="en-US" sz="3200" dirty="0"/>
              <a:t>handle this sort of situation you can use the </a:t>
            </a:r>
            <a:r>
              <a:rPr lang="en-US" sz="3200" dirty="0" err="1"/>
              <a:t>cache.extra</a:t>
            </a:r>
            <a:r>
              <a:rPr lang="en-US" sz="3200" dirty="0"/>
              <a:t> </a:t>
            </a:r>
            <a:r>
              <a:rPr lang="en-US" sz="3200" dirty="0" smtClean="0"/>
              <a:t>option along </a:t>
            </a:r>
            <a:r>
              <a:rPr lang="en-US" sz="3200" dirty="0"/>
              <a:t>with the file.info() function.</a:t>
            </a:r>
          </a:p>
          <a:p>
            <a:endParaRPr lang="en-US" sz="3200" dirty="0" smtClean="0"/>
          </a:p>
          <a:p>
            <a:r>
              <a:rPr lang="en-US" sz="3200" dirty="0" smtClean="0"/>
              <a:t>```{</a:t>
            </a:r>
            <a:r>
              <a:rPr lang="en-US" sz="3200" dirty="0"/>
              <a:t>r </a:t>
            </a:r>
            <a:r>
              <a:rPr lang="en-US" sz="3200" dirty="0" err="1"/>
              <a:t>load_data</a:t>
            </a:r>
            <a:r>
              <a:rPr lang="en-US" sz="3200" dirty="0"/>
              <a:t>, </a:t>
            </a:r>
            <a:r>
              <a:rPr lang="en-US" sz="3200" b="1" dirty="0" err="1"/>
              <a:t>cache.extra</a:t>
            </a:r>
            <a:r>
              <a:rPr lang="en-US" sz="3200" b="1" dirty="0"/>
              <a:t> = file.info(‘~/Desktop/</a:t>
            </a:r>
            <a:r>
              <a:rPr lang="en-US" sz="3200" b="1" dirty="0" err="1"/>
              <a:t>IntroR</a:t>
            </a:r>
            <a:r>
              <a:rPr lang="en-US" sz="3200" b="1" dirty="0"/>
              <a:t>/</a:t>
            </a:r>
          </a:p>
          <a:p>
            <a:r>
              <a:rPr lang="en-US" sz="3200" b="1" dirty="0"/>
              <a:t>Data/StudyArea_SmallFile.csv’) </a:t>
            </a:r>
            <a:r>
              <a:rPr lang="en-US" sz="3200" dirty="0"/>
              <a:t>error=TRUE, warning=TRUE,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3778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5: Using Knit to output an R markdown file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The </a:t>
            </a:r>
            <a:r>
              <a:rPr lang="en-US" sz="3200" dirty="0" smtClean="0"/>
              <a:t>Knit functionality </a:t>
            </a:r>
            <a:r>
              <a:rPr lang="en-US" sz="3200" dirty="0"/>
              <a:t>built into </a:t>
            </a:r>
            <a:r>
              <a:rPr lang="en-US" sz="3200" dirty="0" err="1"/>
              <a:t>RStudio</a:t>
            </a:r>
            <a:r>
              <a:rPr lang="en-US" sz="3200" dirty="0"/>
              <a:t> can be used to export an R </a:t>
            </a:r>
            <a:r>
              <a:rPr lang="en-US" sz="3200" dirty="0" smtClean="0"/>
              <a:t>Markdown file </a:t>
            </a:r>
            <a:r>
              <a:rPr lang="en-US" sz="3200" dirty="0"/>
              <a:t>to various formats including HTML, PDF, and Word. </a:t>
            </a:r>
            <a:endParaRPr lang="en-US" sz="3200" dirty="0" smtClean="0"/>
          </a:p>
          <a:p>
            <a:r>
              <a:rPr lang="en-US" sz="3200" dirty="0"/>
              <a:t> </a:t>
            </a:r>
            <a:r>
              <a:rPr lang="en-US" sz="3200" dirty="0" smtClean="0"/>
              <a:t>Knit </a:t>
            </a:r>
            <a:r>
              <a:rPr lang="en-US" sz="3200" dirty="0"/>
              <a:t>can be </a:t>
            </a:r>
            <a:r>
              <a:rPr lang="en-US" sz="3200" dirty="0" smtClean="0"/>
              <a:t>accessed from </a:t>
            </a:r>
            <a:r>
              <a:rPr lang="en-US" sz="3200" dirty="0"/>
              <a:t>the dropdown menu seen in the screenshot below.</a:t>
            </a:r>
            <a:endParaRPr 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8" y="2719137"/>
            <a:ext cx="10010274" cy="4138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327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5: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3200" dirty="0" smtClean="0"/>
              <a:t>To </a:t>
            </a:r>
            <a:r>
              <a:rPr lang="en-US" sz="3200" dirty="0"/>
              <a:t>simplify the output of the R Markdown file you’re going to </a:t>
            </a:r>
            <a:r>
              <a:rPr lang="en-US" sz="3200" dirty="0" smtClean="0"/>
              <a:t> remove some of </a:t>
            </a:r>
            <a:r>
              <a:rPr lang="en-US" sz="3200" dirty="0"/>
              <a:t>the options that were added in previous exercise. </a:t>
            </a:r>
            <a:r>
              <a:rPr lang="en-US" sz="3200" dirty="0" smtClean="0"/>
              <a:t>In the </a:t>
            </a:r>
            <a:r>
              <a:rPr lang="en-US" sz="3200" dirty="0" err="1" smtClean="0"/>
              <a:t>CreateMapsWithR.rmd</a:t>
            </a:r>
            <a:r>
              <a:rPr lang="en-US" sz="3200" dirty="0" smtClean="0"/>
              <a:t> </a:t>
            </a:r>
            <a:r>
              <a:rPr lang="en-US" sz="3200" dirty="0"/>
              <a:t>file remove cache, </a:t>
            </a:r>
            <a:r>
              <a:rPr lang="en-US" sz="3200" dirty="0" smtClean="0"/>
              <a:t>depends on</a:t>
            </a:r>
            <a:r>
              <a:rPr lang="en-US" sz="3200" dirty="0"/>
              <a:t>, and cache. </a:t>
            </a:r>
            <a:r>
              <a:rPr lang="en-US" sz="3200" dirty="0" smtClean="0"/>
              <a:t>Extra parameters </a:t>
            </a:r>
            <a:r>
              <a:rPr lang="en-US" sz="3200" dirty="0"/>
              <a:t>added in the last exercise</a:t>
            </a:r>
            <a:r>
              <a:rPr lang="en-US" sz="3200" dirty="0" smtClean="0"/>
              <a:t>. </a:t>
            </a:r>
          </a:p>
          <a:p>
            <a:pPr marL="514350" indent="-514350">
              <a:buAutoNum type="arabicPeriod"/>
            </a:pPr>
            <a:endParaRPr lang="en-US" sz="3200" dirty="0" smtClean="0"/>
          </a:p>
          <a:p>
            <a:pPr marL="514350" indent="-514350">
              <a:buAutoNum type="arabicPeriod"/>
            </a:pPr>
            <a:endParaRPr lang="en-US" sz="3200" dirty="0" smtClean="0"/>
          </a:p>
          <a:p>
            <a:pPr marL="514350" indent="-514350">
              <a:buAutoNum type="arabicPeriod"/>
            </a:pPr>
            <a:r>
              <a:rPr lang="en-US" sz="3200" dirty="0" smtClean="0"/>
              <a:t>Select </a:t>
            </a:r>
            <a:r>
              <a:rPr lang="en-US" sz="3200" dirty="0"/>
              <a:t>Knit and find the Knit Directory menu item from the </a:t>
            </a:r>
            <a:r>
              <a:rPr lang="en-US" sz="3200" dirty="0" err="1"/>
              <a:t>RStudio</a:t>
            </a:r>
            <a:r>
              <a:rPr lang="en-US" sz="3200" dirty="0"/>
              <a:t> interface</a:t>
            </a:r>
            <a:r>
              <a:rPr lang="en-US" sz="3200" dirty="0" smtClean="0"/>
              <a:t>. By </a:t>
            </a:r>
            <a:r>
              <a:rPr lang="en-US" sz="3200" dirty="0"/>
              <a:t>default, it is set to Document Directory. This simply means that the </a:t>
            </a:r>
            <a:r>
              <a:rPr lang="en-US" sz="3200" dirty="0" smtClean="0"/>
              <a:t>output file </a:t>
            </a:r>
            <a:r>
              <a:rPr lang="en-US" sz="3200" dirty="0"/>
              <a:t>will go into the same directory where the R Markdown file has been saved.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3718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5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830" y="794084"/>
            <a:ext cx="12069170" cy="606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3"/>
            </a:pPr>
            <a:r>
              <a:rPr lang="en-US" sz="3200" dirty="0" smtClean="0"/>
              <a:t>Select </a:t>
            </a:r>
            <a:r>
              <a:rPr lang="en-US" sz="3200" dirty="0"/>
              <a:t>Knit | Knit to HTML. Knit will begin processing the file and </a:t>
            </a:r>
            <a:r>
              <a:rPr lang="en-US" sz="3200" dirty="0" smtClean="0"/>
              <a:t>you’ll see output </a:t>
            </a:r>
            <a:r>
              <a:rPr lang="en-US" sz="3200" dirty="0"/>
              <a:t>messaging information written to the </a:t>
            </a:r>
            <a:r>
              <a:rPr lang="en-US" sz="3200" b="1" dirty="0"/>
              <a:t>Console </a:t>
            </a:r>
            <a:r>
              <a:rPr lang="en-US" sz="3200" dirty="0"/>
              <a:t>pane.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If </a:t>
            </a:r>
            <a:r>
              <a:rPr lang="en-US" sz="3200" dirty="0"/>
              <a:t>everything goes </a:t>
            </a:r>
            <a:r>
              <a:rPr lang="en-US" sz="3200" dirty="0" smtClean="0"/>
              <a:t>as expected </a:t>
            </a:r>
            <a:r>
              <a:rPr lang="en-US" sz="3200" dirty="0"/>
              <a:t>an output HTML file called CreatingMapsWithR.html will be </a:t>
            </a:r>
            <a:r>
              <a:rPr lang="en-US" sz="3200" dirty="0" smtClean="0"/>
              <a:t>created in </a:t>
            </a:r>
            <a:r>
              <a:rPr lang="en-US" sz="3200" dirty="0"/>
              <a:t>the same folder where the </a:t>
            </a:r>
            <a:r>
              <a:rPr lang="en-US" sz="3200" dirty="0" err="1"/>
              <a:t>CreatingMapsWithR.Rmd</a:t>
            </a:r>
            <a:r>
              <a:rPr lang="en-US" sz="3200" dirty="0"/>
              <a:t> file was saved.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The output </a:t>
            </a:r>
            <a:r>
              <a:rPr lang="en-US" sz="3200" dirty="0"/>
              <a:t>file will be fairly length, but the top part should look similar to </a:t>
            </a:r>
            <a:r>
              <a:rPr lang="en-US" sz="3200" dirty="0" smtClean="0"/>
              <a:t>the screenshot </a:t>
            </a:r>
            <a:r>
              <a:rPr lang="en-US" sz="3200" dirty="0"/>
              <a:t>below.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9358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629524" cy="89033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b="1" u="sng" dirty="0" smtClean="0">
                <a:solidFill>
                  <a:srgbClr val="C00000"/>
                </a:solidFill>
              </a:rPr>
              <a:t>xercise 5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47" y="770021"/>
            <a:ext cx="11189369" cy="572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583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6733</TotalTime>
  <Words>4405</Words>
  <Application>Microsoft Office PowerPoint</Application>
  <PresentationFormat>Custom</PresentationFormat>
  <Paragraphs>415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Module 9</vt:lpstr>
      <vt:lpstr>Contents</vt:lpstr>
      <vt:lpstr>R Markdown</vt:lpstr>
      <vt:lpstr>R Markdown (cont…)</vt:lpstr>
      <vt:lpstr>R Markdown (cont…)</vt:lpstr>
      <vt:lpstr>R Markdown (cont…)</vt:lpstr>
      <vt:lpstr>R Markdown (cont…)</vt:lpstr>
      <vt:lpstr>Exercise 1: Creating an R Markdown file</vt:lpstr>
      <vt:lpstr>Exercise 1: Creating an R Markdown file (Cont…)</vt:lpstr>
      <vt:lpstr>Exercise 1: Creating an R Markdown file (Cont…)</vt:lpstr>
      <vt:lpstr>Exercise 1: Creating an R Markdown file (Cont…)</vt:lpstr>
      <vt:lpstr>Exercise 1: Creating an R Markdown file (Cont…)</vt:lpstr>
      <vt:lpstr>Exercise 1: Creating an R Markdown file (Cont…)</vt:lpstr>
      <vt:lpstr>Adding Code Chunks and Text to an R Markdown</vt:lpstr>
      <vt:lpstr>Adding Code Chunks and Text to an R Markdown</vt:lpstr>
      <vt:lpstr>Exercise 2:</vt:lpstr>
      <vt:lpstr>Exercise 2:</vt:lpstr>
      <vt:lpstr>Exercise 2: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Exercise 2 (Cont….)</vt:lpstr>
      <vt:lpstr>Code chunk and header options</vt:lpstr>
      <vt:lpstr>Code chunk and header options</vt:lpstr>
      <vt:lpstr>Exercise 3 (Cont….)</vt:lpstr>
      <vt:lpstr>Exercise 3 (Cont….)</vt:lpstr>
      <vt:lpstr>Exercise 3 (Cont….)</vt:lpstr>
      <vt:lpstr>Exercise 3 (Cont….)</vt:lpstr>
      <vt:lpstr>Exercise 3 (Cont….)</vt:lpstr>
      <vt:lpstr>Exercise 3 (Cont….)</vt:lpstr>
      <vt:lpstr>Exercise 3 (Cont….)</vt:lpstr>
      <vt:lpstr>Exercise 3 (Cont….)</vt:lpstr>
      <vt:lpstr>Exercise 3 (Cont….)</vt:lpstr>
      <vt:lpstr>Exercise 3 (Cont….)</vt:lpstr>
      <vt:lpstr>Exercise 3 (Cont….)</vt:lpstr>
      <vt:lpstr>Exercise 3 (Cont….)</vt:lpstr>
      <vt:lpstr>Caching</vt:lpstr>
      <vt:lpstr>Exercise 4</vt:lpstr>
      <vt:lpstr>Exercise 4</vt:lpstr>
      <vt:lpstr>Exercise 4</vt:lpstr>
      <vt:lpstr>Exercise 4 (Cont…)</vt:lpstr>
      <vt:lpstr>Exercise 4 (Cont…)</vt:lpstr>
      <vt:lpstr>Exercise 5: Using Knit to output an R markdown file</vt:lpstr>
      <vt:lpstr>Exercise 5:</vt:lpstr>
      <vt:lpstr>Exercise 5 (Cont…)</vt:lpstr>
      <vt:lpstr>Exercise 5 (Cont…)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MOHD HAQ</dc:creator>
  <cp:lastModifiedBy>Windows User</cp:lastModifiedBy>
  <cp:revision>237</cp:revision>
  <dcterms:created xsi:type="dcterms:W3CDTF">2021-01-17T15:40:32Z</dcterms:created>
  <dcterms:modified xsi:type="dcterms:W3CDTF">2021-03-21T11:10:38Z</dcterms:modified>
</cp:coreProperties>
</file>