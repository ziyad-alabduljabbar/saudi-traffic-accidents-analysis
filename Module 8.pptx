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6" autoAdjust="0"/>
    <p:restoredTop sz="94794" autoAdjust="0"/>
  </p:normalViewPr>
  <p:slideViewPr>
    <p:cSldViewPr snapToGrid="0">
      <p:cViewPr varScale="1">
        <p:scale>
          <a:sx n="69" d="100"/>
          <a:sy n="69" d="100"/>
        </p:scale>
        <p:origin x="98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3104A-6E55-4B2B-87C6-D272CBE8B7E2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02334-DE96-4D8F-AA39-DB763625A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1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DACFB-A2D7-4DCD-947F-7B69551739A3}" type="datetime1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15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12C61-F5C4-4CE8-B8BC-EDFD5BB391AF}" type="datetime1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5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56215-0066-4536-9FE6-9C47B52BD454}" type="datetime1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5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8F086-32D7-4FE0-9298-B72ECA56DADC}" type="datetime1">
              <a:rPr lang="en-US" smtClean="0"/>
              <a:t>3/28/2021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0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BDD2-9426-4B7F-A0E1-6BF030117F89}" type="datetime1">
              <a:rPr lang="en-US" smtClean="0"/>
              <a:t>3/28/2021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9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DEF55-0317-47D2-A824-F4B42C4D23B6}" type="datetime1">
              <a:rPr lang="en-US" smtClean="0"/>
              <a:t>3/28/2021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4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39059-6ACC-4992-B9BC-2688A4455B19}" type="datetime1">
              <a:rPr lang="en-US" smtClean="0"/>
              <a:t>3/28/2021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3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C1CD-8705-4E2F-AB86-DF1CBB6BC4AF}" type="datetime1">
              <a:rPr lang="en-US" smtClean="0"/>
              <a:t>3/28/2021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7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9E99-B50E-45DC-8C7A-E76B9C53804A}" type="datetime1">
              <a:rPr lang="en-US" smtClean="0"/>
              <a:t>3/28/2021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59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197C-4F4B-4DA8-B842-8D7192562179}" type="datetime1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82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00B4-8E9A-42D1-B9FC-FC3A6B4A25B7}" type="datetime1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EAD6F-8CBA-452B-9F26-691547BAB364}" type="datetime1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1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maps.googleapis.com/maps/api/staticmap?center=California&amp;zoom=6&amp;size=640x640&amp;scale=2&amp;maptype=terrain&amp;language=en-EN&amp;sensor=fals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Module 8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51598"/>
          </a:xfrm>
        </p:spPr>
        <p:txBody>
          <a:bodyPr>
            <a:normAutofit fontScale="85000" lnSpcReduction="10000"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V</a:t>
            </a:r>
            <a:r>
              <a:rPr lang="en-US" sz="4800" dirty="0" smtClean="0">
                <a:solidFill>
                  <a:srgbClr val="C00000"/>
                </a:solidFill>
              </a:rPr>
              <a:t>isualizing Geographic Data with </a:t>
            </a:r>
            <a:r>
              <a:rPr lang="en-US" sz="4800" dirty="0" err="1" smtClean="0">
                <a:solidFill>
                  <a:srgbClr val="C00000"/>
                </a:solidFill>
              </a:rPr>
              <a:t>ggmap</a:t>
            </a:r>
            <a:r>
              <a:rPr lang="en-US" sz="4800" dirty="0" smtClean="0">
                <a:solidFill>
                  <a:srgbClr val="C00000"/>
                </a:solidFill>
              </a:rPr>
              <a:t> 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6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257" y="174056"/>
            <a:ext cx="10515600" cy="808583"/>
          </a:xfrm>
        </p:spPr>
        <p:txBody>
          <a:bodyPr/>
          <a:lstStyle/>
          <a:p>
            <a:r>
              <a:rPr lang="en-US" b="1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8174"/>
            <a:ext cx="11090564" cy="57798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• Creating a </a:t>
            </a:r>
            <a:r>
              <a:rPr lang="en-US" sz="3200" dirty="0" err="1" smtClean="0"/>
              <a:t>basemap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• Adding </a:t>
            </a:r>
            <a:r>
              <a:rPr lang="en-US" sz="3200" dirty="0" smtClean="0"/>
              <a:t>operational layers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• </a:t>
            </a:r>
            <a:r>
              <a:rPr lang="en-US" sz="3200" dirty="0" smtClean="0"/>
              <a:t>Adding layers from a </a:t>
            </a:r>
            <a:r>
              <a:rPr lang="en-US" sz="3200" dirty="0" err="1" smtClean="0"/>
              <a:t>shapefile</a:t>
            </a:r>
            <a:r>
              <a:rPr lang="en-US" sz="3200" dirty="0" smtClean="0"/>
              <a:t>/vector file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24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Visualizing Geographic Data with </a:t>
            </a:r>
            <a:r>
              <a:rPr lang="en-US" b="1" u="sng" dirty="0" err="1" smtClean="0">
                <a:solidFill>
                  <a:srgbClr val="C00000"/>
                </a:solidFill>
              </a:rPr>
              <a:t>ggmap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2069170" cy="6039852"/>
          </a:xfrm>
        </p:spPr>
        <p:txBody>
          <a:bodyPr>
            <a:noAutofit/>
          </a:bodyPr>
          <a:lstStyle/>
          <a:p>
            <a:r>
              <a:rPr lang="en-US" sz="3100" dirty="0" smtClean="0"/>
              <a:t>The </a:t>
            </a:r>
            <a:r>
              <a:rPr lang="en-US" sz="3100" dirty="0" err="1" smtClean="0"/>
              <a:t>ggmap</a:t>
            </a:r>
            <a:r>
              <a:rPr lang="en-US" sz="3100" dirty="0" smtClean="0"/>
              <a:t> </a:t>
            </a:r>
            <a:r>
              <a:rPr lang="en-US" sz="3200" dirty="0"/>
              <a:t>package enables the visualization of </a:t>
            </a:r>
            <a:r>
              <a:rPr lang="en-US" sz="3200" dirty="0" smtClean="0"/>
              <a:t>spatial/location/geographic </a:t>
            </a:r>
            <a:r>
              <a:rPr lang="en-US" sz="3200" dirty="0"/>
              <a:t>data and spatial </a:t>
            </a:r>
            <a:r>
              <a:rPr lang="en-US" sz="3200" dirty="0" smtClean="0"/>
              <a:t>statistics in </a:t>
            </a:r>
            <a:r>
              <a:rPr lang="en-US" sz="3200" dirty="0"/>
              <a:t>a map format using the layered approach of ggplot2. </a:t>
            </a:r>
            <a:endParaRPr lang="en-US" sz="3200" dirty="0" smtClean="0"/>
          </a:p>
          <a:p>
            <a:r>
              <a:rPr lang="en-US" sz="3200" dirty="0" smtClean="0"/>
              <a:t>This </a:t>
            </a:r>
            <a:r>
              <a:rPr lang="en-US" sz="3200" dirty="0"/>
              <a:t>package </a:t>
            </a:r>
            <a:r>
              <a:rPr lang="en-US" sz="3200" dirty="0" smtClean="0"/>
              <a:t>also includes </a:t>
            </a:r>
            <a:r>
              <a:rPr lang="en-US" sz="3200" dirty="0" err="1"/>
              <a:t>basemaps</a:t>
            </a:r>
            <a:r>
              <a:rPr lang="en-US" sz="3200" dirty="0"/>
              <a:t> that give your visualizations context including Google Maps</a:t>
            </a:r>
            <a:r>
              <a:rPr lang="en-US" sz="3200" dirty="0" smtClean="0"/>
              <a:t>, Open </a:t>
            </a:r>
            <a:r>
              <a:rPr lang="en-US" sz="3200" dirty="0"/>
              <a:t>Street Map, Stamen Maps, and </a:t>
            </a:r>
            <a:r>
              <a:rPr lang="en-US" sz="3200" dirty="0" err="1"/>
              <a:t>CloudMade</a:t>
            </a:r>
            <a:r>
              <a:rPr lang="en-US" sz="3200" dirty="0"/>
              <a:t> maps. </a:t>
            </a:r>
            <a:endParaRPr lang="en-US" sz="3200" dirty="0" smtClean="0"/>
          </a:p>
          <a:p>
            <a:r>
              <a:rPr lang="en-US" sz="3200" dirty="0" smtClean="0"/>
              <a:t>In </a:t>
            </a:r>
            <a:r>
              <a:rPr lang="en-US" sz="3200" dirty="0"/>
              <a:t>addition, </a:t>
            </a:r>
            <a:r>
              <a:rPr lang="en-US" sz="3200" dirty="0" smtClean="0"/>
              <a:t>utility functions </a:t>
            </a:r>
            <a:r>
              <a:rPr lang="en-US" sz="3200" dirty="0"/>
              <a:t>are provided for accessing various Google services </a:t>
            </a:r>
            <a:r>
              <a:rPr lang="en-US" sz="3200" dirty="0" smtClean="0"/>
              <a:t>including Geocoding</a:t>
            </a:r>
            <a:r>
              <a:rPr lang="en-US" sz="3200" dirty="0"/>
              <a:t>, Distance Matrix, and Directions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err="1" smtClean="0"/>
              <a:t>ggmap</a:t>
            </a:r>
            <a:r>
              <a:rPr lang="en-US" sz="3200" dirty="0" smtClean="0"/>
              <a:t>: A </a:t>
            </a:r>
            <a:r>
              <a:rPr lang="en-US" sz="3200" dirty="0"/>
              <a:t>collection of functions to visualize spatial data and models on top of static maps from various online sources (</a:t>
            </a:r>
            <a:r>
              <a:rPr lang="en-US" sz="3200" dirty="0" err="1"/>
              <a:t>e.g</a:t>
            </a:r>
            <a:r>
              <a:rPr lang="en-US" sz="3200" dirty="0"/>
              <a:t> Google Maps and Stamen Maps</a:t>
            </a:r>
            <a:r>
              <a:rPr lang="en-US" sz="3200" dirty="0" smtClean="0"/>
              <a:t>) with layered implementation of ggplot2.)</a:t>
            </a:r>
            <a:endParaRPr lang="en-US" sz="31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7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Visualizing Geographic Data with </a:t>
            </a:r>
            <a:r>
              <a:rPr lang="en-US" b="1" u="sng" dirty="0" err="1" smtClean="0">
                <a:solidFill>
                  <a:srgbClr val="C00000"/>
                </a:solidFill>
              </a:rPr>
              <a:t>ggmap</a:t>
            </a:r>
            <a:r>
              <a:rPr lang="en-US" b="1" u="sng" dirty="0" smtClean="0">
                <a:solidFill>
                  <a:srgbClr val="C00000"/>
                </a:solidFill>
              </a:rPr>
              <a:t>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r>
              <a:rPr lang="en-US" sz="3200" dirty="0" smtClean="0"/>
              <a:t>As the </a:t>
            </a:r>
            <a:r>
              <a:rPr lang="en-US" sz="3200" dirty="0" err="1"/>
              <a:t>ggmap</a:t>
            </a:r>
            <a:r>
              <a:rPr lang="en-US" sz="3200" dirty="0"/>
              <a:t> package is based on ggplot2, </a:t>
            </a:r>
            <a:r>
              <a:rPr lang="en-US" sz="3200" dirty="0" smtClean="0"/>
              <a:t>it </a:t>
            </a:r>
            <a:r>
              <a:rPr lang="en-US" sz="3200" dirty="0"/>
              <a:t>will </a:t>
            </a:r>
            <a:r>
              <a:rPr lang="en-US" sz="3200" dirty="0" smtClean="0"/>
              <a:t>consist </a:t>
            </a:r>
            <a:r>
              <a:rPr lang="en-US" sz="3200" dirty="0"/>
              <a:t>of the same five components found in ggplot2.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smtClean="0"/>
              <a:t>These include </a:t>
            </a:r>
            <a:r>
              <a:rPr lang="en-US" sz="3200" dirty="0"/>
              <a:t>a default dataset with aesthetic mappings where x is longitude, y </a:t>
            </a:r>
            <a:r>
              <a:rPr lang="en-US" sz="3200" dirty="0" smtClean="0"/>
              <a:t>is latitude</a:t>
            </a:r>
            <a:r>
              <a:rPr lang="en-US" sz="3200" dirty="0"/>
              <a:t>, and the coordinate system is fixed to </a:t>
            </a:r>
            <a:r>
              <a:rPr lang="en-US" sz="3200" dirty="0" smtClean="0"/>
              <a:t>Mercator projection</a:t>
            </a:r>
            <a:r>
              <a:rPr lang="en-US" sz="3200" dirty="0"/>
              <a:t>. (because of the Mercator projection limitations in </a:t>
            </a:r>
            <a:r>
              <a:rPr lang="en-US" sz="3200" dirty="0" err="1"/>
              <a:t>mapproject</a:t>
            </a:r>
            <a:r>
              <a:rPr lang="en-US" sz="3200" dirty="0"/>
              <a:t>, anything above/below ±</a:t>
            </a:r>
            <a:r>
              <a:rPr lang="en-US" sz="3200" dirty="0" smtClean="0"/>
              <a:t>80 degrees </a:t>
            </a:r>
            <a:r>
              <a:rPr lang="en-US" sz="3200" dirty="0"/>
              <a:t>cannot be plotted currently</a:t>
            </a:r>
            <a:r>
              <a:rPr lang="en-US" sz="3200" dirty="0" smtClean="0"/>
              <a:t>. Ref-http</a:t>
            </a:r>
            <a:r>
              <a:rPr lang="en-US" sz="3200" dirty="0"/>
              <a:t>://stat405.had.co.nz/ggmap.pdf) 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smtClean="0"/>
              <a:t>Other components include </a:t>
            </a:r>
            <a:r>
              <a:rPr lang="en-US" sz="3200" dirty="0"/>
              <a:t>one or more layers defined with a geometric object and </a:t>
            </a:r>
            <a:r>
              <a:rPr lang="en-US" sz="3200" dirty="0" smtClean="0"/>
              <a:t>statistical transformation</a:t>
            </a:r>
            <a:r>
              <a:rPr lang="en-US" sz="3200" dirty="0"/>
              <a:t>, a scale for each aesthetic mapping, coordinate system, and </a:t>
            </a:r>
            <a:r>
              <a:rPr lang="en-US" sz="3200" dirty="0" smtClean="0"/>
              <a:t>facet specification</a:t>
            </a:r>
            <a:r>
              <a:rPr lang="en-US" sz="3200" dirty="0"/>
              <a:t>.</a:t>
            </a:r>
            <a:endParaRPr lang="en-US" sz="31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43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Creating a </a:t>
            </a:r>
            <a:r>
              <a:rPr lang="en-US" b="1" u="sng" dirty="0" err="1" smtClean="0">
                <a:solidFill>
                  <a:srgbClr val="C00000"/>
                </a:solidFill>
              </a:rPr>
              <a:t>basemap</a:t>
            </a:r>
            <a:r>
              <a:rPr lang="en-US" b="1" u="sng" dirty="0" smtClean="0">
                <a:solidFill>
                  <a:srgbClr val="C00000"/>
                </a:solidFill>
              </a:rPr>
              <a:t>: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r>
              <a:rPr lang="en-US" sz="3200" dirty="0"/>
              <a:t>There are two basic steps to create a map with </a:t>
            </a:r>
            <a:r>
              <a:rPr lang="en-US" sz="3200" dirty="0" err="1"/>
              <a:t>ggmap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 smtClean="0"/>
          </a:p>
          <a:p>
            <a:pPr marL="514350" indent="-514350">
              <a:buAutoNum type="arabicPeriod"/>
            </a:pPr>
            <a:r>
              <a:rPr lang="en-US" sz="3200" dirty="0" smtClean="0"/>
              <a:t>Download </a:t>
            </a:r>
            <a:r>
              <a:rPr lang="en-US" sz="3200" dirty="0"/>
              <a:t>the images and </a:t>
            </a:r>
            <a:r>
              <a:rPr lang="en-US" sz="3200" dirty="0" smtClean="0"/>
              <a:t>format </a:t>
            </a:r>
            <a:r>
              <a:rPr lang="en-US" sz="3200" dirty="0"/>
              <a:t>them for plotting, </a:t>
            </a:r>
            <a:r>
              <a:rPr lang="en-US" sz="3200" dirty="0" smtClean="0"/>
              <a:t>with </a:t>
            </a:r>
            <a:r>
              <a:rPr lang="en-US" sz="3200" dirty="0" err="1" smtClean="0"/>
              <a:t>get_map</a:t>
            </a:r>
            <a:r>
              <a:rPr lang="en-US" sz="3200" dirty="0" smtClean="0"/>
              <a:t> which can be used to create </a:t>
            </a:r>
            <a:r>
              <a:rPr lang="en-US" sz="3200" dirty="0" err="1" smtClean="0"/>
              <a:t>basemap</a:t>
            </a:r>
            <a:r>
              <a:rPr lang="en-US" sz="3200" dirty="0" smtClean="0"/>
              <a:t> from Google, Stamen, Open Street Map or </a:t>
            </a:r>
            <a:r>
              <a:rPr lang="en-US" sz="3200" dirty="0" err="1" smtClean="0"/>
              <a:t>CloudMade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r>
              <a:rPr lang="en-US" sz="3200" dirty="0" smtClean="0"/>
              <a:t>2. Make </a:t>
            </a:r>
            <a:r>
              <a:rPr lang="en-US" sz="3200" dirty="0"/>
              <a:t>the plot, </a:t>
            </a:r>
            <a:r>
              <a:rPr lang="en-US" sz="3200" dirty="0" smtClean="0"/>
              <a:t>with </a:t>
            </a:r>
            <a:r>
              <a:rPr lang="en-US" sz="3200" dirty="0" err="1"/>
              <a:t>ggmap</a:t>
            </a:r>
            <a:r>
              <a:rPr lang="en-US" sz="3200" dirty="0"/>
              <a:t>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smtClean="0"/>
              <a:t>Download </a:t>
            </a:r>
            <a:r>
              <a:rPr lang="en-US" sz="3200" dirty="0"/>
              <a:t>the map raster (</a:t>
            </a:r>
            <a:r>
              <a:rPr lang="en-US" sz="3200" dirty="0" err="1"/>
              <a:t>basemap</a:t>
            </a:r>
            <a:r>
              <a:rPr lang="en-US" sz="3200" dirty="0" smtClean="0"/>
              <a:t>)  </a:t>
            </a:r>
            <a:r>
              <a:rPr lang="en-US" sz="3200" dirty="0"/>
              <a:t>and then plot operational data on </a:t>
            </a:r>
            <a:r>
              <a:rPr lang="en-US" sz="3200" dirty="0" smtClean="0"/>
              <a:t>the </a:t>
            </a:r>
            <a:r>
              <a:rPr lang="en-US" sz="3200" dirty="0" err="1" smtClean="0"/>
              <a:t>basemap</a:t>
            </a:r>
            <a:r>
              <a:rPr lang="en-US" sz="3200" dirty="0"/>
              <a:t>. </a:t>
            </a:r>
            <a:endParaRPr lang="en-US" sz="31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1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1: Creating a </a:t>
            </a:r>
            <a:r>
              <a:rPr lang="en-US" b="1" u="sng" dirty="0" err="1" smtClean="0">
                <a:solidFill>
                  <a:srgbClr val="C00000"/>
                </a:solidFill>
              </a:rPr>
              <a:t>basemap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3200" dirty="0" smtClean="0"/>
              <a:t>Make sure the working directory is set and </a:t>
            </a:r>
            <a:r>
              <a:rPr lang="en-US" sz="3200" dirty="0" err="1" smtClean="0"/>
              <a:t>ggmap</a:t>
            </a:r>
            <a:r>
              <a:rPr lang="en-US" sz="3200" dirty="0" smtClean="0"/>
              <a:t> package is loaded.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r>
              <a:rPr lang="en-US" sz="3200" dirty="0" smtClean="0"/>
              <a:t>2. Create a variable called </a:t>
            </a:r>
            <a:r>
              <a:rPr lang="en-US" sz="3200" dirty="0" err="1" smtClean="0"/>
              <a:t>myLocation</a:t>
            </a:r>
            <a:r>
              <a:rPr lang="en-US" sz="3200" dirty="0" smtClean="0"/>
              <a:t> and set it to California.</a:t>
            </a:r>
          </a:p>
          <a:p>
            <a:pPr lvl="2"/>
            <a:r>
              <a:rPr lang="en-US" sz="3200" dirty="0" err="1" smtClean="0"/>
              <a:t>myLocation</a:t>
            </a:r>
            <a:r>
              <a:rPr lang="en-US" sz="3200" dirty="0" smtClean="0"/>
              <a:t> </a:t>
            </a:r>
            <a:r>
              <a:rPr lang="en-US" sz="3200" dirty="0"/>
              <a:t>&lt;- </a:t>
            </a:r>
            <a:r>
              <a:rPr lang="en-US" sz="3200" dirty="0" smtClean="0"/>
              <a:t>"California"</a:t>
            </a:r>
          </a:p>
          <a:p>
            <a:pPr marL="914400" lvl="2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3. </a:t>
            </a:r>
            <a:r>
              <a:rPr lang="en-US" sz="3200" dirty="0"/>
              <a:t>Call the </a:t>
            </a:r>
            <a:r>
              <a:rPr lang="en-US" sz="3200" dirty="0" err="1"/>
              <a:t>get_map</a:t>
            </a:r>
            <a:r>
              <a:rPr lang="en-US" sz="3200" dirty="0"/>
              <a:t>() function and pass in the location variable along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with a zoom </a:t>
            </a:r>
            <a:r>
              <a:rPr lang="en-US" sz="3200" dirty="0"/>
              <a:t>level of 6.</a:t>
            </a:r>
          </a:p>
          <a:p>
            <a:pPr lvl="2"/>
            <a:r>
              <a:rPr lang="en-US" sz="3200" dirty="0" err="1"/>
              <a:t>myMap</a:t>
            </a:r>
            <a:r>
              <a:rPr lang="en-US" sz="3200" dirty="0"/>
              <a:t> &lt;- </a:t>
            </a:r>
            <a:r>
              <a:rPr lang="en-US" sz="3200" dirty="0" err="1"/>
              <a:t>get_map</a:t>
            </a:r>
            <a:r>
              <a:rPr lang="en-US" sz="3200" dirty="0"/>
              <a:t>(location = </a:t>
            </a:r>
            <a:r>
              <a:rPr lang="en-US" sz="3200" dirty="0" err="1"/>
              <a:t>myLocation</a:t>
            </a:r>
            <a:r>
              <a:rPr lang="en-US" sz="3200" dirty="0"/>
              <a:t>, zoom = 6)</a:t>
            </a:r>
          </a:p>
          <a:p>
            <a:pPr marL="0" indent="0">
              <a:buNone/>
            </a:pP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54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1: Creating a </a:t>
            </a:r>
            <a:r>
              <a:rPr lang="en-US" b="1" u="sng" dirty="0" err="1" smtClean="0">
                <a:solidFill>
                  <a:srgbClr val="C00000"/>
                </a:solidFill>
              </a:rPr>
              <a:t>basemap</a:t>
            </a:r>
            <a:r>
              <a:rPr lang="en-US" b="1" u="sng" dirty="0" smtClean="0">
                <a:solidFill>
                  <a:srgbClr val="C00000"/>
                </a:solidFill>
              </a:rPr>
              <a:t>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4.  </a:t>
            </a:r>
            <a:r>
              <a:rPr lang="en-US" sz="3200" dirty="0"/>
              <a:t>In </a:t>
            </a:r>
            <a:r>
              <a:rPr lang="en-US" sz="3200" dirty="0" err="1"/>
              <a:t>RStudio</a:t>
            </a:r>
            <a:r>
              <a:rPr lang="en-US" sz="3200" dirty="0"/>
              <a:t> you should see some return messages that look similar to the </a:t>
            </a:r>
            <a:r>
              <a:rPr lang="en-US" sz="3200" dirty="0" smtClean="0"/>
              <a:t>code you </a:t>
            </a:r>
            <a:r>
              <a:rPr lang="en-US" sz="3200" dirty="0"/>
              <a:t>see below. If you don’t see something similar to this, you may need to </a:t>
            </a:r>
            <a:r>
              <a:rPr lang="en-US" sz="3200" dirty="0" err="1" smtClean="0"/>
              <a:t>reexecute</a:t>
            </a:r>
            <a:r>
              <a:rPr lang="en-US" sz="3200" dirty="0" smtClean="0"/>
              <a:t> the </a:t>
            </a:r>
            <a:r>
              <a:rPr lang="en-US" sz="3200" dirty="0"/>
              <a:t>script. It isn’t uncommon to get an error message when calling </a:t>
            </a:r>
            <a:r>
              <a:rPr lang="en-US" sz="3200" dirty="0" smtClean="0"/>
              <a:t>the </a:t>
            </a:r>
            <a:r>
              <a:rPr lang="en-US" sz="3200" dirty="0" err="1" smtClean="0"/>
              <a:t>get_map</a:t>
            </a:r>
            <a:r>
              <a:rPr lang="en-US" sz="3200" dirty="0"/>
              <a:t>() function from R Studio. If this happens simply re-execute the </a:t>
            </a:r>
            <a:r>
              <a:rPr lang="en-US" sz="3200" dirty="0" smtClean="0"/>
              <a:t>code until </a:t>
            </a:r>
            <a:r>
              <a:rPr lang="en-US" sz="3200" dirty="0"/>
              <a:t>you get something that is similar to what you see below.</a:t>
            </a:r>
          </a:p>
          <a:p>
            <a:r>
              <a:rPr lang="en-US" sz="3200" dirty="0"/>
              <a:t>Map from URL: </a:t>
            </a:r>
            <a:r>
              <a:rPr lang="en-US" sz="3200" dirty="0">
                <a:hlinkClick r:id="rId2"/>
              </a:rPr>
              <a:t>http://</a:t>
            </a:r>
            <a:r>
              <a:rPr lang="en-US" sz="3200" dirty="0" smtClean="0">
                <a:hlinkClick r:id="rId2"/>
              </a:rPr>
              <a:t>maps.googleapis.com/maps/api/staticmap?center=California&amp;zoom=6&amp;size=640x640&amp;scale=2&amp;maptype=terrain&amp;language=en-EN&amp;sensor=false</a:t>
            </a:r>
            <a:endParaRPr lang="en-US" sz="3200" dirty="0"/>
          </a:p>
          <a:p>
            <a:r>
              <a:rPr lang="en-US" sz="3200" dirty="0" smtClean="0"/>
              <a:t>Information </a:t>
            </a:r>
            <a:r>
              <a:rPr lang="en-US" sz="3200" dirty="0"/>
              <a:t>from URL : http://maps.googleapis.com/maps/api/ </a:t>
            </a:r>
            <a:r>
              <a:rPr lang="en-US" sz="3200" dirty="0" smtClean="0"/>
              <a:t>geocode/</a:t>
            </a:r>
            <a:r>
              <a:rPr lang="en-US" sz="3200" dirty="0" err="1" smtClean="0"/>
              <a:t>json?address</a:t>
            </a:r>
            <a:r>
              <a:rPr lang="en-US" sz="3200" dirty="0" smtClean="0"/>
              <a:t>=</a:t>
            </a:r>
            <a:r>
              <a:rPr lang="en-US" sz="3200" dirty="0" err="1" smtClean="0"/>
              <a:t>California&amp;sensor</a:t>
            </a:r>
            <a:r>
              <a:rPr lang="en-US" sz="3200" dirty="0" smtClean="0"/>
              <a:t>=false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75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1: Creating a </a:t>
            </a:r>
            <a:r>
              <a:rPr lang="en-US" b="1" u="sng" dirty="0" err="1" smtClean="0">
                <a:solidFill>
                  <a:srgbClr val="C00000"/>
                </a:solidFill>
              </a:rPr>
              <a:t>basemap</a:t>
            </a:r>
            <a:r>
              <a:rPr lang="en-US" b="1" u="sng" dirty="0" smtClean="0">
                <a:solidFill>
                  <a:srgbClr val="C00000"/>
                </a:solidFill>
              </a:rPr>
              <a:t>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5. </a:t>
            </a:r>
            <a:r>
              <a:rPr lang="en-US" sz="3200" dirty="0"/>
              <a:t>Call the </a:t>
            </a:r>
            <a:r>
              <a:rPr lang="en-US" sz="3200" dirty="0" err="1"/>
              <a:t>ggmap</a:t>
            </a:r>
            <a:r>
              <a:rPr lang="en-US" sz="3200" dirty="0"/>
              <a:t>() function, passing in the </a:t>
            </a:r>
            <a:r>
              <a:rPr lang="en-US" sz="3200" dirty="0" err="1"/>
              <a:t>myMap</a:t>
            </a:r>
            <a:r>
              <a:rPr lang="en-US" sz="3200" dirty="0"/>
              <a:t> variable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dirty="0" smtClean="0"/>
              <a:t>The </a:t>
            </a:r>
            <a:r>
              <a:rPr lang="en-US" sz="3200" dirty="0"/>
              <a:t>default map type is Google </a:t>
            </a:r>
            <a:r>
              <a:rPr lang="en-US" sz="3200" dirty="0" smtClean="0"/>
              <a:t>Maps with </a:t>
            </a:r>
            <a:r>
              <a:rPr lang="en-US" sz="3200" dirty="0"/>
              <a:t>a style of </a:t>
            </a:r>
            <a:r>
              <a:rPr lang="en-US" sz="3200" dirty="0" smtClean="0"/>
              <a:t>Terrain</a:t>
            </a:r>
          </a:p>
          <a:p>
            <a:r>
              <a:rPr lang="en-US" sz="3200" dirty="0" err="1"/>
              <a:t>ggmap</a:t>
            </a:r>
            <a:r>
              <a:rPr lang="en-US" sz="3200" dirty="0"/>
              <a:t>(</a:t>
            </a:r>
            <a:r>
              <a:rPr lang="en-US" sz="3200" dirty="0" err="1"/>
              <a:t>myMap</a:t>
            </a:r>
            <a:r>
              <a:rPr lang="en-US" sz="3200" dirty="0" smtClean="0"/>
              <a:t>)</a:t>
            </a:r>
          </a:p>
          <a:p>
            <a:endParaRPr lang="en-US" sz="3200" dirty="0" smtClean="0"/>
          </a:p>
          <a:p>
            <a:pPr marL="0" indent="0">
              <a:buNone/>
            </a:pPr>
            <a:r>
              <a:rPr lang="en-US" sz="3200" dirty="0" smtClean="0"/>
              <a:t>6. Add </a:t>
            </a:r>
            <a:r>
              <a:rPr lang="en-US" sz="3200" dirty="0"/>
              <a:t>and execute the code you see below to add a Google satellite map.</a:t>
            </a:r>
          </a:p>
          <a:p>
            <a:r>
              <a:rPr lang="en-US" sz="3200" dirty="0" err="1"/>
              <a:t>myMap</a:t>
            </a:r>
            <a:r>
              <a:rPr lang="en-US" sz="3200" dirty="0"/>
              <a:t> &lt;- </a:t>
            </a:r>
            <a:r>
              <a:rPr lang="en-US" sz="3200" dirty="0" err="1"/>
              <a:t>get_map</a:t>
            </a:r>
            <a:r>
              <a:rPr lang="en-US" sz="3200" dirty="0"/>
              <a:t>(location = </a:t>
            </a:r>
            <a:r>
              <a:rPr lang="en-US" sz="3200" dirty="0" err="1"/>
              <a:t>myLocation</a:t>
            </a:r>
            <a:r>
              <a:rPr lang="en-US" sz="3200" dirty="0"/>
              <a:t>, zoom = 6, </a:t>
            </a:r>
            <a:r>
              <a:rPr lang="en-US" sz="3200" dirty="0" smtClean="0"/>
              <a:t>source="</a:t>
            </a:r>
            <a:r>
              <a:rPr lang="en-US" sz="3200" dirty="0" err="1" smtClean="0"/>
              <a:t>google</a:t>
            </a:r>
            <a:r>
              <a:rPr lang="en-US" sz="3200" dirty="0"/>
              <a:t>"</a:t>
            </a:r>
            <a:r>
              <a:rPr lang="en-US" sz="3200" dirty="0" smtClean="0"/>
              <a:t>, </a:t>
            </a:r>
            <a:r>
              <a:rPr lang="en-US" sz="3200" dirty="0" err="1" smtClean="0"/>
              <a:t>maptype</a:t>
            </a:r>
            <a:r>
              <a:rPr lang="en-US" sz="3200" dirty="0" smtClean="0"/>
              <a:t>=</a:t>
            </a:r>
            <a:r>
              <a:rPr lang="en-US" sz="3200" dirty="0"/>
              <a:t>"</a:t>
            </a:r>
            <a:r>
              <a:rPr lang="en-US" sz="3200" dirty="0" smtClean="0"/>
              <a:t>satellite</a:t>
            </a:r>
            <a:r>
              <a:rPr lang="en-US" sz="3200" dirty="0"/>
              <a:t>"</a:t>
            </a:r>
            <a:r>
              <a:rPr lang="en-US" sz="3200" dirty="0" smtClean="0"/>
              <a:t>)</a:t>
            </a:r>
            <a:endParaRPr lang="en-US" sz="3200" dirty="0"/>
          </a:p>
          <a:p>
            <a:r>
              <a:rPr lang="en-US" sz="3200" dirty="0" err="1"/>
              <a:t>ggmap</a:t>
            </a:r>
            <a:r>
              <a:rPr lang="en-US" sz="3200" dirty="0"/>
              <a:t>(</a:t>
            </a:r>
            <a:r>
              <a:rPr lang="en-US" sz="3200" dirty="0" err="1"/>
              <a:t>myMap</a:t>
            </a:r>
            <a:r>
              <a:rPr lang="en-US" sz="3200" dirty="0"/>
              <a:t>)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33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1: Creating a </a:t>
            </a:r>
            <a:r>
              <a:rPr lang="en-US" b="1" u="sng" dirty="0" err="1" smtClean="0">
                <a:solidFill>
                  <a:srgbClr val="C00000"/>
                </a:solidFill>
              </a:rPr>
              <a:t>basemap</a:t>
            </a:r>
            <a:r>
              <a:rPr lang="en-US" b="1" u="sng" dirty="0" smtClean="0">
                <a:solidFill>
                  <a:srgbClr val="C00000"/>
                </a:solidFill>
              </a:rPr>
              <a:t>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2069170" cy="603985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/>
              <a:t>7</a:t>
            </a:r>
            <a:r>
              <a:rPr lang="en-US" sz="3200" dirty="0" smtClean="0"/>
              <a:t>. </a:t>
            </a:r>
            <a:r>
              <a:rPr lang="en-US" sz="3200" dirty="0"/>
              <a:t>There are a number of ways that you can define the input </a:t>
            </a:r>
            <a:r>
              <a:rPr lang="en-US" sz="3200" dirty="0" smtClean="0"/>
              <a:t>location: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longitude/latitude </a:t>
            </a:r>
            <a:r>
              <a:rPr lang="en-US" sz="3200" dirty="0"/>
              <a:t>coordinate pair, a character string, or a bounding </a:t>
            </a:r>
            <a:r>
              <a:rPr lang="en-US" sz="3200" dirty="0" smtClean="0"/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box</a:t>
            </a:r>
            <a:r>
              <a:rPr lang="en-US" sz="3200" dirty="0"/>
              <a:t>. </a:t>
            </a:r>
            <a:endParaRPr lang="en-US" sz="3200" dirty="0" smtClean="0"/>
          </a:p>
          <a:p>
            <a:r>
              <a:rPr lang="en-US" sz="3200" dirty="0" smtClean="0"/>
              <a:t>The character </a:t>
            </a:r>
            <a:r>
              <a:rPr lang="en-US" sz="3200" dirty="0"/>
              <a:t>string tends to be a more practical solution in many situations </a:t>
            </a:r>
            <a:r>
              <a:rPr lang="en-US" sz="3200" dirty="0" smtClean="0"/>
              <a:t>since you </a:t>
            </a:r>
            <a:r>
              <a:rPr lang="en-US" sz="3200" dirty="0"/>
              <a:t>can simply pass in the name of the location. For example, you could </a:t>
            </a:r>
            <a:r>
              <a:rPr lang="en-US" sz="3200" dirty="0" smtClean="0"/>
              <a:t>define the </a:t>
            </a:r>
            <a:r>
              <a:rPr lang="en-US" sz="3200" dirty="0"/>
              <a:t>location as Houston Texas or The White House or The Grand Canyon. </a:t>
            </a:r>
            <a:endParaRPr lang="en-US" sz="3200" dirty="0" smtClean="0"/>
          </a:p>
          <a:p>
            <a:r>
              <a:rPr lang="en-US" sz="3200" dirty="0" smtClean="0"/>
              <a:t>When a </a:t>
            </a:r>
            <a:r>
              <a:rPr lang="en-US" sz="3200" dirty="0"/>
              <a:t>character string is passed to the location parameter it is then passed to </a:t>
            </a:r>
            <a:r>
              <a:rPr lang="en-US" sz="3200" dirty="0" smtClean="0"/>
              <a:t>the geocoding </a:t>
            </a:r>
            <a:r>
              <a:rPr lang="en-US" sz="3200" dirty="0"/>
              <a:t>service to obtain the latitude/longitude coordinate pair</a:t>
            </a:r>
            <a:r>
              <a:rPr lang="en-US" sz="3200" dirty="0" smtClean="0"/>
              <a:t>.</a:t>
            </a:r>
            <a:endParaRPr lang="en-US" sz="3200" dirty="0"/>
          </a:p>
          <a:p>
            <a:r>
              <a:rPr lang="en-US" sz="3200" dirty="0" err="1"/>
              <a:t>myMap</a:t>
            </a:r>
            <a:r>
              <a:rPr lang="en-US" sz="3200" dirty="0"/>
              <a:t> &lt;- </a:t>
            </a:r>
            <a:r>
              <a:rPr lang="en-US" sz="3200" dirty="0" err="1"/>
              <a:t>get_map</a:t>
            </a:r>
            <a:r>
              <a:rPr lang="en-US" sz="3200" dirty="0"/>
              <a:t>(location = </a:t>
            </a:r>
            <a:r>
              <a:rPr lang="en-US" sz="3200" dirty="0" smtClean="0"/>
              <a:t>"Grand </a:t>
            </a:r>
            <a:r>
              <a:rPr lang="en-US" sz="3200" dirty="0"/>
              <a:t>Canyon, </a:t>
            </a:r>
            <a:r>
              <a:rPr lang="en-US" sz="3200" dirty="0" smtClean="0"/>
              <a:t>Arizona", </a:t>
            </a:r>
            <a:r>
              <a:rPr lang="en-US" sz="3200" dirty="0"/>
              <a:t>zoom = 11)</a:t>
            </a:r>
          </a:p>
          <a:p>
            <a:r>
              <a:rPr lang="en-US" sz="3200" dirty="0" err="1"/>
              <a:t>ggmap</a:t>
            </a:r>
            <a:r>
              <a:rPr lang="en-US" sz="3200" dirty="0"/>
              <a:t>(</a:t>
            </a:r>
            <a:r>
              <a:rPr lang="en-US" sz="3200" dirty="0" err="1"/>
              <a:t>myMap</a:t>
            </a:r>
            <a:r>
              <a:rPr lang="en-US" sz="3200" dirty="0"/>
              <a:t>)</a:t>
            </a:r>
            <a:r>
              <a:rPr lang="en-US" sz="3200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38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1: Creating a </a:t>
            </a:r>
            <a:r>
              <a:rPr lang="en-US" b="1" u="sng" dirty="0" err="1" smtClean="0">
                <a:solidFill>
                  <a:srgbClr val="C00000"/>
                </a:solidFill>
              </a:rPr>
              <a:t>basemap</a:t>
            </a:r>
            <a:r>
              <a:rPr lang="en-US" b="1" u="sng" dirty="0" smtClean="0">
                <a:solidFill>
                  <a:srgbClr val="C00000"/>
                </a:solidFill>
              </a:rPr>
              <a:t> – stamen background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25642"/>
            <a:ext cx="12069170" cy="62564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i="1" dirty="0"/>
              <a:t># Library</a:t>
            </a:r>
            <a:r>
              <a:rPr lang="en-US" sz="3200" dirty="0"/>
              <a:t> </a:t>
            </a:r>
            <a:endParaRPr lang="en-US" sz="3200" dirty="0" smtClean="0"/>
          </a:p>
          <a:p>
            <a:pPr lvl="1"/>
            <a:r>
              <a:rPr lang="en-US" sz="3200" b="1" dirty="0" smtClean="0"/>
              <a:t>library</a:t>
            </a:r>
            <a:r>
              <a:rPr lang="en-US" sz="3200" dirty="0" smtClean="0"/>
              <a:t>(</a:t>
            </a:r>
            <a:r>
              <a:rPr lang="en-US" sz="3200" dirty="0" err="1" smtClean="0"/>
              <a:t>ggmap</a:t>
            </a:r>
            <a:r>
              <a:rPr lang="en-US" sz="3200" dirty="0"/>
              <a:t>) </a:t>
            </a:r>
            <a:endParaRPr lang="en-US" sz="3200" dirty="0" smtClean="0"/>
          </a:p>
          <a:p>
            <a:pPr lvl="1"/>
            <a:r>
              <a:rPr lang="en-US" sz="3200" b="1" dirty="0" smtClean="0"/>
              <a:t>library</a:t>
            </a:r>
            <a:r>
              <a:rPr lang="en-US" sz="3200" dirty="0" smtClean="0"/>
              <a:t>(</a:t>
            </a:r>
            <a:r>
              <a:rPr lang="en-US" sz="3200" dirty="0" err="1" smtClean="0"/>
              <a:t>gridExtra</a:t>
            </a:r>
            <a:r>
              <a:rPr lang="en-US" sz="3200" dirty="0"/>
              <a:t>)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i="1" dirty="0" smtClean="0"/>
              <a:t># </a:t>
            </a:r>
            <a:r>
              <a:rPr lang="en-US" sz="3200" i="1" dirty="0"/>
              <a:t>For stamen map, you have to give the extremity of the window you are looking at. here is an example with the watercolor background (Around </a:t>
            </a:r>
            <a:r>
              <a:rPr lang="en-US" sz="3200" i="1" dirty="0" err="1"/>
              <a:t>brisbane</a:t>
            </a:r>
            <a:r>
              <a:rPr lang="en-US" sz="3200" i="1" dirty="0"/>
              <a:t>)</a:t>
            </a:r>
            <a:r>
              <a:rPr lang="en-US" sz="3200" dirty="0"/>
              <a:t> </a:t>
            </a:r>
            <a:endParaRPr lang="en-US" sz="3200" dirty="0" smtClean="0"/>
          </a:p>
          <a:p>
            <a:r>
              <a:rPr lang="en-US" sz="3200" dirty="0" smtClean="0"/>
              <a:t>map </a:t>
            </a:r>
            <a:r>
              <a:rPr lang="en-US" sz="3200" dirty="0"/>
              <a:t>&lt;- </a:t>
            </a:r>
            <a:r>
              <a:rPr lang="en-US" sz="3200" b="1" dirty="0" err="1"/>
              <a:t>get_stamenmap</a:t>
            </a:r>
            <a:r>
              <a:rPr lang="en-US" sz="3200" dirty="0"/>
              <a:t>( </a:t>
            </a:r>
            <a:r>
              <a:rPr lang="en-US" sz="3200" dirty="0" err="1"/>
              <a:t>bbox</a:t>
            </a:r>
            <a:r>
              <a:rPr lang="en-US" sz="3200" dirty="0"/>
              <a:t> = </a:t>
            </a:r>
            <a:r>
              <a:rPr lang="en-US" sz="3200" b="1" dirty="0"/>
              <a:t>c</a:t>
            </a:r>
            <a:r>
              <a:rPr lang="en-US" sz="3200" dirty="0"/>
              <a:t>(left = 110, bottom = -40, right </a:t>
            </a:r>
            <a:r>
              <a:rPr lang="en-US" sz="3200" dirty="0" smtClean="0"/>
              <a:t>=160</a:t>
            </a:r>
            <a:r>
              <a:rPr lang="en-US" sz="3200" dirty="0"/>
              <a:t>, top = -10), zoom = 4, </a:t>
            </a:r>
            <a:r>
              <a:rPr lang="en-US" sz="3200" dirty="0" err="1"/>
              <a:t>maptype</a:t>
            </a:r>
            <a:r>
              <a:rPr lang="en-US" sz="3200" dirty="0"/>
              <a:t> = "watercolor") 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US" sz="3200" b="1" dirty="0" err="1" smtClean="0"/>
              <a:t>ggmap</a:t>
            </a:r>
            <a:r>
              <a:rPr lang="en-US" sz="3200" dirty="0" smtClean="0"/>
              <a:t>(map</a:t>
            </a:r>
            <a:r>
              <a:rPr lang="en-US" sz="3200" dirty="0"/>
              <a:t>) + </a:t>
            </a:r>
            <a:r>
              <a:rPr lang="en-US" sz="3200" b="1" dirty="0" err="1"/>
              <a:t>theme_void</a:t>
            </a:r>
            <a:r>
              <a:rPr lang="en-US" sz="3200" dirty="0"/>
              <a:t>() + </a:t>
            </a:r>
            <a:r>
              <a:rPr lang="en-US" sz="3200" b="1" dirty="0"/>
              <a:t>theme</a:t>
            </a:r>
            <a:r>
              <a:rPr lang="en-US" sz="3200" dirty="0"/>
              <a:t>( </a:t>
            </a:r>
            <a:r>
              <a:rPr lang="en-US" sz="3200" dirty="0" err="1"/>
              <a:t>plot.title</a:t>
            </a:r>
            <a:r>
              <a:rPr lang="en-US" sz="3200" dirty="0"/>
              <a:t> = </a:t>
            </a:r>
            <a:r>
              <a:rPr lang="en-US" sz="3200" b="1" dirty="0" err="1"/>
              <a:t>element_text</a:t>
            </a:r>
            <a:r>
              <a:rPr lang="en-US" sz="3200" dirty="0"/>
              <a:t>(</a:t>
            </a:r>
            <a:r>
              <a:rPr lang="en-US" sz="3200" dirty="0" err="1"/>
              <a:t>colour</a:t>
            </a:r>
            <a:r>
              <a:rPr lang="en-US" sz="3200" dirty="0"/>
              <a:t> = "orange"), </a:t>
            </a:r>
            <a:r>
              <a:rPr lang="en-US" sz="3200" dirty="0" err="1"/>
              <a:t>panel.border</a:t>
            </a:r>
            <a:r>
              <a:rPr lang="en-US" sz="3200" dirty="0"/>
              <a:t> = </a:t>
            </a:r>
            <a:r>
              <a:rPr lang="en-US" sz="3200" b="1" dirty="0" err="1"/>
              <a:t>element_rect</a:t>
            </a:r>
            <a:r>
              <a:rPr lang="en-US" sz="3200" dirty="0"/>
              <a:t>(</a:t>
            </a:r>
            <a:r>
              <a:rPr lang="en-US" sz="3200" dirty="0" err="1"/>
              <a:t>colour</a:t>
            </a:r>
            <a:r>
              <a:rPr lang="en-US" sz="3200" dirty="0"/>
              <a:t> = "grey", fill=NA, size=2) )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6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Adding Operational data layers: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r>
              <a:rPr lang="en-US" sz="3200" dirty="0" err="1"/>
              <a:t>ggmap</a:t>
            </a:r>
            <a:r>
              <a:rPr lang="en-US" sz="3200" dirty="0"/>
              <a:t>() returns a </a:t>
            </a:r>
            <a:r>
              <a:rPr lang="en-US" sz="3200" dirty="0" err="1"/>
              <a:t>ggplot</a:t>
            </a:r>
            <a:r>
              <a:rPr lang="en-US" sz="3200" dirty="0"/>
              <a:t> object, meaning that it acts as a base layer in </a:t>
            </a:r>
            <a:r>
              <a:rPr lang="en-US" sz="3200" dirty="0" smtClean="0"/>
              <a:t>the ggplot2 </a:t>
            </a:r>
            <a:r>
              <a:rPr lang="en-US" sz="3200" dirty="0"/>
              <a:t>framework. </a:t>
            </a:r>
            <a:endParaRPr lang="en-US" sz="3200" dirty="0" smtClean="0"/>
          </a:p>
          <a:p>
            <a:r>
              <a:rPr lang="en-US" sz="3200" dirty="0" smtClean="0"/>
              <a:t>This </a:t>
            </a:r>
            <a:r>
              <a:rPr lang="en-US" sz="3200" dirty="0"/>
              <a:t>allows for the full range of ggplot2 </a:t>
            </a:r>
            <a:r>
              <a:rPr lang="en-US" sz="3200" dirty="0" smtClean="0"/>
              <a:t>capabilities meaning </a:t>
            </a:r>
            <a:r>
              <a:rPr lang="en-US" sz="3200" dirty="0"/>
              <a:t>that you can plot points on the map, add contours and 2D heat </a:t>
            </a:r>
            <a:r>
              <a:rPr lang="en-US" sz="3200" dirty="0" smtClean="0"/>
              <a:t>maps, and </a:t>
            </a:r>
            <a:r>
              <a:rPr lang="en-US" sz="3200" dirty="0"/>
              <a:t>more. </a:t>
            </a:r>
            <a:endParaRPr lang="en-US" sz="3200" dirty="0" smtClean="0"/>
          </a:p>
          <a:p>
            <a:pPr marL="0" indent="0">
              <a:buNone/>
            </a:pPr>
            <a:r>
              <a:rPr lang="en-US" sz="4800" b="1" u="sng" dirty="0" smtClean="0">
                <a:solidFill>
                  <a:srgbClr val="C00000"/>
                </a:solidFill>
              </a:rPr>
              <a:t>Exercise 2:</a:t>
            </a:r>
            <a:endParaRPr lang="en-US" sz="4800" dirty="0" smtClean="0"/>
          </a:p>
          <a:p>
            <a:r>
              <a:rPr lang="en-US" sz="3200" dirty="0"/>
              <a:t>Add the code you </a:t>
            </a:r>
            <a:r>
              <a:rPr lang="en-US" sz="3200" dirty="0" smtClean="0"/>
              <a:t>see below </a:t>
            </a:r>
            <a:r>
              <a:rPr lang="en-US" sz="3200" dirty="0"/>
              <a:t>to produce a map of California that displays wildfires from the </a:t>
            </a:r>
            <a:r>
              <a:rPr lang="en-US" sz="3200" dirty="0" smtClean="0"/>
              <a:t>years 1980-2016 </a:t>
            </a:r>
            <a:r>
              <a:rPr lang="en-US" sz="3200" dirty="0"/>
              <a:t>that burned more than 1,000 acres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r>
              <a:rPr lang="en-US" sz="3200" dirty="0" err="1"/>
              <a:t>myLocation</a:t>
            </a:r>
            <a:r>
              <a:rPr lang="en-US" sz="3200" dirty="0"/>
              <a:t> &lt;- </a:t>
            </a:r>
            <a:r>
              <a:rPr lang="en-US" sz="3200" dirty="0" smtClean="0"/>
              <a:t>"California"</a:t>
            </a:r>
            <a:endParaRPr lang="en-US" sz="3200" dirty="0"/>
          </a:p>
          <a:p>
            <a:pPr marL="0" indent="0">
              <a:buNone/>
            </a:pPr>
            <a:endParaRPr lang="en-US" sz="31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24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C00000"/>
                </a:solidFill>
              </a:rPr>
              <a:t>Exercise </a:t>
            </a:r>
            <a:r>
              <a:rPr lang="en-US" b="1" u="sng" dirty="0" smtClean="0">
                <a:solidFill>
                  <a:srgbClr val="C00000"/>
                </a:solidFill>
              </a:rPr>
              <a:t>2(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#</a:t>
            </a:r>
            <a:r>
              <a:rPr lang="en-US" sz="3200" dirty="0"/>
              <a:t>get the </a:t>
            </a:r>
            <a:r>
              <a:rPr lang="en-US" sz="3200" dirty="0" err="1"/>
              <a:t>basemap</a:t>
            </a:r>
            <a:r>
              <a:rPr lang="en-US" sz="3200" dirty="0"/>
              <a:t> layer</a:t>
            </a:r>
          </a:p>
          <a:p>
            <a:r>
              <a:rPr lang="en-US" sz="3200" dirty="0" err="1"/>
              <a:t>myMap</a:t>
            </a:r>
            <a:r>
              <a:rPr lang="en-US" sz="3200" dirty="0"/>
              <a:t> &lt;- </a:t>
            </a:r>
            <a:r>
              <a:rPr lang="en-US" sz="3200" dirty="0" err="1"/>
              <a:t>get_map</a:t>
            </a:r>
            <a:r>
              <a:rPr lang="en-US" sz="3200" dirty="0"/>
              <a:t>(location = </a:t>
            </a:r>
            <a:r>
              <a:rPr lang="en-US" sz="3200" dirty="0" err="1"/>
              <a:t>myLocation</a:t>
            </a:r>
            <a:r>
              <a:rPr lang="en-US" sz="3200" dirty="0"/>
              <a:t>, zoom = 6)</a:t>
            </a:r>
          </a:p>
          <a:p>
            <a:pPr marL="0" indent="0">
              <a:buNone/>
            </a:pPr>
            <a:r>
              <a:rPr lang="en-US" sz="3200" dirty="0"/>
              <a:t>#read in the wildfire data to a data frame (</a:t>
            </a:r>
            <a:r>
              <a:rPr lang="en-US" sz="3200" dirty="0" err="1"/>
              <a:t>tibble</a:t>
            </a:r>
            <a:r>
              <a:rPr lang="en-US" sz="3200" dirty="0"/>
              <a:t>) </a:t>
            </a:r>
            <a:r>
              <a:rPr lang="en-US" sz="3200" dirty="0" err="1"/>
              <a:t>dfWildfires</a:t>
            </a:r>
            <a:r>
              <a:rPr lang="en-US" sz="3200" dirty="0"/>
              <a:t> &lt;-</a:t>
            </a:r>
          </a:p>
          <a:p>
            <a:r>
              <a:rPr lang="en-US" sz="3200" dirty="0" err="1"/>
              <a:t>read_csv</a:t>
            </a:r>
            <a:r>
              <a:rPr lang="en-US" sz="3200" dirty="0"/>
              <a:t>(“StudyArea_SmallFile.csv”, </a:t>
            </a:r>
            <a:r>
              <a:rPr lang="en-US" sz="3200" dirty="0" err="1"/>
              <a:t>col_names</a:t>
            </a:r>
            <a:r>
              <a:rPr lang="en-US" sz="3200" dirty="0"/>
              <a:t> = TRUE</a:t>
            </a:r>
            <a:r>
              <a:rPr lang="en-US" sz="3200" dirty="0" smtClean="0"/>
              <a:t>)</a:t>
            </a:r>
          </a:p>
          <a:p>
            <a:pPr marL="0" indent="0">
              <a:buNone/>
            </a:pPr>
            <a:r>
              <a:rPr lang="en-US" sz="3200" dirty="0"/>
              <a:t>#select specific columns of information</a:t>
            </a:r>
          </a:p>
          <a:p>
            <a:r>
              <a:rPr lang="en-US" sz="3200" dirty="0" err="1"/>
              <a:t>df</a:t>
            </a:r>
            <a:r>
              <a:rPr lang="en-US" sz="3200" dirty="0"/>
              <a:t> &lt;- select(</a:t>
            </a:r>
            <a:r>
              <a:rPr lang="en-US" sz="3200" dirty="0" err="1"/>
              <a:t>dfWildfires</a:t>
            </a:r>
            <a:r>
              <a:rPr lang="en-US" sz="3200" dirty="0"/>
              <a:t>, STATE, YEAR_, TOTALACRES, DLATITUDE</a:t>
            </a:r>
            <a:r>
              <a:rPr lang="en-US" sz="3200" dirty="0" smtClean="0"/>
              <a:t>, DLONGITUDE</a:t>
            </a:r>
            <a:r>
              <a:rPr lang="en-US" sz="3200" dirty="0"/>
              <a:t>)</a:t>
            </a:r>
          </a:p>
          <a:p>
            <a:pPr marL="0" indent="0">
              <a:buNone/>
            </a:pPr>
            <a:r>
              <a:rPr lang="en-US" sz="3200" dirty="0"/>
              <a:t>#filter the data frame so that only fires greater than 1,000 acres burned </a:t>
            </a:r>
            <a:r>
              <a:rPr lang="en-US" sz="3200" dirty="0" smtClean="0"/>
              <a:t>in California </a:t>
            </a:r>
            <a:r>
              <a:rPr lang="en-US" sz="3200" dirty="0"/>
              <a:t>are present</a:t>
            </a:r>
          </a:p>
          <a:p>
            <a:r>
              <a:rPr lang="en-US" sz="3200" dirty="0" err="1"/>
              <a:t>df</a:t>
            </a:r>
            <a:r>
              <a:rPr lang="en-US" sz="3200" dirty="0"/>
              <a:t> &lt;- filter(</a:t>
            </a:r>
            <a:r>
              <a:rPr lang="en-US" sz="3200" dirty="0" err="1"/>
              <a:t>df</a:t>
            </a:r>
            <a:r>
              <a:rPr lang="en-US" sz="3200" dirty="0"/>
              <a:t>, TOTALACRES &gt;= 1000 &amp; STATE == ‘California’)</a:t>
            </a:r>
            <a:endParaRPr lang="en-US" sz="31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68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C00000"/>
                </a:solidFill>
              </a:rPr>
              <a:t>Exercise </a:t>
            </a:r>
            <a:r>
              <a:rPr lang="en-US" b="1" u="sng" dirty="0" smtClean="0">
                <a:solidFill>
                  <a:srgbClr val="C00000"/>
                </a:solidFill>
              </a:rPr>
              <a:t>2(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#use </a:t>
            </a:r>
            <a:r>
              <a:rPr lang="en-US" sz="3200" dirty="0" err="1"/>
              <a:t>geom_point</a:t>
            </a:r>
            <a:r>
              <a:rPr lang="en-US" sz="3200" dirty="0"/>
              <a:t>() to display the points. The x and y properties of the </a:t>
            </a:r>
            <a:r>
              <a:rPr lang="en-US" sz="3200" dirty="0" err="1"/>
              <a:t>aes</a:t>
            </a:r>
            <a:r>
              <a:rPr lang="en-US" sz="3200" dirty="0" smtClean="0"/>
              <a:t>() function </a:t>
            </a:r>
            <a:r>
              <a:rPr lang="en-US" sz="3200" dirty="0"/>
              <a:t>are used to define the geometry</a:t>
            </a:r>
          </a:p>
          <a:p>
            <a:r>
              <a:rPr lang="en-US" sz="3200" dirty="0" err="1"/>
              <a:t>ggmap</a:t>
            </a:r>
            <a:r>
              <a:rPr lang="en-US" sz="3200" dirty="0"/>
              <a:t>(</a:t>
            </a:r>
            <a:r>
              <a:rPr lang="en-US" sz="3200" dirty="0" err="1"/>
              <a:t>myMap</a:t>
            </a:r>
            <a:r>
              <a:rPr lang="en-US" sz="3200" dirty="0"/>
              <a:t>) + </a:t>
            </a:r>
            <a:r>
              <a:rPr lang="en-US" sz="3200" dirty="0" err="1"/>
              <a:t>geom_point</a:t>
            </a:r>
            <a:r>
              <a:rPr lang="en-US" sz="3200" dirty="0"/>
              <a:t>(data=</a:t>
            </a:r>
            <a:r>
              <a:rPr lang="en-US" sz="3200" dirty="0" err="1"/>
              <a:t>df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 = DLONGITUDE, y </a:t>
            </a:r>
            <a:r>
              <a:rPr lang="en-US" sz="3200" dirty="0" smtClean="0"/>
              <a:t>= DLATITUDE))</a:t>
            </a:r>
          </a:p>
          <a:p>
            <a:endParaRPr lang="en-US" sz="31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0" y="2381250"/>
            <a:ext cx="703897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4470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C00000"/>
                </a:solidFill>
              </a:rPr>
              <a:t>Exercise </a:t>
            </a:r>
            <a:r>
              <a:rPr lang="en-US" b="1" u="sng" dirty="0" smtClean="0">
                <a:solidFill>
                  <a:srgbClr val="C00000"/>
                </a:solidFill>
              </a:rPr>
              <a:t>2(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2. Now let’s do something a little more interesting. First, use the </a:t>
            </a:r>
            <a:r>
              <a:rPr lang="en-US" sz="3200" dirty="0" err="1"/>
              <a:t>dplyr</a:t>
            </a:r>
            <a:r>
              <a:rPr lang="en-US" sz="3200" dirty="0"/>
              <a:t> </a:t>
            </a:r>
            <a:r>
              <a:rPr lang="en-US" sz="3200" dirty="0" smtClean="0"/>
              <a:t>function mutate() to </a:t>
            </a:r>
            <a:r>
              <a:rPr lang="en-US" sz="3200" dirty="0"/>
              <a:t>group the fires by decade.</a:t>
            </a:r>
          </a:p>
          <a:p>
            <a:r>
              <a:rPr lang="en-US" sz="3200" dirty="0" smtClean="0"/>
              <a:t>1989</a:t>
            </a:r>
            <a:r>
              <a:rPr lang="en-US" sz="3200" dirty="0"/>
              <a:t>"</a:t>
            </a:r>
            <a:r>
              <a:rPr lang="en-US" sz="3200" dirty="0" smtClean="0"/>
              <a:t>, </a:t>
            </a:r>
            <a:r>
              <a:rPr lang="en-US" sz="3200" dirty="0" err="1"/>
              <a:t>ifelse</a:t>
            </a:r>
            <a:r>
              <a:rPr lang="en-US" sz="3200" dirty="0"/>
              <a:t>(YEAR_ %in% 1990:1999, "</a:t>
            </a:r>
            <a:r>
              <a:rPr lang="en-US" sz="3200" dirty="0" smtClean="0"/>
              <a:t>1990-1999</a:t>
            </a:r>
            <a:r>
              <a:rPr lang="en-US" sz="3200" dirty="0"/>
              <a:t>"</a:t>
            </a:r>
            <a:r>
              <a:rPr lang="en-US" sz="3200" dirty="0" smtClean="0"/>
              <a:t>, </a:t>
            </a:r>
            <a:r>
              <a:rPr lang="en-US" sz="3200" dirty="0" err="1"/>
              <a:t>ifelse</a:t>
            </a:r>
            <a:r>
              <a:rPr lang="en-US" sz="3200" dirty="0"/>
              <a:t>(YEAR_ %</a:t>
            </a:r>
            <a:r>
              <a:rPr lang="en-US" sz="3200" dirty="0" smtClean="0"/>
              <a:t>in%2000:2009</a:t>
            </a:r>
            <a:r>
              <a:rPr lang="en-US" sz="3200" dirty="0"/>
              <a:t>, "</a:t>
            </a:r>
            <a:r>
              <a:rPr lang="en-US" sz="3200" dirty="0" smtClean="0"/>
              <a:t>2000-2009</a:t>
            </a:r>
            <a:r>
              <a:rPr lang="en-US" sz="3200" dirty="0"/>
              <a:t>"</a:t>
            </a:r>
            <a:r>
              <a:rPr lang="en-US" sz="3200" dirty="0" smtClean="0"/>
              <a:t>, </a:t>
            </a:r>
            <a:r>
              <a:rPr lang="en-US" sz="3200" dirty="0" err="1"/>
              <a:t>ifelse</a:t>
            </a:r>
            <a:r>
              <a:rPr lang="en-US" sz="3200" dirty="0"/>
              <a:t>(YEAR_ %in% 2010:2016, “</a:t>
            </a:r>
            <a:r>
              <a:rPr lang="en-US" sz="3200" dirty="0" smtClean="0"/>
              <a:t>2010-2016</a:t>
            </a:r>
            <a:r>
              <a:rPr lang="en-US" sz="3200" dirty="0"/>
              <a:t>"</a:t>
            </a:r>
            <a:r>
              <a:rPr lang="en-US" sz="3200" dirty="0" smtClean="0"/>
              <a:t>,"-99</a:t>
            </a:r>
            <a:r>
              <a:rPr lang="en-US" sz="3200" dirty="0"/>
              <a:t>"</a:t>
            </a:r>
            <a:r>
              <a:rPr lang="en-US" sz="3200" dirty="0" smtClean="0"/>
              <a:t>)))))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3. Next, color code the wildfires by DECADE and create a graduated </a:t>
            </a:r>
            <a:r>
              <a:rPr lang="en-US" sz="3200" dirty="0" smtClean="0"/>
              <a:t>symbol map </a:t>
            </a:r>
            <a:r>
              <a:rPr lang="en-US" sz="3200" dirty="0"/>
              <a:t>based on the size of each fire. The </a:t>
            </a:r>
            <a:r>
              <a:rPr lang="en-US" sz="3200" dirty="0" err="1"/>
              <a:t>colour</a:t>
            </a:r>
            <a:r>
              <a:rPr lang="en-US" sz="3200" dirty="0"/>
              <a:t> property defines the column </a:t>
            </a:r>
            <a:r>
              <a:rPr lang="en-US" sz="3200" dirty="0" smtClean="0"/>
              <a:t>to </a:t>
            </a:r>
            <a:r>
              <a:rPr lang="en-US" sz="3200" dirty="0"/>
              <a:t>use for grouping, and the size property define the column to use for the size </a:t>
            </a:r>
            <a:r>
              <a:rPr lang="en-US" sz="3200" dirty="0" smtClean="0"/>
              <a:t>of each </a:t>
            </a:r>
            <a:r>
              <a:rPr lang="en-US" sz="3200" dirty="0"/>
              <a:t>symbol.</a:t>
            </a:r>
          </a:p>
          <a:p>
            <a:r>
              <a:rPr lang="en-US" sz="3200" dirty="0" err="1"/>
              <a:t>ggmap</a:t>
            </a:r>
            <a:r>
              <a:rPr lang="en-US" sz="3200" dirty="0"/>
              <a:t>(</a:t>
            </a:r>
            <a:r>
              <a:rPr lang="en-US" sz="3200" dirty="0" err="1"/>
              <a:t>myMap</a:t>
            </a:r>
            <a:r>
              <a:rPr lang="en-US" sz="3200" dirty="0"/>
              <a:t>) + </a:t>
            </a:r>
            <a:r>
              <a:rPr lang="en-US" sz="3200" dirty="0" err="1"/>
              <a:t>geom_point</a:t>
            </a:r>
            <a:r>
              <a:rPr lang="en-US" sz="3200" dirty="0"/>
              <a:t>(data=</a:t>
            </a:r>
            <a:r>
              <a:rPr lang="en-US" sz="3200" dirty="0" err="1"/>
              <a:t>df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 = DLONGITUDE, y </a:t>
            </a:r>
            <a:r>
              <a:rPr lang="en-US" sz="3200" dirty="0" smtClean="0"/>
              <a:t>=DLATITUDE</a:t>
            </a:r>
            <a:r>
              <a:rPr lang="en-US" sz="3200" dirty="0"/>
              <a:t>, </a:t>
            </a:r>
            <a:r>
              <a:rPr lang="en-US" sz="3200" dirty="0" err="1"/>
              <a:t>colour</a:t>
            </a:r>
            <a:r>
              <a:rPr lang="en-US" sz="3200" dirty="0"/>
              <a:t>= DECADE, size = TOTALACRES))</a:t>
            </a:r>
            <a:endParaRPr lang="en-US" sz="31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4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C00000"/>
                </a:solidFill>
              </a:rPr>
              <a:t>Exercise </a:t>
            </a:r>
            <a:r>
              <a:rPr lang="en-US" b="1" u="sng" dirty="0" smtClean="0">
                <a:solidFill>
                  <a:srgbClr val="C00000"/>
                </a:solidFill>
              </a:rPr>
              <a:t>2(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15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739676"/>
            <a:ext cx="8877300" cy="562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1468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C00000"/>
                </a:solidFill>
              </a:rPr>
              <a:t>Exercise </a:t>
            </a:r>
            <a:r>
              <a:rPr lang="en-US" b="1" u="sng" dirty="0" smtClean="0">
                <a:solidFill>
                  <a:srgbClr val="C00000"/>
                </a:solidFill>
              </a:rPr>
              <a:t>2(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0500" y="739676"/>
            <a:ext cx="1186815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4. Let’s change the map view to focus more on southern California, and </a:t>
            </a:r>
            <a:r>
              <a:rPr lang="en-US" sz="3200" dirty="0" smtClean="0"/>
              <a:t>in particular </a:t>
            </a:r>
            <a:r>
              <a:rPr lang="en-US" sz="3200" dirty="0"/>
              <a:t>the area just north of Los Angeles.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err="1"/>
              <a:t>myMap</a:t>
            </a:r>
            <a:r>
              <a:rPr lang="en-US" sz="3200" dirty="0"/>
              <a:t> &lt;- </a:t>
            </a:r>
            <a:r>
              <a:rPr lang="en-US" sz="3200" dirty="0" err="1"/>
              <a:t>get_map</a:t>
            </a:r>
            <a:r>
              <a:rPr lang="en-US" sz="3200" dirty="0"/>
              <a:t>(location = </a:t>
            </a:r>
            <a:r>
              <a:rPr lang="en-US" sz="3200" dirty="0" smtClean="0"/>
              <a:t>"Santa </a:t>
            </a:r>
            <a:r>
              <a:rPr lang="en-US" sz="3200" dirty="0"/>
              <a:t>Clarita, </a:t>
            </a:r>
            <a:r>
              <a:rPr lang="en-US" sz="3200" dirty="0" smtClean="0"/>
              <a:t>California</a:t>
            </a:r>
            <a:r>
              <a:rPr lang="en-US" sz="3200" dirty="0"/>
              <a:t> "</a:t>
            </a:r>
            <a:r>
              <a:rPr lang="en-US" sz="3200" dirty="0" smtClean="0"/>
              <a:t>, </a:t>
            </a:r>
            <a:r>
              <a:rPr lang="en-US" sz="3200" dirty="0"/>
              <a:t>zoom = 10)</a:t>
            </a:r>
          </a:p>
          <a:p>
            <a:r>
              <a:rPr lang="en-US" sz="3200" dirty="0" err="1"/>
              <a:t>ggmap</a:t>
            </a:r>
            <a:r>
              <a:rPr lang="en-US" sz="3200" dirty="0"/>
              <a:t>(</a:t>
            </a:r>
            <a:r>
              <a:rPr lang="en-US" sz="3200" dirty="0" err="1"/>
              <a:t>myMap</a:t>
            </a:r>
            <a:r>
              <a:rPr lang="en-US" sz="3200" dirty="0"/>
              <a:t>) + </a:t>
            </a:r>
            <a:r>
              <a:rPr lang="en-US" sz="3200" dirty="0" err="1"/>
              <a:t>geom_point</a:t>
            </a:r>
            <a:r>
              <a:rPr lang="en-US" sz="3200" dirty="0"/>
              <a:t>(data=</a:t>
            </a:r>
            <a:r>
              <a:rPr lang="en-US" sz="3200" dirty="0" err="1"/>
              <a:t>df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 = DLONGITUDE, y =</a:t>
            </a:r>
          </a:p>
          <a:p>
            <a:r>
              <a:rPr lang="en-US" sz="3200" dirty="0"/>
              <a:t>DLATITUDE, </a:t>
            </a:r>
            <a:r>
              <a:rPr lang="en-US" sz="3200" dirty="0" err="1"/>
              <a:t>colour</a:t>
            </a:r>
            <a:r>
              <a:rPr lang="en-US" sz="3200" dirty="0"/>
              <a:t>= DECADE, size = TOTALACRES))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550" y="3786664"/>
            <a:ext cx="7300913" cy="2918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315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C00000"/>
                </a:solidFill>
              </a:rPr>
              <a:t>Exercise </a:t>
            </a:r>
            <a:r>
              <a:rPr lang="en-US" b="1" u="sng" dirty="0" smtClean="0">
                <a:solidFill>
                  <a:srgbClr val="C00000"/>
                </a:solidFill>
              </a:rPr>
              <a:t>2(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0500" y="739676"/>
            <a:ext cx="1186815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5. Next, </a:t>
            </a:r>
            <a:r>
              <a:rPr lang="en-US" sz="3200" dirty="0" smtClean="0"/>
              <a:t>add </a:t>
            </a:r>
            <a:r>
              <a:rPr lang="en-US" sz="3200" dirty="0"/>
              <a:t>contour and heat layers. </a:t>
            </a:r>
            <a:endParaRPr lang="en-US" sz="3200" dirty="0" smtClean="0"/>
          </a:p>
          <a:p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geom_density2d</a:t>
            </a:r>
            <a:r>
              <a:rPr lang="en-US" sz="3200" dirty="0"/>
              <a:t>() function </a:t>
            </a:r>
            <a:r>
              <a:rPr lang="en-US" sz="3200" dirty="0" smtClean="0"/>
              <a:t>is used </a:t>
            </a:r>
            <a:r>
              <a:rPr lang="en-US" sz="3200" dirty="0"/>
              <a:t>to create the contours while the stat_density2d() function creates the </a:t>
            </a:r>
            <a:r>
              <a:rPr lang="en-US" sz="3200" dirty="0" smtClean="0"/>
              <a:t>heat map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You can experiment with the colors using the 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dirty="0" err="1" smtClean="0"/>
              <a:t>scale_fill_gradient</a:t>
            </a:r>
            <a:r>
              <a:rPr lang="en-US" sz="3200" dirty="0" smtClean="0"/>
              <a:t>(low and high) properties. </a:t>
            </a:r>
          </a:p>
          <a:p>
            <a:pPr marL="914400" lvl="1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Here </a:t>
            </a:r>
            <a:r>
              <a:rPr lang="en-US" sz="3200" dirty="0"/>
              <a:t>we’ve set them to green and red respectively, but you may </a:t>
            </a:r>
            <a:r>
              <a:rPr lang="en-US" sz="3200" dirty="0" smtClean="0"/>
              <a:t> want to </a:t>
            </a:r>
            <a:r>
              <a:rPr lang="en-US" sz="3200" dirty="0"/>
              <a:t>change the color scheme.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dirty="0" err="1"/>
              <a:t>myMap</a:t>
            </a:r>
            <a:r>
              <a:rPr lang="en-US" sz="3200" dirty="0"/>
              <a:t> &lt;- </a:t>
            </a:r>
            <a:r>
              <a:rPr lang="en-US" sz="3200" dirty="0" err="1"/>
              <a:t>get_map</a:t>
            </a:r>
            <a:r>
              <a:rPr lang="en-US" sz="3200" dirty="0"/>
              <a:t>(location = “California”, zoom = 6</a:t>
            </a:r>
            <a:r>
              <a:rPr lang="en-US" sz="3200" dirty="0" smtClean="0"/>
              <a:t>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12430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C00000"/>
                </a:solidFill>
              </a:rPr>
              <a:t>Exercise </a:t>
            </a:r>
            <a:r>
              <a:rPr lang="en-US" b="1" u="sng" dirty="0" smtClean="0">
                <a:solidFill>
                  <a:srgbClr val="C00000"/>
                </a:solidFill>
              </a:rPr>
              <a:t>2(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0500" y="739676"/>
            <a:ext cx="1186815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err="1" smtClean="0"/>
              <a:t>ggmap</a:t>
            </a:r>
            <a:r>
              <a:rPr lang="en-US" sz="3200" dirty="0" smtClean="0"/>
              <a:t>(</a:t>
            </a:r>
            <a:r>
              <a:rPr lang="en-US" sz="3200" dirty="0" err="1" smtClean="0"/>
              <a:t>myMap</a:t>
            </a:r>
            <a:r>
              <a:rPr lang="en-US" sz="3200" dirty="0"/>
              <a:t>, extent = “device”) + geom_density2d(data = </a:t>
            </a:r>
            <a:r>
              <a:rPr lang="en-US" sz="3200" dirty="0" err="1"/>
              <a:t>df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 </a:t>
            </a:r>
            <a:r>
              <a:rPr lang="en-US" sz="3200" dirty="0" smtClean="0"/>
              <a:t>=DLONGITUDE</a:t>
            </a:r>
            <a:r>
              <a:rPr lang="en-US" sz="3200" dirty="0"/>
              <a:t>, y = DLATITUDE), size = 0.3) + stat_density2d(data = </a:t>
            </a:r>
            <a:r>
              <a:rPr lang="en-US" sz="3200" dirty="0" err="1"/>
              <a:t>df</a:t>
            </a:r>
            <a:r>
              <a:rPr lang="en-US" sz="3200" dirty="0"/>
              <a:t>, </a:t>
            </a:r>
            <a:r>
              <a:rPr lang="en-US" sz="3200" dirty="0" err="1" smtClean="0"/>
              <a:t>aes</a:t>
            </a:r>
            <a:r>
              <a:rPr lang="en-US" sz="3200" dirty="0" smtClean="0"/>
              <a:t>(x= </a:t>
            </a:r>
            <a:r>
              <a:rPr lang="en-US" sz="3200" dirty="0"/>
              <a:t>DLONGITUDE, y = DLATITUDE, fill = ..level.., alpha = ..level..), size </a:t>
            </a:r>
            <a:r>
              <a:rPr lang="en-US" sz="3200" dirty="0" smtClean="0"/>
              <a:t>=0.01</a:t>
            </a:r>
            <a:r>
              <a:rPr lang="en-US" sz="3200" dirty="0"/>
              <a:t>, bins = 16, </a:t>
            </a:r>
            <a:r>
              <a:rPr lang="en-US" sz="3200" dirty="0" err="1"/>
              <a:t>geom</a:t>
            </a:r>
            <a:r>
              <a:rPr lang="en-US" sz="3200" dirty="0"/>
              <a:t> = “polygon”) + </a:t>
            </a:r>
            <a:r>
              <a:rPr lang="en-US" sz="3200" dirty="0" err="1"/>
              <a:t>scale_fill</a:t>
            </a:r>
            <a:r>
              <a:rPr lang="en-US" sz="3200" dirty="0"/>
              <a:t>_ gradient(low = “green”, high </a:t>
            </a:r>
            <a:r>
              <a:rPr lang="en-US" sz="3200" dirty="0" smtClean="0"/>
              <a:t>=“</a:t>
            </a:r>
            <a:r>
              <a:rPr lang="en-US" sz="3200" dirty="0"/>
              <a:t>red”) + </a:t>
            </a:r>
            <a:r>
              <a:rPr lang="en-US" sz="3200" dirty="0" err="1"/>
              <a:t>scale_alpha</a:t>
            </a:r>
            <a:r>
              <a:rPr lang="en-US" sz="3200" dirty="0"/>
              <a:t>(range = c(0, 0.3), guide = FALSE)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429001"/>
            <a:ext cx="6629399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1187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C00000"/>
                </a:solidFill>
              </a:rPr>
              <a:t>Exercise </a:t>
            </a:r>
            <a:r>
              <a:rPr lang="en-US" b="1" u="sng" dirty="0" smtClean="0">
                <a:solidFill>
                  <a:srgbClr val="C00000"/>
                </a:solidFill>
              </a:rPr>
              <a:t>2(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0500" y="739676"/>
            <a:ext cx="118681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62063"/>
            <a:ext cx="10267950" cy="517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0199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Adding Layers from </a:t>
            </a:r>
            <a:r>
              <a:rPr lang="en-US" b="1" u="sng" dirty="0" err="1" smtClean="0">
                <a:solidFill>
                  <a:srgbClr val="C00000"/>
                </a:solidFill>
              </a:rPr>
              <a:t>Shapefiles</a:t>
            </a:r>
            <a:r>
              <a:rPr lang="en-US" b="1" u="sng" dirty="0" smtClean="0">
                <a:solidFill>
                  <a:srgbClr val="C00000"/>
                </a:solidFill>
              </a:rPr>
              <a:t>: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r>
              <a:rPr lang="en-US" sz="3200" dirty="0" err="1" smtClean="0"/>
              <a:t>Shapefiles</a:t>
            </a:r>
            <a:r>
              <a:rPr lang="en-US" sz="3200" dirty="0" smtClean="0"/>
              <a:t> is </a:t>
            </a:r>
            <a:r>
              <a:rPr lang="en-US" sz="3200" dirty="0"/>
              <a:t>an older GIS data format, </a:t>
            </a:r>
            <a:r>
              <a:rPr lang="en-US" sz="3200" dirty="0" smtClean="0"/>
              <a:t>are still commonly </a:t>
            </a:r>
            <a:r>
              <a:rPr lang="en-US" sz="3200" dirty="0"/>
              <a:t>used to represent geographic features. </a:t>
            </a:r>
            <a:endParaRPr lang="en-US" sz="3200" dirty="0" smtClean="0"/>
          </a:p>
          <a:p>
            <a:r>
              <a:rPr lang="en-US" sz="3200" dirty="0"/>
              <a:t> </a:t>
            </a:r>
            <a:r>
              <a:rPr lang="en-US" sz="3200" dirty="0" smtClean="0"/>
              <a:t>With </a:t>
            </a:r>
            <a:r>
              <a:rPr lang="en-US" sz="3200" dirty="0"/>
              <a:t>a little bit </a:t>
            </a:r>
            <a:r>
              <a:rPr lang="en-US" sz="3200" dirty="0" smtClean="0"/>
              <a:t>of manipulation</a:t>
            </a:r>
            <a:r>
              <a:rPr lang="en-US" sz="3200" dirty="0"/>
              <a:t>, you can get plot data from </a:t>
            </a:r>
            <a:r>
              <a:rPr lang="en-US" sz="3200" dirty="0" err="1"/>
              <a:t>shapefiles</a:t>
            </a:r>
            <a:r>
              <a:rPr lang="en-US" sz="3200" dirty="0"/>
              <a:t> onto </a:t>
            </a:r>
            <a:r>
              <a:rPr lang="en-US" sz="3200" dirty="0" err="1" smtClean="0"/>
              <a:t>ggmap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r>
              <a:rPr lang="en-US" sz="4800" b="1" u="sng" dirty="0" smtClean="0">
                <a:solidFill>
                  <a:srgbClr val="C00000"/>
                </a:solidFill>
              </a:rPr>
              <a:t>Exercise 3:</a:t>
            </a:r>
            <a:endParaRPr lang="en-US" sz="4800" dirty="0" smtClean="0"/>
          </a:p>
          <a:p>
            <a:pPr marL="514350" indent="-514350">
              <a:buAutoNum type="arabicPeriod"/>
            </a:pPr>
            <a:r>
              <a:rPr lang="en-US" sz="3200" dirty="0" smtClean="0"/>
              <a:t>Install </a:t>
            </a:r>
            <a:r>
              <a:rPr lang="en-US" sz="3200" dirty="0"/>
              <a:t>an additional package called </a:t>
            </a:r>
            <a:r>
              <a:rPr lang="en-US" sz="3200" dirty="0" err="1"/>
              <a:t>rgdal</a:t>
            </a:r>
            <a:r>
              <a:rPr lang="en-US" sz="3200" dirty="0"/>
              <a:t>. </a:t>
            </a:r>
            <a:r>
              <a:rPr lang="en-US" sz="3200" dirty="0" smtClean="0"/>
              <a:t>Use the </a:t>
            </a:r>
            <a:r>
              <a:rPr lang="en-US" sz="3200" b="1" dirty="0"/>
              <a:t>Packages </a:t>
            </a:r>
            <a:r>
              <a:rPr lang="en-US" sz="3200" dirty="0"/>
              <a:t>pane to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find </a:t>
            </a:r>
            <a:r>
              <a:rPr lang="en-US" sz="3200" dirty="0"/>
              <a:t>and install </a:t>
            </a:r>
            <a:r>
              <a:rPr lang="en-US" sz="3200" dirty="0" err="1"/>
              <a:t>rgdal</a:t>
            </a:r>
            <a:r>
              <a:rPr lang="en-US" sz="3200" dirty="0"/>
              <a:t> or enter the code you see below.</a:t>
            </a:r>
          </a:p>
          <a:p>
            <a:pPr lvl="2"/>
            <a:r>
              <a:rPr lang="en-US" sz="3200" dirty="0" err="1" smtClean="0"/>
              <a:t>install.packages</a:t>
            </a:r>
            <a:r>
              <a:rPr lang="en-US" sz="3200" dirty="0" smtClean="0"/>
              <a:t>("</a:t>
            </a:r>
            <a:r>
              <a:rPr lang="en-US" sz="3200" dirty="0" err="1" smtClean="0"/>
              <a:t>rgdal</a:t>
            </a:r>
            <a:r>
              <a:rPr lang="en-US" sz="3200" dirty="0" smtClean="0"/>
              <a:t>")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2. Load the </a:t>
            </a:r>
            <a:r>
              <a:rPr lang="en-US" sz="3200" dirty="0" err="1"/>
              <a:t>rgdal</a:t>
            </a:r>
            <a:r>
              <a:rPr lang="en-US" sz="3200" dirty="0"/>
              <a:t> package through the </a:t>
            </a:r>
            <a:r>
              <a:rPr lang="en-US" sz="3200" b="1" dirty="0"/>
              <a:t>Packages </a:t>
            </a:r>
            <a:r>
              <a:rPr lang="en-US" sz="3200" dirty="0"/>
              <a:t>pane or enter the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code </a:t>
            </a:r>
            <a:r>
              <a:rPr lang="en-US" sz="3200" dirty="0"/>
              <a:t>you </a:t>
            </a:r>
            <a:r>
              <a:rPr lang="en-US" sz="3200" dirty="0" smtClean="0"/>
              <a:t>see below</a:t>
            </a:r>
            <a:r>
              <a:rPr lang="en-US" sz="3200" dirty="0"/>
              <a:t>.</a:t>
            </a:r>
          </a:p>
          <a:p>
            <a:pPr lvl="2"/>
            <a:r>
              <a:rPr lang="en-US" sz="3200" dirty="0"/>
              <a:t>library(</a:t>
            </a:r>
            <a:r>
              <a:rPr lang="en-US" sz="3200" dirty="0" err="1"/>
              <a:t>rgdal</a:t>
            </a:r>
            <a:r>
              <a:rPr lang="en-US" sz="3200" dirty="0"/>
              <a:t>)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74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3</a:t>
            </a:r>
            <a:r>
              <a:rPr lang="en-US" sz="3200" dirty="0"/>
              <a:t>. </a:t>
            </a:r>
            <a:r>
              <a:rPr lang="en-US" sz="3200" dirty="0" smtClean="0"/>
              <a:t>Use </a:t>
            </a:r>
            <a:r>
              <a:rPr lang="en-US" sz="3200" dirty="0"/>
              <a:t>the </a:t>
            </a:r>
            <a:r>
              <a:rPr lang="en-US" sz="3200" dirty="0" err="1"/>
              <a:t>readOGR</a:t>
            </a:r>
            <a:r>
              <a:rPr lang="en-US" sz="3200" dirty="0"/>
              <a:t>() function from </a:t>
            </a:r>
            <a:r>
              <a:rPr lang="en-US" sz="3200" dirty="0" err="1"/>
              <a:t>rgdal</a:t>
            </a:r>
            <a:r>
              <a:rPr lang="en-US" sz="3200" dirty="0"/>
              <a:t> to load </a:t>
            </a:r>
            <a:r>
              <a:rPr lang="en-US" sz="3200" dirty="0" smtClean="0"/>
              <a:t>the </a:t>
            </a:r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</a:t>
            </a:r>
            <a:r>
              <a:rPr lang="en-US" sz="3200" dirty="0" err="1" smtClean="0"/>
              <a:t>S_USA.Wilderness</a:t>
            </a:r>
            <a:r>
              <a:rPr lang="en-US" sz="3200" dirty="0" smtClean="0"/>
              <a:t> data </a:t>
            </a:r>
            <a:r>
              <a:rPr lang="en-US" sz="3200" dirty="0"/>
              <a:t>into a variable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 lvl="2"/>
            <a:r>
              <a:rPr lang="en-US" sz="3200" dirty="0"/>
              <a:t>wild = </a:t>
            </a:r>
            <a:r>
              <a:rPr lang="en-US" sz="3200" dirty="0" err="1"/>
              <a:t>readOGR</a:t>
            </a:r>
            <a:r>
              <a:rPr lang="en-US" sz="3200" dirty="0" smtClean="0"/>
              <a:t>( '.', '</a:t>
            </a:r>
            <a:r>
              <a:rPr lang="en-US" sz="3200" dirty="0" err="1" smtClean="0"/>
              <a:t>S_USA.Wilderness</a:t>
            </a:r>
            <a:r>
              <a:rPr lang="en-US" sz="3200" dirty="0" smtClean="0"/>
              <a:t>')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dirty="0"/>
              <a:t>4. The fortify() function, which is part of ggplot2, converts all the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individual points </a:t>
            </a:r>
            <a:r>
              <a:rPr lang="en-US" sz="3200" dirty="0"/>
              <a:t>that define each boundary into a data frame that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can </a:t>
            </a:r>
            <a:r>
              <a:rPr lang="en-US" sz="3200" dirty="0"/>
              <a:t>then be used to </a:t>
            </a:r>
            <a:r>
              <a:rPr lang="en-US" sz="3200" dirty="0" smtClean="0"/>
              <a:t>plot the </a:t>
            </a:r>
            <a:r>
              <a:rPr lang="en-US" sz="3200" dirty="0"/>
              <a:t>polygon boundaries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 lvl="2"/>
            <a:r>
              <a:rPr lang="en-US" sz="3200" dirty="0"/>
              <a:t>wild &lt;- fortify(wild)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60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5</a:t>
            </a:r>
            <a:r>
              <a:rPr lang="en-US" sz="3200" dirty="0"/>
              <a:t>. Use the </a:t>
            </a:r>
            <a:r>
              <a:rPr lang="en-US" sz="3200" dirty="0" err="1"/>
              <a:t>ggmap</a:t>
            </a:r>
            <a:r>
              <a:rPr lang="en-US" sz="3200" dirty="0"/>
              <a:t> </a:t>
            </a:r>
            <a:r>
              <a:rPr lang="en-US" sz="3200" dirty="0" smtClean="0"/>
              <a:t>- </a:t>
            </a:r>
            <a:r>
              <a:rPr lang="en-US" sz="3200" dirty="0" err="1" smtClean="0"/>
              <a:t>qmap</a:t>
            </a:r>
            <a:r>
              <a:rPr lang="en-US" sz="3200" dirty="0"/>
              <a:t>() function (</a:t>
            </a:r>
            <a:r>
              <a:rPr lang="en-US" sz="3200" dirty="0" err="1"/>
              <a:t>qmap</a:t>
            </a:r>
            <a:r>
              <a:rPr lang="en-US" sz="3200" dirty="0"/>
              <a:t> means quick map) to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create the </a:t>
            </a:r>
            <a:r>
              <a:rPr lang="en-US" sz="3200" dirty="0" err="1" smtClean="0"/>
              <a:t>basemap</a:t>
            </a:r>
            <a:r>
              <a:rPr lang="en-US" sz="3200" dirty="0" smtClean="0"/>
              <a:t> </a:t>
            </a:r>
            <a:r>
              <a:rPr lang="en-US" sz="3200" dirty="0"/>
              <a:t>that will be used as the reference for the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wilderness </a:t>
            </a:r>
            <a:r>
              <a:rPr lang="en-US" sz="3200" dirty="0"/>
              <a:t>boundaries. </a:t>
            </a:r>
            <a:endParaRPr lang="en-US" sz="3200" dirty="0" smtClean="0"/>
          </a:p>
          <a:p>
            <a:r>
              <a:rPr lang="en-US" sz="3200" dirty="0" smtClean="0"/>
              <a:t>Center the </a:t>
            </a:r>
            <a:r>
              <a:rPr lang="en-US" sz="3200" dirty="0"/>
              <a:t>map in Montana.</a:t>
            </a:r>
          </a:p>
          <a:p>
            <a:pPr lvl="2"/>
            <a:r>
              <a:rPr lang="en-US" sz="3200" dirty="0" err="1"/>
              <a:t>montana</a:t>
            </a:r>
            <a:r>
              <a:rPr lang="en-US" sz="3200" dirty="0"/>
              <a:t> &lt;- </a:t>
            </a:r>
            <a:r>
              <a:rPr lang="en-US" sz="3200" dirty="0" err="1" smtClean="0"/>
              <a:t>qmap</a:t>
            </a:r>
            <a:r>
              <a:rPr lang="en-US" sz="3200" dirty="0" smtClean="0"/>
              <a:t>("Montana", </a:t>
            </a:r>
            <a:r>
              <a:rPr lang="en-US" sz="3200" dirty="0"/>
              <a:t>zoom=6</a:t>
            </a:r>
            <a:r>
              <a:rPr lang="en-US" sz="3200" dirty="0" smtClean="0"/>
              <a:t>)</a:t>
            </a:r>
          </a:p>
          <a:p>
            <a:pPr marL="914400" lvl="2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6. Before plotting the wilderness boundaries as polygons on the map,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take </a:t>
            </a:r>
            <a:r>
              <a:rPr lang="en-US" sz="3200" dirty="0"/>
              <a:t>a </a:t>
            </a:r>
            <a:r>
              <a:rPr lang="en-US" sz="3200" dirty="0" smtClean="0"/>
              <a:t>look at </a:t>
            </a:r>
            <a:r>
              <a:rPr lang="en-US" sz="3200" dirty="0"/>
              <a:t>the data frame that was created by the fortify()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function </a:t>
            </a:r>
            <a:r>
              <a:rPr lang="en-US" sz="3200" dirty="0"/>
              <a:t>so you’ll have a </a:t>
            </a:r>
            <a:r>
              <a:rPr lang="en-US" sz="3200" dirty="0" smtClean="0"/>
              <a:t>better understanding </a:t>
            </a:r>
            <a:r>
              <a:rPr lang="en-US" sz="3200" dirty="0"/>
              <a:t>of the structure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created </a:t>
            </a:r>
            <a:r>
              <a:rPr lang="en-US" sz="3200" dirty="0"/>
              <a:t>by this function.</a:t>
            </a:r>
          </a:p>
          <a:p>
            <a:pPr lvl="2"/>
            <a:r>
              <a:rPr lang="en-US" sz="3200" dirty="0"/>
              <a:t>View(wild)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22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7. Now plot the wilderness boundaries on the </a:t>
            </a:r>
            <a:r>
              <a:rPr lang="en-US" sz="3200" dirty="0" err="1"/>
              <a:t>basemap</a:t>
            </a:r>
            <a:r>
              <a:rPr lang="en-US" sz="3200" dirty="0"/>
              <a:t>. Notice the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use </a:t>
            </a:r>
            <a:r>
              <a:rPr lang="en-US" sz="3200" dirty="0"/>
              <a:t>of </a:t>
            </a:r>
            <a:r>
              <a:rPr lang="en-US" sz="3200" dirty="0" smtClean="0"/>
              <a:t>the group </a:t>
            </a:r>
            <a:r>
              <a:rPr lang="en-US" sz="3200" dirty="0"/>
              <a:t>column for grouping the polygons. It does take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some </a:t>
            </a:r>
            <a:r>
              <a:rPr lang="en-US" sz="3200" dirty="0"/>
              <a:t>time to plot </a:t>
            </a:r>
            <a:r>
              <a:rPr lang="en-US" sz="3200" dirty="0" smtClean="0"/>
              <a:t>the boundaries </a:t>
            </a:r>
            <a:r>
              <a:rPr lang="en-US" sz="3200" dirty="0"/>
              <a:t>on the map so be patient with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this </a:t>
            </a:r>
            <a:r>
              <a:rPr lang="en-US" sz="3200" dirty="0"/>
              <a:t>step.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err="1" smtClean="0"/>
              <a:t>montana</a:t>
            </a:r>
            <a:r>
              <a:rPr lang="en-US" sz="3200" dirty="0" smtClean="0"/>
              <a:t> </a:t>
            </a:r>
            <a:r>
              <a:rPr lang="en-US" sz="3200" dirty="0"/>
              <a:t>+ </a:t>
            </a:r>
            <a:r>
              <a:rPr lang="en-US" sz="3200" dirty="0" err="1"/>
              <a:t>geom_polygon</a:t>
            </a:r>
            <a:r>
              <a:rPr lang="en-US" sz="3200" dirty="0"/>
              <a:t>(</a:t>
            </a:r>
            <a:r>
              <a:rPr lang="en-US" sz="3200" dirty="0" err="1"/>
              <a:t>aes</a:t>
            </a:r>
            <a:r>
              <a:rPr lang="en-US" sz="3200" dirty="0"/>
              <a:t>(x=</a:t>
            </a:r>
            <a:r>
              <a:rPr lang="en-US" sz="3200" dirty="0" err="1"/>
              <a:t>long,y</a:t>
            </a:r>
            <a:r>
              <a:rPr lang="en-US" sz="3200" dirty="0"/>
              <a:t>=</a:t>
            </a:r>
            <a:r>
              <a:rPr lang="en-US" sz="3200" dirty="0" err="1"/>
              <a:t>lat</a:t>
            </a:r>
            <a:r>
              <a:rPr lang="en-US" sz="3200" dirty="0"/>
              <a:t>, group=group, alpha=0.25</a:t>
            </a:r>
            <a:r>
              <a:rPr lang="en-US" sz="3200" dirty="0" smtClean="0"/>
              <a:t>), data=wild</a:t>
            </a:r>
            <a:r>
              <a:rPr lang="en-US" sz="3200" dirty="0"/>
              <a:t>, fill=’white’) + </a:t>
            </a:r>
            <a:r>
              <a:rPr lang="en-US" sz="3200" dirty="0" err="1"/>
              <a:t>geom_polygon</a:t>
            </a:r>
            <a:r>
              <a:rPr lang="en-US" sz="3200" dirty="0"/>
              <a:t>(</a:t>
            </a:r>
            <a:r>
              <a:rPr lang="en-US" sz="3200" dirty="0" err="1"/>
              <a:t>aes</a:t>
            </a:r>
            <a:r>
              <a:rPr lang="en-US" sz="3200" dirty="0"/>
              <a:t>(x=</a:t>
            </a:r>
            <a:r>
              <a:rPr lang="en-US" sz="3200" dirty="0" err="1"/>
              <a:t>long,y</a:t>
            </a:r>
            <a:r>
              <a:rPr lang="en-US" sz="3200" dirty="0"/>
              <a:t>=</a:t>
            </a:r>
            <a:r>
              <a:rPr lang="en-US" sz="3200" dirty="0" err="1"/>
              <a:t>lat</a:t>
            </a:r>
            <a:r>
              <a:rPr lang="en-US" sz="3200" dirty="0"/>
              <a:t>, group=group</a:t>
            </a:r>
            <a:r>
              <a:rPr lang="en-US" sz="3200" dirty="0" smtClean="0"/>
              <a:t>), data=wild, color=‘</a:t>
            </a:r>
            <a:r>
              <a:rPr lang="en-US" sz="3200" dirty="0" err="1" smtClean="0"/>
              <a:t>balck</a:t>
            </a:r>
            <a:r>
              <a:rPr lang="en-US" sz="3200" dirty="0" smtClean="0"/>
              <a:t>’, fill=NA)</a:t>
            </a:r>
          </a:p>
          <a:p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9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Exercise 3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04850"/>
            <a:ext cx="9848850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209550" y="5010150"/>
            <a:ext cx="110299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8. Optional – Use the color, fill, and alpha (used to define transparency</a:t>
            </a:r>
            <a:r>
              <a:rPr lang="en-US" sz="3200" dirty="0" smtClean="0"/>
              <a:t>) parameters </a:t>
            </a:r>
            <a:r>
              <a:rPr lang="en-US" sz="3200" dirty="0"/>
              <a:t>to change the </a:t>
            </a:r>
            <a:r>
              <a:rPr lang="en-US" sz="3200" dirty="0" err="1"/>
              <a:t>symbology</a:t>
            </a:r>
            <a:r>
              <a:rPr lang="en-US" sz="3200" dirty="0"/>
              <a:t> to different colors and styles.</a:t>
            </a:r>
          </a:p>
        </p:txBody>
      </p:sp>
    </p:spTree>
    <p:extLst>
      <p:ext uri="{BB962C8B-B14F-4D97-AF65-F5344CB8AC3E}">
        <p14:creationId xmlns:p14="http://schemas.microsoft.com/office/powerpoint/2010/main" val="3264773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4983</TotalTime>
  <Words>1724</Words>
  <Application>Microsoft Office PowerPoint</Application>
  <PresentationFormat>Widescreen</PresentationFormat>
  <Paragraphs>172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Module 8</vt:lpstr>
      <vt:lpstr>Contents</vt:lpstr>
      <vt:lpstr>Visualizing Geographic Data with ggmap</vt:lpstr>
      <vt:lpstr>Visualizing Geographic Data with ggmap (cont…)</vt:lpstr>
      <vt:lpstr>Creating a basemap:</vt:lpstr>
      <vt:lpstr>Exercise 1: Creating a basemap</vt:lpstr>
      <vt:lpstr>Exercise 1: Creating a basemap (cont…)</vt:lpstr>
      <vt:lpstr>Exercise 1: Creating a basemap (cont…)</vt:lpstr>
      <vt:lpstr>Exercise 1: Creating a basemap (cont…)</vt:lpstr>
      <vt:lpstr>Exercise 1: Creating a basemap – stamen background</vt:lpstr>
      <vt:lpstr>Adding Operational data layers:</vt:lpstr>
      <vt:lpstr>Exercise 2(cont…)</vt:lpstr>
      <vt:lpstr>Exercise 2(cont…)</vt:lpstr>
      <vt:lpstr>Exercise 2(cont…)</vt:lpstr>
      <vt:lpstr>Exercise 2(cont…)</vt:lpstr>
      <vt:lpstr>Exercise 2(cont…)</vt:lpstr>
      <vt:lpstr>Exercise 2(cont…)</vt:lpstr>
      <vt:lpstr>Exercise 2(cont…)</vt:lpstr>
      <vt:lpstr>Exercise 2(cont…)</vt:lpstr>
      <vt:lpstr>Adding Layers from Shapefiles:</vt:lpstr>
      <vt:lpstr>Exercise 3 (cont…)</vt:lpstr>
      <vt:lpstr>Exercise 3 (cont…)</vt:lpstr>
      <vt:lpstr>Exercise 3 (cont…)</vt:lpstr>
      <vt:lpstr>Exercise 3 (cont…)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MOHD HAQ</dc:creator>
  <cp:lastModifiedBy>MOHD HAQ</cp:lastModifiedBy>
  <cp:revision>181</cp:revision>
  <dcterms:created xsi:type="dcterms:W3CDTF">2021-01-17T15:40:32Z</dcterms:created>
  <dcterms:modified xsi:type="dcterms:W3CDTF">2021-03-28T08:02:32Z</dcterms:modified>
</cp:coreProperties>
</file>