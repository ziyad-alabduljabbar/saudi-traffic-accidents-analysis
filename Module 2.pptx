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6D659-0452-4A1C-B1EA-5C35EA7CE9E7}" type="datetimeFigureOut">
              <a:rPr lang="en-US" smtClean="0"/>
              <a:t>2/7/2021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ED56-9DCB-40B4-86AD-2E6D2D461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33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6D659-0452-4A1C-B1EA-5C35EA7CE9E7}" type="datetimeFigureOut">
              <a:rPr lang="en-US" smtClean="0"/>
              <a:t>2/7/2021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ED56-9DCB-40B4-86AD-2E6D2D461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634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6D659-0452-4A1C-B1EA-5C35EA7CE9E7}" type="datetimeFigureOut">
              <a:rPr lang="en-US" smtClean="0"/>
              <a:t>2/7/2021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ED56-9DCB-40B4-86AD-2E6D2D461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567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6D659-0452-4A1C-B1EA-5C35EA7CE9E7}" type="datetimeFigureOut">
              <a:rPr lang="en-US" smtClean="0"/>
              <a:t>2/7/2021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ED56-9DCB-40B4-86AD-2E6D2D461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678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6D659-0452-4A1C-B1EA-5C35EA7CE9E7}" type="datetimeFigureOut">
              <a:rPr lang="en-US" smtClean="0"/>
              <a:t>2/7/2021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ED56-9DCB-40B4-86AD-2E6D2D461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858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6D659-0452-4A1C-B1EA-5C35EA7CE9E7}" type="datetimeFigureOut">
              <a:rPr lang="en-US" smtClean="0"/>
              <a:t>2/7/2021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ED56-9DCB-40B4-86AD-2E6D2D461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648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6D659-0452-4A1C-B1EA-5C35EA7CE9E7}" type="datetimeFigureOut">
              <a:rPr lang="en-US" smtClean="0"/>
              <a:t>2/7/2021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ED56-9DCB-40B4-86AD-2E6D2D461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631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6D659-0452-4A1C-B1EA-5C35EA7CE9E7}" type="datetimeFigureOut">
              <a:rPr lang="en-US" smtClean="0"/>
              <a:t>2/7/2021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ED56-9DCB-40B4-86AD-2E6D2D461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488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6D659-0452-4A1C-B1EA-5C35EA7CE9E7}" type="datetimeFigureOut">
              <a:rPr lang="en-US" smtClean="0"/>
              <a:t>2/7/2021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ED56-9DCB-40B4-86AD-2E6D2D461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903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6D659-0452-4A1C-B1EA-5C35EA7CE9E7}" type="datetimeFigureOut">
              <a:rPr lang="en-US" smtClean="0"/>
              <a:t>2/7/2021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ED56-9DCB-40B4-86AD-2E6D2D461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134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6D659-0452-4A1C-B1EA-5C35EA7CE9E7}" type="datetimeFigureOut">
              <a:rPr lang="en-US" smtClean="0"/>
              <a:t>2/7/2021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ED56-9DCB-40B4-86AD-2E6D2D461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468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96D659-0452-4A1C-B1EA-5C35EA7CE9E7}" type="datetimeFigureOut">
              <a:rPr lang="en-US" smtClean="0"/>
              <a:t>2/7/2021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1BED56-9DCB-40B4-86AD-2E6D2D461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371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Module 2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691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Data to Insights to Decisions Data Exploration </a:t>
            </a:r>
          </a:p>
          <a:p>
            <a:r>
              <a:rPr lang="en-US" dirty="0" smtClean="0"/>
              <a:t>Visualization with R</a:t>
            </a:r>
          </a:p>
          <a:p>
            <a:r>
              <a:rPr lang="en-US" dirty="0" smtClean="0"/>
              <a:t>Installing and loading </a:t>
            </a:r>
            <a:r>
              <a:rPr lang="en-US" dirty="0" err="1" smtClean="0"/>
              <a:t>tidyverse</a:t>
            </a:r>
            <a:r>
              <a:rPr lang="en-US" dirty="0" smtClean="0"/>
              <a:t>, </a:t>
            </a:r>
          </a:p>
          <a:p>
            <a:r>
              <a:rPr lang="en-US" dirty="0" smtClean="0"/>
              <a:t>Loading and examining a Dataset</a:t>
            </a:r>
          </a:p>
          <a:p>
            <a:r>
              <a:rPr lang="en-US" dirty="0" smtClean="0"/>
              <a:t>Grouping and summarizing a dataset</a:t>
            </a:r>
          </a:p>
          <a:p>
            <a:r>
              <a:rPr lang="en-US" dirty="0" smtClean="0"/>
              <a:t>Plotting a dataset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555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Exercise:1 Install </a:t>
            </a:r>
            <a:r>
              <a:rPr lang="en-US" dirty="0" err="1" smtClean="0"/>
              <a:t>Tidyverse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Go to tools and click on install packages and type </a:t>
            </a:r>
            <a:r>
              <a:rPr lang="en-US" dirty="0" err="1" smtClean="0"/>
              <a:t>Tidyverse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206" y="2251365"/>
            <a:ext cx="8891587" cy="4999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889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 </a:t>
            </a:r>
            <a:r>
              <a:rPr lang="en-US" dirty="0" err="1" smtClean="0"/>
              <a:t>Tidyverse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Or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533765"/>
            <a:ext cx="8777720" cy="4935058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>
            <a:off x="5999018" y="2590800"/>
            <a:ext cx="1842655" cy="9836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5237018" y="3810000"/>
            <a:ext cx="1898073" cy="12746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8261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Exercise </a:t>
            </a:r>
            <a:r>
              <a:rPr lang="en-US" b="1" dirty="0"/>
              <a:t>2: Loading and examining a dataset</a:t>
            </a:r>
            <a:r>
              <a:rPr lang="en-US" dirty="0" smtClean="0"/>
              <a:t> 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891" y="1371600"/>
            <a:ext cx="11166763" cy="525087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dirty="0" err="1"/>
              <a:t>tidyverse</a:t>
            </a:r>
            <a:r>
              <a:rPr lang="en-US" dirty="0"/>
              <a:t> package is designed to work with data stored in an object called a</a:t>
            </a:r>
            <a:br>
              <a:rPr lang="en-US" dirty="0"/>
            </a:br>
            <a:r>
              <a:rPr lang="en-US" dirty="0"/>
              <a:t>Tibble. </a:t>
            </a:r>
            <a:endParaRPr lang="en-US" dirty="0" smtClean="0"/>
          </a:p>
          <a:p>
            <a:r>
              <a:rPr lang="en-US" dirty="0" smtClean="0"/>
              <a:t>Tibbles </a:t>
            </a:r>
            <a:r>
              <a:rPr lang="en-US" dirty="0"/>
              <a:t>are the </a:t>
            </a:r>
            <a:r>
              <a:rPr lang="en-US" dirty="0" err="1"/>
              <a:t>tidyverse</a:t>
            </a:r>
            <a:r>
              <a:rPr lang="en-US" dirty="0"/>
              <a:t> implementation of a data frame. </a:t>
            </a:r>
            <a:endParaRPr lang="en-US" dirty="0" smtClean="0"/>
          </a:p>
          <a:p>
            <a:r>
              <a:rPr lang="en-US" dirty="0" smtClean="0"/>
              <a:t>They </a:t>
            </a:r>
            <a:r>
              <a:rPr lang="en-US" dirty="0"/>
              <a:t>are </a:t>
            </a:r>
            <a:r>
              <a:rPr lang="en-US" dirty="0" smtClean="0"/>
              <a:t>quite similar </a:t>
            </a:r>
            <a:r>
              <a:rPr lang="en-US" dirty="0"/>
              <a:t>to data frames, but are basically a newer, more advanced version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Tibbles never </a:t>
            </a:r>
            <a:r>
              <a:rPr lang="en-US" dirty="0"/>
              <a:t>convert the data types of variables. Also, they never change the names </a:t>
            </a:r>
            <a:r>
              <a:rPr lang="en-US" dirty="0" smtClean="0"/>
              <a:t>of variables </a:t>
            </a:r>
            <a:r>
              <a:rPr lang="en-US" dirty="0"/>
              <a:t>or create row names. </a:t>
            </a:r>
            <a:endParaRPr lang="en-US" dirty="0" smtClean="0"/>
          </a:p>
          <a:p>
            <a:r>
              <a:rPr lang="en-US" dirty="0" smtClean="0"/>
              <a:t>Tibbles also </a:t>
            </a:r>
            <a:r>
              <a:rPr lang="en-US" dirty="0"/>
              <a:t>have a refined print method </a:t>
            </a:r>
            <a:r>
              <a:rPr lang="en-US" dirty="0" smtClean="0"/>
              <a:t>that shows </a:t>
            </a:r>
            <a:r>
              <a:rPr lang="en-US" dirty="0"/>
              <a:t>only the first 10 rows, and all columns that will fit on the screen. </a:t>
            </a:r>
            <a:endParaRPr lang="en-US" dirty="0" smtClean="0"/>
          </a:p>
          <a:p>
            <a:r>
              <a:rPr lang="en-US" dirty="0" smtClean="0"/>
              <a:t>Tibbles also </a:t>
            </a:r>
            <a:r>
              <a:rPr lang="en-US" dirty="0"/>
              <a:t>print the column type along with the name.</a:t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684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Exercise </a:t>
            </a:r>
            <a:r>
              <a:rPr lang="en-US" b="1" dirty="0"/>
              <a:t>2: Loading and examining a dataset</a:t>
            </a:r>
            <a:r>
              <a:rPr lang="en-US" dirty="0" smtClean="0"/>
              <a:t> 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891" y="1371600"/>
            <a:ext cx="11166763" cy="5250873"/>
          </a:xfrm>
        </p:spPr>
        <p:txBody>
          <a:bodyPr>
            <a:normAutofit/>
          </a:bodyPr>
          <a:lstStyle/>
          <a:p>
            <a:r>
              <a:rPr lang="en-US" dirty="0" smtClean="0"/>
              <a:t>We will read </a:t>
            </a:r>
            <a:r>
              <a:rPr lang="en-US" dirty="0"/>
              <a:t>the contents of a </a:t>
            </a:r>
            <a:r>
              <a:rPr lang="en-US" dirty="0" smtClean="0"/>
              <a:t>CSV file using </a:t>
            </a:r>
            <a:r>
              <a:rPr lang="en-US" dirty="0"/>
              <a:t>the read_ csv() function found in the </a:t>
            </a:r>
            <a:r>
              <a:rPr lang="en-US" dirty="0" err="1"/>
              <a:t>readr</a:t>
            </a:r>
            <a:r>
              <a:rPr lang="en-US" dirty="0"/>
              <a:t> package</a:t>
            </a:r>
            <a:r>
              <a:rPr lang="en-US" dirty="0" smtClean="0"/>
              <a:t> 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90" y="2284700"/>
            <a:ext cx="7889625" cy="354806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7325" y="3790950"/>
            <a:ext cx="6924675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907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Exercise </a:t>
            </a:r>
            <a:r>
              <a:rPr lang="en-US" b="1" dirty="0"/>
              <a:t>2: Loading and examining a dataset</a:t>
            </a:r>
            <a:r>
              <a:rPr lang="en-US" dirty="0" smtClean="0"/>
              <a:t> 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891" y="1371600"/>
            <a:ext cx="11166763" cy="525087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dirty="0" err="1"/>
              <a:t>dplyr</a:t>
            </a:r>
            <a:r>
              <a:rPr lang="en-US" dirty="0"/>
              <a:t> package includes a select() function that can be used to</a:t>
            </a:r>
            <a:br>
              <a:rPr lang="en-US" dirty="0"/>
            </a:br>
            <a:r>
              <a:rPr lang="en-US" dirty="0"/>
              <a:t>limit the fields in the data frame. </a:t>
            </a:r>
          </a:p>
          <a:p>
            <a:r>
              <a:rPr lang="en-US" dirty="0"/>
              <a:t>In the </a:t>
            </a:r>
            <a:r>
              <a:rPr lang="en-US" b="1" dirty="0"/>
              <a:t>Packages </a:t>
            </a:r>
            <a:r>
              <a:rPr lang="en-US" dirty="0"/>
              <a:t>pane, load the </a:t>
            </a:r>
            <a:r>
              <a:rPr lang="en-US" dirty="0" err="1"/>
              <a:t>dplyr</a:t>
            </a:r>
            <a:r>
              <a:rPr lang="en-US" dirty="0"/>
              <a:t> </a:t>
            </a:r>
            <a:r>
              <a:rPr lang="en-US" dirty="0" smtClean="0"/>
              <a:t>library. Again</a:t>
            </a:r>
            <a:r>
              <a:rPr lang="en-US" dirty="0"/>
              <a:t>, if you don’t see the </a:t>
            </a:r>
            <a:r>
              <a:rPr lang="en-US" dirty="0" err="1"/>
              <a:t>dplyr</a:t>
            </a:r>
            <a:r>
              <a:rPr lang="en-US" dirty="0"/>
              <a:t> library then it (or the entire </a:t>
            </a:r>
            <a:r>
              <a:rPr lang="en-US" dirty="0" err="1"/>
              <a:t>tidyverse</a:t>
            </a:r>
            <a:r>
              <a:rPr lang="en-US" dirty="0"/>
              <a:t>) will </a:t>
            </a:r>
            <a:r>
              <a:rPr lang="en-US" dirty="0" smtClean="0"/>
              <a:t>need to </a:t>
            </a:r>
            <a:r>
              <a:rPr lang="en-US" dirty="0"/>
              <a:t>be installed.</a:t>
            </a:r>
            <a:r>
              <a:rPr lang="en-US" dirty="0" smtClean="0"/>
              <a:t> </a:t>
            </a:r>
          </a:p>
          <a:p>
            <a:r>
              <a:rPr lang="en-US" dirty="0" smtClean="0"/>
              <a:t>We can limit the </a:t>
            </a:r>
            <a:r>
              <a:rPr lang="en-US" dirty="0"/>
              <a:t>columns to the following: Reported </a:t>
            </a:r>
            <a:r>
              <a:rPr lang="en-US" dirty="0" smtClean="0"/>
              <a:t>Date, Sector</a:t>
            </a:r>
            <a:r>
              <a:rPr lang="en-US" dirty="0"/>
              <a:t>, </a:t>
            </a:r>
            <a:r>
              <a:rPr lang="en-US" dirty="0" smtClean="0"/>
              <a:t>&amp; Beat</a:t>
            </a:r>
          </a:p>
          <a:p>
            <a:r>
              <a:rPr lang="en-US" dirty="0" err="1" smtClean="0"/>
              <a:t>dfCrime</a:t>
            </a:r>
            <a:r>
              <a:rPr lang="en-US" dirty="0" smtClean="0"/>
              <a:t>=select(</a:t>
            </a:r>
            <a:r>
              <a:rPr lang="en-US" dirty="0" err="1" smtClean="0"/>
              <a:t>dfCrime</a:t>
            </a:r>
            <a:r>
              <a:rPr lang="en-US" dirty="0" smtClean="0"/>
              <a:t>, 'Reported Date', 'Sector', 'Beat')</a:t>
            </a:r>
          </a:p>
          <a:p>
            <a:r>
              <a:rPr lang="en-US" dirty="0"/>
              <a:t>The select() function can be used to</a:t>
            </a:r>
            <a:r>
              <a:rPr lang="en-US" dirty="0" smtClean="0"/>
              <a:t> rename the columns</a:t>
            </a:r>
          </a:p>
          <a:p>
            <a:r>
              <a:rPr lang="en-US" dirty="0" err="1" smtClean="0"/>
              <a:t>dfCrime</a:t>
            </a:r>
            <a:r>
              <a:rPr lang="en-US" dirty="0" smtClean="0"/>
              <a:t>=select(</a:t>
            </a:r>
            <a:r>
              <a:rPr lang="en-US" dirty="0" err="1" smtClean="0"/>
              <a:t>dfCrime</a:t>
            </a:r>
            <a:r>
              <a:rPr lang="en-US" dirty="0" smtClean="0"/>
              <a:t>, '</a:t>
            </a:r>
            <a:r>
              <a:rPr lang="en-US" dirty="0" err="1" smtClean="0"/>
              <a:t>CrimeDate</a:t>
            </a:r>
            <a:r>
              <a:rPr lang="en-US" dirty="0" smtClean="0"/>
              <a:t>' = 'Reported Date', </a:t>
            </a:r>
          </a:p>
          <a:p>
            <a:pPr marL="0" indent="0">
              <a:buNone/>
            </a:pPr>
            <a:r>
              <a:rPr lang="en-US" dirty="0" smtClean="0"/>
              <a:t>'Area'='Sector')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6003" y="3463635"/>
            <a:ext cx="2266347" cy="328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1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Exercise 3: </a:t>
            </a:r>
            <a:r>
              <a:rPr lang="en-US" b="1" dirty="0"/>
              <a:t>Filtering a </a:t>
            </a:r>
            <a:r>
              <a:rPr lang="en-US" b="1" dirty="0" smtClean="0"/>
              <a:t>dataset </a:t>
            </a:r>
            <a:r>
              <a:rPr lang="en-US" b="1" dirty="0" smtClean="0">
                <a:solidFill>
                  <a:srgbClr val="FF0000"/>
                </a:solidFill>
              </a:rPr>
              <a:t>(Start) </a:t>
            </a:r>
            <a:br>
              <a:rPr lang="en-US" b="1" dirty="0" smtClean="0">
                <a:solidFill>
                  <a:srgbClr val="FF0000"/>
                </a:solidFill>
              </a:rPr>
            </a:br>
            <a:r>
              <a:rPr lang="en-US" b="1" dirty="0" smtClean="0">
                <a:solidFill>
                  <a:srgbClr val="FF0000"/>
                </a:solidFill>
              </a:rPr>
              <a:t/>
            </a:r>
            <a:br>
              <a:rPr lang="en-US" b="1" dirty="0" smtClean="0">
                <a:solidFill>
                  <a:srgbClr val="FF0000"/>
                </a:solidFill>
              </a:rPr>
            </a:b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891" y="1371600"/>
            <a:ext cx="11166763" cy="5250873"/>
          </a:xfrm>
        </p:spPr>
        <p:txBody>
          <a:bodyPr>
            <a:normAutofit/>
          </a:bodyPr>
          <a:lstStyle/>
          <a:p>
            <a:r>
              <a:rPr lang="en-US" dirty="0"/>
              <a:t>Filtering the </a:t>
            </a:r>
            <a:r>
              <a:rPr lang="en-US" dirty="0" smtClean="0"/>
              <a:t>dataset enables </a:t>
            </a:r>
            <a:r>
              <a:rPr lang="en-US" dirty="0"/>
              <a:t>you to focus on a subset of the rows instead of the entire dataset.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err="1" smtClean="0"/>
              <a:t>dplyr</a:t>
            </a:r>
            <a:r>
              <a:rPr lang="en-US" dirty="0" smtClean="0"/>
              <a:t> </a:t>
            </a:r>
            <a:r>
              <a:rPr lang="en-US" dirty="0"/>
              <a:t>package includes a filter() function </a:t>
            </a:r>
            <a:r>
              <a:rPr lang="en-US" dirty="0" smtClean="0"/>
              <a:t>for filtering.</a:t>
            </a:r>
          </a:p>
          <a:p>
            <a:r>
              <a:rPr lang="en-US" dirty="0" smtClean="0"/>
              <a:t>dfCrime2 = filter(</a:t>
            </a:r>
            <a:r>
              <a:rPr lang="en-US" dirty="0" err="1" smtClean="0"/>
              <a:t>dfCrime</a:t>
            </a:r>
            <a:r>
              <a:rPr lang="en-US" dirty="0" smtClean="0"/>
              <a:t>, Neighborhood == 'GREENWOOD')</a:t>
            </a:r>
          </a:p>
          <a:p>
            <a:r>
              <a:rPr lang="en-US" dirty="0" smtClean="0"/>
              <a:t>You can use View(dfCrime2) to view the filtered data</a:t>
            </a:r>
          </a:p>
          <a:p>
            <a:r>
              <a:rPr lang="en-US" dirty="0" err="1"/>
              <a:t>nrow</a:t>
            </a:r>
            <a:r>
              <a:rPr lang="en-US" dirty="0"/>
              <a:t>(dfCrime2)</a:t>
            </a:r>
            <a:r>
              <a:rPr lang="en-US" dirty="0" smtClean="0"/>
              <a:t> to know the number of rows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06" y="4450770"/>
            <a:ext cx="9019122" cy="1217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34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637" y="70881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Exercise 4: </a:t>
            </a:r>
            <a:r>
              <a:rPr lang="en-US" b="1" dirty="0"/>
              <a:t>Grouping and summarizing a dataset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891" y="1371600"/>
            <a:ext cx="11166763" cy="525087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The </a:t>
            </a:r>
            <a:r>
              <a:rPr lang="en-US" dirty="0" err="1" smtClean="0"/>
              <a:t>group_by</a:t>
            </a:r>
            <a:r>
              <a:rPr lang="en-US" dirty="0"/>
              <a:t>() takes an existing </a:t>
            </a:r>
            <a:r>
              <a:rPr lang="en-US" dirty="0" smtClean="0"/>
              <a:t>table </a:t>
            </a:r>
            <a:r>
              <a:rPr lang="en-US" dirty="0"/>
              <a:t>and converts it into a grouped </a:t>
            </a:r>
            <a:r>
              <a:rPr lang="en-US" dirty="0" smtClean="0"/>
              <a:t>table </a:t>
            </a:r>
            <a:r>
              <a:rPr lang="en-US" dirty="0"/>
              <a:t>where operations are performed "by group".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err="1"/>
              <a:t>group_by</a:t>
            </a:r>
            <a:r>
              <a:rPr lang="en-US" dirty="0"/>
              <a:t>() function, found in the </a:t>
            </a:r>
            <a:r>
              <a:rPr lang="en-US" dirty="0" err="1"/>
              <a:t>dplyr</a:t>
            </a:r>
            <a:r>
              <a:rPr lang="en-US" dirty="0"/>
              <a:t> package, </a:t>
            </a:r>
            <a:r>
              <a:rPr lang="en-US" dirty="0" smtClean="0"/>
              <a:t>used </a:t>
            </a:r>
            <a:r>
              <a:rPr lang="en-US" dirty="0"/>
              <a:t>to group</a:t>
            </a:r>
            <a:br>
              <a:rPr lang="en-US" dirty="0"/>
            </a:br>
            <a:r>
              <a:rPr lang="en-US" dirty="0"/>
              <a:t>data by one or more variables. </a:t>
            </a:r>
            <a:endParaRPr lang="en-US" dirty="0" smtClean="0"/>
          </a:p>
          <a:p>
            <a:r>
              <a:rPr lang="en-US" dirty="0" smtClean="0"/>
              <a:t>Once </a:t>
            </a:r>
            <a:r>
              <a:rPr lang="en-US" dirty="0"/>
              <a:t>grouped, summary statistics can then </a:t>
            </a:r>
            <a:r>
              <a:rPr lang="en-US" dirty="0" smtClean="0"/>
              <a:t>be generated </a:t>
            </a:r>
            <a:r>
              <a:rPr lang="en-US" dirty="0"/>
              <a:t>for the group or you can visualize the data in various ways. </a:t>
            </a:r>
            <a:endParaRPr lang="en-US" dirty="0" smtClean="0"/>
          </a:p>
          <a:p>
            <a:r>
              <a:rPr lang="en-US" dirty="0" smtClean="0"/>
              <a:t>E.g. the </a:t>
            </a:r>
            <a:r>
              <a:rPr lang="en-US" dirty="0"/>
              <a:t>crime dataset we’re using </a:t>
            </a:r>
            <a:r>
              <a:rPr lang="en-US" dirty="0" smtClean="0"/>
              <a:t>could </a:t>
            </a:r>
            <a:r>
              <a:rPr lang="en-US" dirty="0"/>
              <a:t>be grouped </a:t>
            </a:r>
            <a:r>
              <a:rPr lang="en-US" dirty="0" smtClean="0"/>
              <a:t>by offense</a:t>
            </a:r>
            <a:r>
              <a:rPr lang="en-US" dirty="0"/>
              <a:t>, neighborhood and year and then summary statistics including the count,</a:t>
            </a:r>
            <a:br>
              <a:rPr lang="en-US" dirty="0"/>
            </a:br>
            <a:r>
              <a:rPr lang="en-US" dirty="0"/>
              <a:t>mean, and median number of burglaries by year generated</a:t>
            </a:r>
            <a:r>
              <a:rPr lang="en-US" dirty="0" smtClean="0"/>
              <a:t>.</a:t>
            </a:r>
          </a:p>
          <a:p>
            <a:r>
              <a:rPr lang="en-US" dirty="0" smtClean="0"/>
              <a:t>It’s </a:t>
            </a:r>
            <a:r>
              <a:rPr lang="en-US" dirty="0"/>
              <a:t>also very common to visualize these grouped datasets in different </a:t>
            </a:r>
            <a:r>
              <a:rPr lang="en-US" dirty="0" smtClean="0"/>
              <a:t>charts (</a:t>
            </a:r>
            <a:r>
              <a:rPr lang="en-US" dirty="0"/>
              <a:t>charts, scatterplots, or other </a:t>
            </a:r>
            <a:r>
              <a:rPr lang="en-US" dirty="0" smtClean="0"/>
              <a:t>graphs). </a:t>
            </a:r>
            <a:endParaRPr lang="en-US" dirty="0" smtClean="0"/>
          </a:p>
          <a:p>
            <a:r>
              <a:rPr lang="en-US" dirty="0"/>
              <a:t>You can use ungroup() removes grouping.  ungroup(x, </a:t>
            </a:r>
            <a:r>
              <a:rPr lang="en-US" dirty="0" smtClean="0"/>
              <a:t>...)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761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637" y="70881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Exercise 4: </a:t>
            </a:r>
            <a:r>
              <a:rPr lang="en-US" b="1" dirty="0"/>
              <a:t>Grouping and summarizing a dataset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891" y="1371600"/>
            <a:ext cx="11166763" cy="5250873"/>
          </a:xfrm>
        </p:spPr>
        <p:txBody>
          <a:bodyPr>
            <a:normAutofit/>
          </a:bodyPr>
          <a:lstStyle/>
          <a:p>
            <a:r>
              <a:rPr lang="en-US" dirty="0" smtClean="0"/>
              <a:t>To </a:t>
            </a:r>
            <a:r>
              <a:rPr lang="en-US" dirty="0"/>
              <a:t>group </a:t>
            </a:r>
            <a:r>
              <a:rPr lang="en-US" dirty="0" smtClean="0"/>
              <a:t>the crimes </a:t>
            </a:r>
            <a:r>
              <a:rPr lang="en-US" dirty="0"/>
              <a:t>by police beat</a:t>
            </a:r>
            <a:r>
              <a:rPr lang="en-US" dirty="0" smtClean="0"/>
              <a:t> </a:t>
            </a:r>
          </a:p>
          <a:p>
            <a:r>
              <a:rPr lang="en-US" dirty="0" smtClean="0"/>
              <a:t>dfCrime2 = </a:t>
            </a:r>
            <a:r>
              <a:rPr lang="en-US" dirty="0" err="1" smtClean="0"/>
              <a:t>group_by</a:t>
            </a:r>
            <a:r>
              <a:rPr lang="en-US" dirty="0" smtClean="0"/>
              <a:t>(dfCrime2, Beat)</a:t>
            </a:r>
          </a:p>
          <a:p>
            <a:r>
              <a:rPr lang="en-US" dirty="0" smtClean="0"/>
              <a:t>The n</a:t>
            </a:r>
            <a:r>
              <a:rPr lang="en-US" dirty="0"/>
              <a:t>() function is used to get a count of the number of records for each group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dfCrime2 </a:t>
            </a:r>
            <a:r>
              <a:rPr lang="en-US" dirty="0"/>
              <a:t>= </a:t>
            </a:r>
            <a:r>
              <a:rPr lang="en-US" dirty="0" err="1"/>
              <a:t>summarise</a:t>
            </a:r>
            <a:r>
              <a:rPr lang="en-US" dirty="0"/>
              <a:t>(dfCrime2, n = n())</a:t>
            </a:r>
            <a:r>
              <a:rPr lang="en-US" dirty="0" smtClean="0"/>
              <a:t> </a:t>
            </a:r>
          </a:p>
          <a:p>
            <a:r>
              <a:rPr lang="en-US" dirty="0"/>
              <a:t>Use the head</a:t>
            </a:r>
            <a:r>
              <a:rPr lang="en-US" dirty="0" smtClean="0"/>
              <a:t>() function </a:t>
            </a:r>
            <a:r>
              <a:rPr lang="en-US" dirty="0"/>
              <a:t>to examine the results.</a:t>
            </a:r>
            <a:br>
              <a:rPr lang="en-US" dirty="0"/>
            </a:br>
            <a:r>
              <a:rPr lang="en-US" dirty="0"/>
              <a:t>head(dfCrime2)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9472" y="3013796"/>
            <a:ext cx="2459182" cy="308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285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637" y="70881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Exercise </a:t>
            </a:r>
            <a:r>
              <a:rPr lang="en-US" b="1" dirty="0"/>
              <a:t>5</a:t>
            </a:r>
            <a:r>
              <a:rPr lang="en-US" b="1" dirty="0" smtClean="0"/>
              <a:t>: </a:t>
            </a:r>
            <a:r>
              <a:rPr lang="en-US" b="1" dirty="0"/>
              <a:t>Grouping and summarizing a </a:t>
            </a:r>
            <a:r>
              <a:rPr lang="en-US" b="1" dirty="0" smtClean="0"/>
              <a:t>dataset</a:t>
            </a:r>
            <a:r>
              <a:rPr lang="en-US" b="1" dirty="0"/>
              <a:t> Plotting a dataset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891" y="1371600"/>
            <a:ext cx="11166763" cy="5250873"/>
          </a:xfrm>
        </p:spPr>
        <p:txBody>
          <a:bodyPr>
            <a:normAutofit/>
          </a:bodyPr>
          <a:lstStyle/>
          <a:p>
            <a:r>
              <a:rPr lang="en-US" dirty="0"/>
              <a:t>The ggplot2 package can be used to create various types of charts and </a:t>
            </a:r>
            <a:r>
              <a:rPr lang="en-US" dirty="0" smtClean="0"/>
              <a:t>graphs from </a:t>
            </a:r>
            <a:r>
              <a:rPr lang="en-US" dirty="0"/>
              <a:t>a data frame</a:t>
            </a:r>
            <a:r>
              <a:rPr lang="en-US" dirty="0" smtClean="0"/>
              <a:t> </a:t>
            </a:r>
          </a:p>
          <a:p>
            <a:r>
              <a:rPr lang="en-US" dirty="0"/>
              <a:t>The first parameter passed to </a:t>
            </a:r>
            <a:r>
              <a:rPr lang="en-US" dirty="0" err="1"/>
              <a:t>ggplot</a:t>
            </a:r>
            <a:r>
              <a:rPr lang="en-US" dirty="0"/>
              <a:t>() will be the data frame you want to plot</a:t>
            </a:r>
            <a:r>
              <a:rPr lang="en-US" dirty="0" smtClean="0"/>
              <a:t>. Or it </a:t>
            </a:r>
            <a:r>
              <a:rPr lang="en-US" dirty="0"/>
              <a:t>can also be a </a:t>
            </a:r>
            <a:r>
              <a:rPr lang="en-US" dirty="0" smtClean="0"/>
              <a:t>subset() </a:t>
            </a:r>
            <a:r>
              <a:rPr lang="en-US" dirty="0"/>
              <a:t>of a data</a:t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668" y="3185427"/>
            <a:ext cx="6210300" cy="762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6702" y="3185427"/>
            <a:ext cx="5182729" cy="343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181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637" y="70881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Exercise 6: </a:t>
            </a:r>
            <a:r>
              <a:rPr lang="en-US" b="1" dirty="0"/>
              <a:t>Graphing burglaries by month and year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891" y="1371600"/>
            <a:ext cx="11166763" cy="525087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1. In the </a:t>
            </a:r>
            <a:r>
              <a:rPr lang="en-US" dirty="0" err="1"/>
              <a:t>RStudio</a:t>
            </a:r>
            <a:r>
              <a:rPr lang="en-US" dirty="0"/>
              <a:t> </a:t>
            </a:r>
            <a:r>
              <a:rPr lang="en-US" b="1" dirty="0"/>
              <a:t>Packages </a:t>
            </a:r>
            <a:r>
              <a:rPr lang="en-US" dirty="0"/>
              <a:t>pane, load </a:t>
            </a:r>
            <a:r>
              <a:rPr lang="en-US" b="1" dirty="0">
                <a:solidFill>
                  <a:srgbClr val="FF0000"/>
                </a:solidFill>
              </a:rPr>
              <a:t>the </a:t>
            </a:r>
            <a:r>
              <a:rPr lang="en-US" b="1" dirty="0" err="1">
                <a:solidFill>
                  <a:srgbClr val="FF0000"/>
                </a:solidFill>
              </a:rPr>
              <a:t>lubridate</a:t>
            </a:r>
            <a:r>
              <a:rPr lang="en-US" b="1" dirty="0">
                <a:solidFill>
                  <a:srgbClr val="FF0000"/>
                </a:solidFill>
              </a:rPr>
              <a:t> package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/>
              <a:t>Load the crime data from the Crime_Data.csv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i="1" dirty="0" err="1" smtClean="0"/>
              <a:t>dfCrime</a:t>
            </a:r>
            <a:r>
              <a:rPr lang="en-US" i="1" dirty="0" smtClean="0"/>
              <a:t> = </a:t>
            </a:r>
            <a:r>
              <a:rPr lang="en-US" i="1" dirty="0" err="1" smtClean="0"/>
              <a:t>read_csv</a:t>
            </a:r>
            <a:r>
              <a:rPr lang="en-US" i="1" dirty="0" smtClean="0"/>
              <a:t>("Crime_Data.csv", </a:t>
            </a:r>
            <a:r>
              <a:rPr lang="en-US" i="1" dirty="0" err="1" smtClean="0"/>
              <a:t>col_names</a:t>
            </a:r>
            <a:r>
              <a:rPr lang="en-US" i="1" dirty="0" smtClean="0"/>
              <a:t> = TRUE)</a:t>
            </a:r>
          </a:p>
          <a:p>
            <a:endParaRPr lang="en-US" dirty="0" smtClean="0"/>
          </a:p>
          <a:p>
            <a:r>
              <a:rPr lang="en-US" dirty="0"/>
              <a:t>Specify the columns and column names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i="1" dirty="0" err="1" smtClean="0"/>
              <a:t>dfCrime</a:t>
            </a:r>
            <a:r>
              <a:rPr lang="en-US" i="1" dirty="0" smtClean="0"/>
              <a:t> = select(</a:t>
            </a:r>
            <a:r>
              <a:rPr lang="en-US" i="1" dirty="0" err="1" smtClean="0"/>
              <a:t>dfCrime</a:t>
            </a:r>
            <a:r>
              <a:rPr lang="en-US" i="1" dirty="0" smtClean="0"/>
              <a:t>, '</a:t>
            </a:r>
            <a:r>
              <a:rPr lang="en-US" i="1" dirty="0" err="1" smtClean="0"/>
              <a:t>CrimeDate</a:t>
            </a:r>
            <a:r>
              <a:rPr lang="en-US" i="1" dirty="0" smtClean="0"/>
              <a:t>' = 'Reported Date', 'Category' = 'Crime Subcategory', 'Description' = 'Primary Offense Description', '</a:t>
            </a:r>
            <a:r>
              <a:rPr lang="en-US" i="1" dirty="0" err="1" smtClean="0"/>
              <a:t>Precinct','Sector','Beat','Neighborhood</a:t>
            </a:r>
            <a:r>
              <a:rPr lang="en-US" i="1" dirty="0" smtClean="0"/>
              <a:t>')</a:t>
            </a:r>
          </a:p>
          <a:p>
            <a:endParaRPr lang="en-US" dirty="0" smtClean="0"/>
          </a:p>
          <a:p>
            <a:r>
              <a:rPr lang="en-US" dirty="0"/>
              <a:t>Filter the records so that only residential burglaries in the Queen Anne</a:t>
            </a:r>
            <a:br>
              <a:rPr lang="en-US" dirty="0"/>
            </a:br>
            <a:r>
              <a:rPr lang="en-US" dirty="0"/>
              <a:t>neighborhood are retained.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i="1" dirty="0" smtClean="0"/>
              <a:t>dfCrime2 = filter(</a:t>
            </a:r>
            <a:r>
              <a:rPr lang="en-US" i="1" dirty="0" err="1" smtClean="0"/>
              <a:t>dfCrime</a:t>
            </a:r>
            <a:r>
              <a:rPr lang="en-US" i="1" dirty="0" smtClean="0"/>
              <a:t>, Neighborhood == 'QUEEN ANNE', Category ==              'BURGLARY-RESIDENTIAL')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70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637" y="70881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Exercise 6: </a:t>
            </a:r>
            <a:r>
              <a:rPr lang="en-US" b="1" dirty="0"/>
              <a:t>Graphing burglaries by month and year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891" y="1371600"/>
            <a:ext cx="11166763" cy="525087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The </a:t>
            </a:r>
            <a:r>
              <a:rPr lang="en-US" dirty="0"/>
              <a:t>mutate() function is used to create the new columns. Here the</a:t>
            </a:r>
            <a:br>
              <a:rPr lang="en-US" dirty="0"/>
            </a:br>
            <a:r>
              <a:rPr lang="en-US" dirty="0"/>
              <a:t>mutate() function will be used to extract the year from the </a:t>
            </a:r>
            <a:r>
              <a:rPr lang="en-US" dirty="0" err="1"/>
              <a:t>CrimeDate</a:t>
            </a:r>
            <a:r>
              <a:rPr lang="en-US" dirty="0"/>
              <a:t> column.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i="1" dirty="0" smtClean="0"/>
              <a:t>dfCrime3 = mutate(dfCrime2, YEAR = year(</a:t>
            </a:r>
            <a:r>
              <a:rPr lang="en-US" i="1" dirty="0" err="1" smtClean="0"/>
              <a:t>as.Date</a:t>
            </a:r>
            <a:r>
              <a:rPr lang="en-US" i="1" dirty="0" smtClean="0"/>
              <a:t>(dfCrime2$CrimeDate,format='%m/%d/%Y')))</a:t>
            </a:r>
          </a:p>
          <a:p>
            <a:r>
              <a:rPr lang="en-US" i="1" dirty="0"/>
              <a:t>View(dfCrime3)</a:t>
            </a:r>
            <a:r>
              <a:rPr lang="en-US" i="1" dirty="0" smtClean="0"/>
              <a:t> </a:t>
            </a:r>
          </a:p>
          <a:p>
            <a:r>
              <a:rPr lang="en-US" i="1" dirty="0"/>
              <a:t>dfCrime4 = </a:t>
            </a:r>
            <a:r>
              <a:rPr lang="en-US" i="1" dirty="0" err="1"/>
              <a:t>group_by</a:t>
            </a:r>
            <a:r>
              <a:rPr lang="en-US" i="1" dirty="0"/>
              <a:t>(dfCrime3, YEAR)</a:t>
            </a:r>
            <a:br>
              <a:rPr lang="en-US" i="1" dirty="0"/>
            </a:br>
            <a:r>
              <a:rPr lang="en-US" i="1" dirty="0"/>
              <a:t>dfCrime4 = </a:t>
            </a:r>
            <a:r>
              <a:rPr lang="en-US" i="1" dirty="0" err="1"/>
              <a:t>summarise</a:t>
            </a:r>
            <a:r>
              <a:rPr lang="en-US" i="1" dirty="0"/>
              <a:t>(dfCrime4, n = n())</a:t>
            </a:r>
            <a:r>
              <a:rPr lang="en-US" i="1" dirty="0" smtClean="0"/>
              <a:t> </a:t>
            </a:r>
          </a:p>
          <a:p>
            <a:r>
              <a:rPr lang="en-US" i="1" dirty="0"/>
              <a:t>View(dfCrime4)</a:t>
            </a:r>
            <a:r>
              <a:rPr lang="en-US" i="1" dirty="0" smtClean="0"/>
              <a:t> </a:t>
            </a:r>
          </a:p>
          <a:p>
            <a:r>
              <a:rPr lang="en-US" i="1" dirty="0" err="1" smtClean="0"/>
              <a:t>ggplot</a:t>
            </a:r>
            <a:r>
              <a:rPr lang="en-US" i="1" dirty="0" smtClean="0"/>
              <a:t>(data=dfCrime4) + </a:t>
            </a:r>
            <a:r>
              <a:rPr lang="en-US" i="1" dirty="0" err="1" smtClean="0"/>
              <a:t>geom_col</a:t>
            </a:r>
            <a:r>
              <a:rPr lang="en-US" i="1" dirty="0" smtClean="0"/>
              <a:t>(mapping </a:t>
            </a:r>
          </a:p>
          <a:p>
            <a:pPr marL="0" indent="0">
              <a:buNone/>
            </a:pPr>
            <a:r>
              <a:rPr lang="en-US" i="1" dirty="0" smtClean="0"/>
              <a:t>= </a:t>
            </a:r>
            <a:r>
              <a:rPr lang="en-US" i="1" dirty="0" err="1" smtClean="0"/>
              <a:t>aes</a:t>
            </a:r>
            <a:r>
              <a:rPr lang="en-US" i="1" dirty="0" smtClean="0"/>
              <a:t>(x=YEAR, y=n), fill="green")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1629" y="3422045"/>
            <a:ext cx="4605488" cy="3006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551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349</Words>
  <Application>Microsoft Office PowerPoint</Application>
  <PresentationFormat>Widescreen</PresentationFormat>
  <Paragraphs>65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Module 2</vt:lpstr>
      <vt:lpstr>Contents</vt:lpstr>
      <vt:lpstr>Exercise:1 Install Tidyverse</vt:lpstr>
      <vt:lpstr>Install Tidyverse</vt:lpstr>
      <vt:lpstr>Exercise 2: Loading and examining a dataset  </vt:lpstr>
      <vt:lpstr>Exercise 2: Loading and examining a dataset  </vt:lpstr>
      <vt:lpstr>Exercise 2: Loading and examining a dataset  </vt:lpstr>
      <vt:lpstr>Exercise 3: Filtering a dataset (Start)   </vt:lpstr>
      <vt:lpstr>Exercise 4: Grouping and summarizing a dataset    </vt:lpstr>
      <vt:lpstr>Exercise 4: Grouping and summarizing a dataset    </vt:lpstr>
      <vt:lpstr> Exercise 5: Grouping and summarizing a dataset Plotting a dataset      </vt:lpstr>
      <vt:lpstr>  Exercise 6: Graphing burglaries by month and year        </vt:lpstr>
      <vt:lpstr>  Exercise 6: Graphing burglaries by month and year  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</dc:title>
  <dc:creator>MOHD HAQ</dc:creator>
  <cp:lastModifiedBy>MOHD HAQ</cp:lastModifiedBy>
  <cp:revision>13</cp:revision>
  <dcterms:created xsi:type="dcterms:W3CDTF">2021-01-19T15:03:43Z</dcterms:created>
  <dcterms:modified xsi:type="dcterms:W3CDTF">2021-02-07T08:38:57Z</dcterms:modified>
</cp:coreProperties>
</file>