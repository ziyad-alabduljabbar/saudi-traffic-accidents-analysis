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6" autoAdjust="0"/>
    <p:restoredTop sz="94614" autoAdjust="0"/>
  </p:normalViewPr>
  <p:slideViewPr>
    <p:cSldViewPr snapToGrid="0">
      <p:cViewPr varScale="1">
        <p:scale>
          <a:sx n="59" d="100"/>
          <a:sy n="59" d="100"/>
        </p:scale>
        <p:origin x="56" y="4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3104A-6E55-4B2B-87C6-D272CBE8B7E2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02334-DE96-4D8F-AA39-DB763625A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1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402334-DE96-4D8F-AA39-DB763625ADE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61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DACFB-A2D7-4DCD-947F-7B69551739A3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1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12C61-F5C4-4CE8-B8BC-EDFD5BB391AF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5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56215-0066-4536-9FE6-9C47B52BD454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5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8F086-32D7-4FE0-9298-B72ECA56DADC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0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BDD2-9426-4B7F-A0E1-6BF030117F89}" type="datetime1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9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DEF55-0317-47D2-A824-F4B42C4D23B6}" type="datetime1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4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39059-6ACC-4992-B9BC-2688A4455B19}" type="datetime1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3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C1CD-8705-4E2F-AB86-DF1CBB6BC4AF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7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9E99-B50E-45DC-8C7A-E76B9C53804A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59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197C-4F4B-4DA8-B842-8D7192562179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8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00B4-8E9A-42D1-B9FC-FC3A6B4A25B7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EAD6F-8CBA-452B-9F26-691547BAB364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1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51598"/>
          </a:xfrm>
        </p:spPr>
        <p:txBody>
          <a:bodyPr>
            <a:normAutofit fontScale="92500"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Basic Data Exploration Techniques in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6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3958"/>
            <a:ext cx="11090564" cy="4749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Measuring categorical variation with a bar chart x</a:t>
            </a:r>
          </a:p>
          <a:p>
            <a:pPr>
              <a:lnSpc>
                <a:spcPct val="150000"/>
              </a:lnSpc>
            </a:pPr>
            <a:r>
              <a:rPr lang="en-US" dirty="0"/>
              <a:t>Measuring continuous variation with a histogram x --bandwidth</a:t>
            </a:r>
          </a:p>
          <a:p>
            <a:pPr>
              <a:lnSpc>
                <a:spcPct val="150000"/>
              </a:lnSpc>
            </a:pPr>
            <a:r>
              <a:rPr lang="en-US" dirty="0"/>
              <a:t>Measuring covariation with boxplots   x---y</a:t>
            </a:r>
          </a:p>
          <a:p>
            <a:pPr>
              <a:lnSpc>
                <a:spcPct val="150000"/>
              </a:lnSpc>
            </a:pPr>
            <a:r>
              <a:rPr lang="en-US" dirty="0"/>
              <a:t>Measuring covariation with symbol size   x---y(types)  </a:t>
            </a:r>
          </a:p>
          <a:p>
            <a:pPr>
              <a:lnSpc>
                <a:spcPct val="150000"/>
              </a:lnSpc>
            </a:pPr>
            <a:r>
              <a:rPr lang="en-US" dirty="0"/>
              <a:t>Creating 2D bins and hex charts x---y</a:t>
            </a:r>
          </a:p>
          <a:p>
            <a:pPr>
              <a:lnSpc>
                <a:spcPct val="150000"/>
              </a:lnSpc>
            </a:pPr>
            <a:r>
              <a:rPr lang="en-US" dirty="0"/>
              <a:t>Generating summary 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24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>
                <a:solidFill>
                  <a:srgbClr val="C00000"/>
                </a:solidFill>
              </a:rPr>
              <a:t>Basic Data Exploration Techniques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05934" cy="5901752"/>
          </a:xfrm>
        </p:spPr>
        <p:txBody>
          <a:bodyPr>
            <a:normAutofit/>
          </a:bodyPr>
          <a:lstStyle/>
          <a:p>
            <a:r>
              <a:rPr lang="en-US" sz="3200" dirty="0"/>
              <a:t>Exploratory Data Analysis (EDA) is a workflow designed to gain a better understanding of your data.</a:t>
            </a:r>
          </a:p>
          <a:p>
            <a:r>
              <a:rPr lang="en-US" sz="3200" dirty="0"/>
              <a:t>The workflow consists of three steps. </a:t>
            </a:r>
          </a:p>
          <a:p>
            <a:pPr lvl="1"/>
            <a:r>
              <a:rPr lang="en-US" sz="3200" dirty="0"/>
              <a:t>The first is to generate questions about your data. In this step you want to be as broad as possible because at this point you don’t really have a good feel for the data.</a:t>
            </a:r>
          </a:p>
          <a:p>
            <a:pPr lvl="1"/>
            <a:r>
              <a:rPr lang="en-US" sz="3200" dirty="0"/>
              <a:t>Next, search for answers to these questions by visualizing, transforming, and modeling the data. </a:t>
            </a:r>
          </a:p>
          <a:p>
            <a:pPr lvl="1"/>
            <a:r>
              <a:rPr lang="en-US" sz="3200" dirty="0"/>
              <a:t>Finally, refine your questions and or generate new questions.</a:t>
            </a:r>
          </a:p>
          <a:p>
            <a:pPr marL="457200" lvl="1" indent="0">
              <a:buNone/>
            </a:pPr>
            <a:endParaRPr lang="en-US" sz="3200" dirty="0"/>
          </a:p>
          <a:p>
            <a:r>
              <a:rPr lang="en-US" sz="3200" dirty="0"/>
              <a:t>In R there are two primary tools that support the data exploration process: plots and summary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7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Basic Data Exploration Techniques in R (</a:t>
            </a:r>
            <a:r>
              <a:rPr lang="en-US" b="1" u="sng" dirty="0" err="1">
                <a:solidFill>
                  <a:srgbClr val="C00000"/>
                </a:solidFill>
              </a:rPr>
              <a:t>cont</a:t>
            </a:r>
            <a:r>
              <a:rPr lang="en-US" b="1" u="sng" dirty="0">
                <a:solidFill>
                  <a:srgbClr val="C00000"/>
                </a:solidFill>
              </a:rPr>
              <a:t>….)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2069170" cy="590175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3200" dirty="0"/>
              <a:t>Data can generally be divided into categorical or continuous types. 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Categorical variables are often visualized with bar charts, and continuous variables with histograms. 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Variation or </a:t>
            </a:r>
            <a:r>
              <a:rPr lang="en-US" sz="3200" dirty="0" err="1"/>
              <a:t>covariation</a:t>
            </a:r>
            <a:r>
              <a:rPr lang="en-US" sz="3200" dirty="0"/>
              <a:t> are measured when performing basic visualization.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Variation is the tendency of the values of a variable to change from measurement to measurement. Example: total acres burned by a wildfire (continuous) or the number of crimes by police district (categorical data ).</a:t>
            </a:r>
          </a:p>
          <a:p>
            <a:pPr>
              <a:spcAft>
                <a:spcPts val="600"/>
              </a:spcAft>
            </a:pPr>
            <a:r>
              <a:rPr lang="en-US" sz="3200" dirty="0" err="1"/>
              <a:t>Covariation</a:t>
            </a:r>
            <a:r>
              <a:rPr lang="en-US" sz="3200" dirty="0"/>
              <a:t> is the tendency of the values of two or more variables to vary together in a related 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7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Measuring Categorical Variation with a Bar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2069170" cy="5901752"/>
          </a:xfrm>
        </p:spPr>
        <p:txBody>
          <a:bodyPr>
            <a:normAutofit/>
          </a:bodyPr>
          <a:lstStyle/>
          <a:p>
            <a:r>
              <a:rPr lang="en-US" sz="3400" dirty="0"/>
              <a:t>A bar chart is a great way to visualize categorical data. </a:t>
            </a:r>
          </a:p>
          <a:p>
            <a:r>
              <a:rPr lang="en-US" sz="3400" dirty="0"/>
              <a:t>It separates each category into a separate bar and then the height of each bar is defined by the number of occurrences in that category.</a:t>
            </a:r>
          </a:p>
          <a:p>
            <a:pPr marL="0" indent="0">
              <a:buNone/>
            </a:pPr>
            <a:r>
              <a:rPr lang="en-US" sz="5400" b="1" u="sng" dirty="0">
                <a:solidFill>
                  <a:srgbClr val="C00000"/>
                </a:solidFill>
              </a:rPr>
              <a:t>Exercise 1:</a:t>
            </a:r>
            <a:endParaRPr lang="en-US" sz="5400" dirty="0"/>
          </a:p>
          <a:p>
            <a:pPr marL="0" indent="0">
              <a:buNone/>
            </a:pPr>
            <a:r>
              <a:rPr lang="en-US" sz="3400" dirty="0"/>
              <a:t>1. Make sure </a:t>
            </a:r>
            <a:r>
              <a:rPr lang="en-US" sz="3400" dirty="0" err="1"/>
              <a:t>readr</a:t>
            </a:r>
            <a:r>
              <a:rPr lang="en-US" sz="3400" dirty="0"/>
              <a:t>, </a:t>
            </a:r>
            <a:r>
              <a:rPr lang="en-US" sz="3400" dirty="0" err="1"/>
              <a:t>dplyr</a:t>
            </a:r>
            <a:r>
              <a:rPr lang="en-US" sz="3400" dirty="0"/>
              <a:t> and ggplot2 packages are loaded.</a:t>
            </a:r>
          </a:p>
          <a:p>
            <a:pPr marL="0" indent="0">
              <a:buNone/>
            </a:pPr>
            <a:r>
              <a:rPr lang="en-US" sz="3400" dirty="0"/>
              <a:t>2. Use the </a:t>
            </a:r>
            <a:r>
              <a:rPr lang="en-US" sz="3400" dirty="0" err="1"/>
              <a:t>read_csv</a:t>
            </a:r>
            <a:r>
              <a:rPr lang="en-US" sz="3400" dirty="0"/>
              <a:t>()function to load the dataset into a data frame.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 err="1"/>
              <a:t>dfFires</a:t>
            </a:r>
            <a:r>
              <a:rPr lang="en-US" sz="3400" dirty="0"/>
              <a:t> &lt;- </a:t>
            </a:r>
            <a:r>
              <a:rPr lang="en-US" sz="3400" dirty="0" err="1"/>
              <a:t>read_csv</a:t>
            </a:r>
            <a:r>
              <a:rPr lang="en-US" sz="3400" dirty="0"/>
              <a:t>("StudyArea.csv", </a:t>
            </a:r>
            <a:r>
              <a:rPr lang="en-US" sz="3400" dirty="0" err="1"/>
              <a:t>col_types</a:t>
            </a:r>
            <a:r>
              <a:rPr lang="en-US" sz="3400" dirty="0"/>
              <a:t> = list(UNIT = </a:t>
            </a:r>
            <a:r>
              <a:rPr lang="en-US" sz="3400" dirty="0" err="1"/>
              <a:t>col_character</a:t>
            </a:r>
            <a:r>
              <a:rPr lang="en-US" sz="3400" dirty="0"/>
              <a:t>()),</a:t>
            </a:r>
            <a:r>
              <a:rPr lang="en-US" sz="3400" dirty="0" err="1"/>
              <a:t>col_names</a:t>
            </a:r>
            <a:r>
              <a:rPr lang="en-US" sz="3400" dirty="0"/>
              <a:t> = TRUE)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81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49705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Exercise 1: (</a:t>
            </a:r>
            <a:r>
              <a:rPr lang="en-US" b="1" u="sng" dirty="0" err="1">
                <a:solidFill>
                  <a:srgbClr val="C00000"/>
                </a:solidFill>
              </a:rPr>
              <a:t>Cont</a:t>
            </a:r>
            <a:r>
              <a:rPr lang="en-US" b="1" u="sng" dirty="0">
                <a:solidFill>
                  <a:srgbClr val="C00000"/>
                </a:solidFill>
              </a:rPr>
              <a:t>….)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2069170" cy="5901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3. For this analysis, filter the data so that only fires that burned greater than 1,000 acres in the years 2010 through 2016 are represented.</a:t>
            </a:r>
          </a:p>
          <a:p>
            <a:r>
              <a:rPr lang="en-US" sz="3200" dirty="0" err="1"/>
              <a:t>df</a:t>
            </a:r>
            <a:r>
              <a:rPr lang="en-US" sz="3200" dirty="0"/>
              <a:t> &lt;- filter(</a:t>
            </a:r>
            <a:r>
              <a:rPr lang="en-US" sz="3200" dirty="0" err="1"/>
              <a:t>dfFires</a:t>
            </a:r>
            <a:r>
              <a:rPr lang="en-US" sz="3200" dirty="0"/>
              <a:t>, TOTALACRES &gt;= 1000, YEAR_ %in% c(2010, 2011, 2012, 2013, 2014, 2015, 2016))</a:t>
            </a:r>
          </a:p>
          <a:p>
            <a:pPr marL="0" indent="0">
              <a:buNone/>
            </a:pPr>
            <a:r>
              <a:rPr lang="en-US" sz="3200" dirty="0"/>
              <a:t>4. Produce a bar chart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5. Use the count() function to get the actual count for each category.</a:t>
            </a:r>
          </a:p>
          <a:p>
            <a:r>
              <a:rPr lang="en-US" sz="3200" dirty="0"/>
              <a:t>View(count(</a:t>
            </a:r>
            <a:r>
              <a:rPr lang="en-US" sz="3200" dirty="0" err="1"/>
              <a:t>df</a:t>
            </a:r>
            <a:r>
              <a:rPr lang="en-US" sz="3200" dirty="0"/>
              <a:t>, YEAR_))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771" y="2043195"/>
            <a:ext cx="4038601" cy="3058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09242" y="3244334"/>
            <a:ext cx="4973412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400" dirty="0" err="1"/>
              <a:t>ggplot</a:t>
            </a:r>
            <a:r>
              <a:rPr lang="en-US" sz="3400" dirty="0"/>
              <a:t>(data = </a:t>
            </a:r>
            <a:r>
              <a:rPr lang="en-US" sz="3400" dirty="0" err="1"/>
              <a:t>df</a:t>
            </a:r>
            <a:r>
              <a:rPr lang="en-US" sz="3400" dirty="0"/>
              <a:t>) + </a:t>
            </a:r>
            <a:r>
              <a:rPr lang="en-US" sz="3400" dirty="0" err="1"/>
              <a:t>geom_bar</a:t>
            </a:r>
            <a:r>
              <a:rPr lang="en-US" sz="3400" dirty="0"/>
              <a:t>(mapping = </a:t>
            </a:r>
            <a:r>
              <a:rPr lang="en-US" sz="3400" dirty="0" err="1"/>
              <a:t>aes</a:t>
            </a:r>
            <a:r>
              <a:rPr lang="en-US" sz="3400" dirty="0"/>
              <a:t>(x = YEAR_))</a:t>
            </a:r>
          </a:p>
        </p:txBody>
      </p:sp>
    </p:spTree>
    <p:extLst>
      <p:ext uri="{BB962C8B-B14F-4D97-AF65-F5344CB8AC3E}">
        <p14:creationId xmlns:p14="http://schemas.microsoft.com/office/powerpoint/2010/main" val="4294863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49705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Exercise 1: (</a:t>
            </a:r>
            <a:r>
              <a:rPr lang="en-US" b="1" u="sng" dirty="0" err="1">
                <a:solidFill>
                  <a:srgbClr val="C00000"/>
                </a:solidFill>
              </a:rPr>
              <a:t>cont</a:t>
            </a:r>
            <a:r>
              <a:rPr lang="en-US" b="1" u="sng" dirty="0">
                <a:solidFill>
                  <a:srgbClr val="C00000"/>
                </a:solidFill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2069170" cy="5901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5. Use the count() function to get the actual count for each category.</a:t>
            </a:r>
          </a:p>
          <a:p>
            <a:r>
              <a:rPr lang="en-US" sz="3200" dirty="0"/>
              <a:t>View(count(</a:t>
            </a:r>
            <a:r>
              <a:rPr lang="en-US" sz="3200" dirty="0" err="1"/>
              <a:t>df</a:t>
            </a:r>
            <a:r>
              <a:rPr lang="en-US" sz="3200" dirty="0"/>
              <a:t>, YEAR_))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988" y="1925052"/>
            <a:ext cx="3837823" cy="459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3803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32" y="0"/>
            <a:ext cx="11951368" cy="649705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Measuring Continuous Variation with a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2069170" cy="5901752"/>
          </a:xfrm>
        </p:spPr>
        <p:txBody>
          <a:bodyPr>
            <a:normAutofit/>
          </a:bodyPr>
          <a:lstStyle/>
          <a:p>
            <a:r>
              <a:rPr lang="en-US" sz="3200" dirty="0"/>
              <a:t> The distribution of a continuous variable can be measured with the use of a histogram. </a:t>
            </a:r>
          </a:p>
          <a:p>
            <a:pPr marL="0" indent="0">
              <a:buNone/>
            </a:pPr>
            <a:r>
              <a:rPr lang="en-US" sz="4800" b="1" u="sng" dirty="0">
                <a:solidFill>
                  <a:srgbClr val="C00000"/>
                </a:solidFill>
              </a:rPr>
              <a:t>Exercise 2:</a:t>
            </a:r>
            <a:endParaRPr lang="en-US" sz="4800" dirty="0"/>
          </a:p>
          <a:p>
            <a:pPr marL="514350" indent="-514350">
              <a:buAutoNum type="arabicPeriod"/>
            </a:pPr>
            <a:r>
              <a:rPr lang="en-US" sz="3200" dirty="0"/>
              <a:t>Load StudyArea.csv file using  </a:t>
            </a:r>
            <a:r>
              <a:rPr lang="en-US" sz="3200" dirty="0" err="1"/>
              <a:t>read_csv</a:t>
            </a:r>
            <a:r>
              <a:rPr lang="en-US" sz="3200" dirty="0"/>
              <a:t>().</a:t>
            </a:r>
          </a:p>
          <a:p>
            <a:r>
              <a:rPr lang="en-US" sz="3200" dirty="0" err="1"/>
              <a:t>dfFires</a:t>
            </a:r>
            <a:r>
              <a:rPr lang="en-US" sz="3200" dirty="0"/>
              <a:t> &lt;- </a:t>
            </a:r>
            <a:r>
              <a:rPr lang="en-US" sz="3200" dirty="0" err="1"/>
              <a:t>read_csv</a:t>
            </a:r>
            <a:r>
              <a:rPr lang="en-US" sz="3200" dirty="0"/>
              <a:t>("StudyArea.csv", </a:t>
            </a:r>
            <a:r>
              <a:rPr lang="en-US" sz="3200" dirty="0" err="1"/>
              <a:t>col_types</a:t>
            </a:r>
            <a:r>
              <a:rPr lang="en-US" sz="3200" dirty="0"/>
              <a:t> = list(UNIT = </a:t>
            </a:r>
            <a:r>
              <a:rPr lang="en-US" sz="3200" dirty="0" err="1"/>
              <a:t>col_character</a:t>
            </a:r>
            <a:r>
              <a:rPr lang="en-US" sz="3200" dirty="0"/>
              <a:t>()),</a:t>
            </a:r>
            <a:r>
              <a:rPr lang="en-US" sz="3200" dirty="0" err="1"/>
              <a:t>col_names</a:t>
            </a:r>
            <a:r>
              <a:rPr lang="en-US" sz="3200" dirty="0"/>
              <a:t> = TRUE)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2. Pipe the data frame and use the select() function to limit the columns   </a:t>
            </a:r>
          </a:p>
          <a:p>
            <a:pPr marL="0" indent="0">
              <a:buNone/>
            </a:pPr>
            <a:r>
              <a:rPr lang="en-US" sz="3200" dirty="0"/>
              <a:t>     and filter the rows so that only fires greater than 1,000 acres are   </a:t>
            </a:r>
          </a:p>
          <a:p>
            <a:pPr marL="0" indent="0">
              <a:buNone/>
            </a:pPr>
            <a:r>
              <a:rPr lang="en-US" sz="3200" dirty="0"/>
              <a:t>      included.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59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32" y="0"/>
            <a:ext cx="11951368" cy="649705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Exercise 2 (</a:t>
            </a:r>
            <a:r>
              <a:rPr lang="en-US" b="1" u="sng" dirty="0" err="1">
                <a:solidFill>
                  <a:srgbClr val="C00000"/>
                </a:solidFill>
              </a:rPr>
              <a:t>Cont</a:t>
            </a:r>
            <a:r>
              <a:rPr lang="en-US" b="1" u="sng" dirty="0">
                <a:solidFill>
                  <a:srgbClr val="C00000"/>
                </a:solidFill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36559" cy="5901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3. Create the histogram using </a:t>
            </a:r>
            <a:r>
              <a:rPr lang="en-US" sz="3200" dirty="0" err="1"/>
              <a:t>ggplot</a:t>
            </a:r>
            <a:r>
              <a:rPr lang="en-US" sz="3200" dirty="0"/>
              <a:t>() with </a:t>
            </a:r>
            <a:r>
              <a:rPr lang="en-US" sz="3200" dirty="0" err="1"/>
              <a:t>geom_hist</a:t>
            </a:r>
            <a:r>
              <a:rPr lang="en-US" sz="3200" dirty="0"/>
              <a:t>() and a bin size  </a:t>
            </a:r>
          </a:p>
          <a:p>
            <a:pPr marL="0" indent="0">
              <a:buNone/>
            </a:pPr>
            <a:r>
              <a:rPr lang="en-US" sz="3200" dirty="0"/>
              <a:t>     of 500.  Add the highlighted code you see below to produce the </a:t>
            </a:r>
          </a:p>
          <a:p>
            <a:pPr marL="0" indent="0">
              <a:buNone/>
            </a:pPr>
            <a:r>
              <a:rPr lang="en-US" sz="3200" dirty="0"/>
              <a:t>    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032" y="1852863"/>
            <a:ext cx="6232357" cy="4836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" y="2680896"/>
            <a:ext cx="5895474" cy="35394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err="1"/>
              <a:t>df</a:t>
            </a:r>
            <a:r>
              <a:rPr lang="en-US" sz="3200" dirty="0"/>
              <a:t> %&gt;%select(ORGANIZATI, STATE, YEAR_, TOTALACRES, CAUSE) %&gt;% filter(TOTALACRES &gt;= 1000)%&gt;%</a:t>
            </a:r>
            <a:r>
              <a:rPr lang="en-US" sz="3200" dirty="0" err="1"/>
              <a:t>ggplot</a:t>
            </a:r>
            <a:r>
              <a:rPr lang="en-US" sz="3200" dirty="0"/>
              <a:t>() + </a:t>
            </a:r>
            <a:r>
              <a:rPr lang="en-US" sz="3200" dirty="0" err="1"/>
              <a:t>geom_histogram</a:t>
            </a:r>
            <a:r>
              <a:rPr lang="en-US" sz="3200" dirty="0"/>
              <a:t>(mapping = </a:t>
            </a:r>
            <a:r>
              <a:rPr lang="en-US" sz="3200" dirty="0" err="1"/>
              <a:t>aes</a:t>
            </a:r>
            <a:r>
              <a:rPr lang="en-US" sz="3200" dirty="0"/>
              <a:t>(x=TOTALACRES), </a:t>
            </a:r>
            <a:r>
              <a:rPr lang="en-US" sz="3200" dirty="0" err="1"/>
              <a:t>binwidth</a:t>
            </a:r>
            <a:r>
              <a:rPr lang="en-US" sz="3200" dirty="0"/>
              <a:t>=500)</a:t>
            </a:r>
          </a:p>
        </p:txBody>
      </p:sp>
    </p:spTree>
    <p:extLst>
      <p:ext uri="{BB962C8B-B14F-4D97-AF65-F5344CB8AC3E}">
        <p14:creationId xmlns:p14="http://schemas.microsoft.com/office/powerpoint/2010/main" val="1301386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32" y="0"/>
            <a:ext cx="11951368" cy="649705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Exercise 2 (</a:t>
            </a:r>
            <a:r>
              <a:rPr lang="en-US" b="1" u="sng" dirty="0" err="1">
                <a:solidFill>
                  <a:srgbClr val="C00000"/>
                </a:solidFill>
              </a:rPr>
              <a:t>Cont</a:t>
            </a:r>
            <a:r>
              <a:rPr lang="en-US" b="1" u="sng" dirty="0">
                <a:solidFill>
                  <a:srgbClr val="C00000"/>
                </a:solidFill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36559" cy="5901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4. Get a physical count of the number of fires that fell into each bin.</a:t>
            </a:r>
          </a:p>
          <a:p>
            <a:r>
              <a:rPr lang="en-US" sz="3200" dirty="0"/>
              <a:t>From viewing the histogram and the count it’s obvious that the vast majority of fires are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5011" y="2680896"/>
            <a:ext cx="5510464" cy="156966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err="1"/>
              <a:t>df</a:t>
            </a:r>
            <a:r>
              <a:rPr lang="en-US" sz="3200" dirty="0"/>
              <a:t> %&gt;% count(</a:t>
            </a:r>
            <a:r>
              <a:rPr lang="en-US" sz="3200" dirty="0" err="1"/>
              <a:t>cut_width</a:t>
            </a:r>
            <a:r>
              <a:rPr lang="en-US" sz="3200" dirty="0"/>
              <a:t>(TOTALACRES, 500))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233" y="1925053"/>
            <a:ext cx="5751094" cy="4699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92243" y="4562831"/>
            <a:ext cx="503321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5. Challenge: Recreate the histogram using a bin size of 5000. What is the effect</a:t>
            </a:r>
          </a:p>
          <a:p>
            <a:r>
              <a:rPr lang="en-US" sz="3200" dirty="0"/>
              <a:t>on the output?</a:t>
            </a:r>
          </a:p>
        </p:txBody>
      </p:sp>
    </p:spTree>
    <p:extLst>
      <p:ext uri="{BB962C8B-B14F-4D97-AF65-F5344CB8AC3E}">
        <p14:creationId xmlns:p14="http://schemas.microsoft.com/office/powerpoint/2010/main" val="1139582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32" y="0"/>
            <a:ext cx="11951368" cy="794084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Measuring </a:t>
            </a:r>
            <a:r>
              <a:rPr lang="en-US" b="1" u="sng" dirty="0" err="1">
                <a:solidFill>
                  <a:srgbClr val="C00000"/>
                </a:solidFill>
              </a:rPr>
              <a:t>Covariation</a:t>
            </a:r>
            <a:r>
              <a:rPr lang="en-US" b="1" u="sng" dirty="0">
                <a:solidFill>
                  <a:srgbClr val="C00000"/>
                </a:solidFill>
              </a:rPr>
              <a:t> with Box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66273"/>
            <a:ext cx="12069170" cy="5733311"/>
          </a:xfrm>
        </p:spPr>
        <p:txBody>
          <a:bodyPr>
            <a:normAutofit/>
          </a:bodyPr>
          <a:lstStyle/>
          <a:p>
            <a:r>
              <a:rPr lang="en-US" sz="3200" dirty="0"/>
              <a:t> Box plots provide a visual representation of the spread of data for a variable.</a:t>
            </a:r>
          </a:p>
          <a:p>
            <a:r>
              <a:rPr lang="en-US" sz="3200" dirty="0"/>
              <a:t>These plots display the range of values for a variable along with the median and quartiles.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4800" b="1" u="sng" dirty="0">
                <a:solidFill>
                  <a:srgbClr val="C00000"/>
                </a:solidFill>
              </a:rPr>
              <a:t>Exercise 3:</a:t>
            </a:r>
            <a:endParaRPr lang="en-US" sz="4800" dirty="0"/>
          </a:p>
          <a:p>
            <a:pPr marL="514350" indent="-514350">
              <a:buAutoNum type="arabicPeriod"/>
            </a:pPr>
            <a:r>
              <a:rPr lang="en-US" sz="3200" dirty="0"/>
              <a:t>Load StudyArea.csv file using  </a:t>
            </a:r>
            <a:r>
              <a:rPr lang="en-US" sz="3200" dirty="0" err="1"/>
              <a:t>read_csv</a:t>
            </a:r>
            <a:r>
              <a:rPr lang="en-US" sz="3200" dirty="0"/>
              <a:t>().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err="1"/>
              <a:t>dfFires</a:t>
            </a:r>
            <a:r>
              <a:rPr lang="en-US" sz="3200" dirty="0"/>
              <a:t> &lt;- </a:t>
            </a:r>
            <a:r>
              <a:rPr lang="en-US" sz="3200" dirty="0" err="1"/>
              <a:t>read_csv</a:t>
            </a:r>
            <a:r>
              <a:rPr lang="en-US" sz="3200" dirty="0"/>
              <a:t>("StudyArea.csv", </a:t>
            </a:r>
            <a:r>
              <a:rPr lang="en-US" sz="3200" dirty="0" err="1"/>
              <a:t>col_types</a:t>
            </a:r>
            <a:r>
              <a:rPr lang="en-US" sz="3200" dirty="0"/>
              <a:t> = list(UNIT = </a:t>
            </a:r>
            <a:r>
              <a:rPr lang="en-US" sz="3200" dirty="0" err="1"/>
              <a:t>col_character</a:t>
            </a:r>
            <a:r>
              <a:rPr lang="en-US" sz="3200" dirty="0"/>
              <a:t>()),</a:t>
            </a:r>
            <a:r>
              <a:rPr lang="en-US" sz="3200" dirty="0" err="1"/>
              <a:t>col_names</a:t>
            </a:r>
            <a:r>
              <a:rPr lang="en-US" sz="3200" dirty="0"/>
              <a:t> = TRUE)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61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32" y="0"/>
            <a:ext cx="11951368" cy="794084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3 (</a:t>
            </a:r>
            <a:r>
              <a:rPr lang="en-US" b="1" u="sng" dirty="0" err="1">
                <a:solidFill>
                  <a:srgbClr val="C00000"/>
                </a:solidFill>
              </a:rPr>
              <a:t>Cont</a:t>
            </a:r>
            <a:r>
              <a:rPr lang="en-US" b="1" u="sng" dirty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695" y="721895"/>
            <a:ext cx="11646568" cy="5877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2. Pipe the data frame and filter the rows so that only fire between   </a:t>
            </a:r>
          </a:p>
          <a:p>
            <a:pPr marL="0" indent="0">
              <a:buNone/>
            </a:pPr>
            <a:r>
              <a:rPr lang="en-US" sz="3200" dirty="0"/>
              <a:t>    5000 and 10000 acres are included. </a:t>
            </a:r>
          </a:p>
          <a:p>
            <a:r>
              <a:rPr lang="en-US" sz="3200" dirty="0"/>
              <a:t>Then, group the data by organization. </a:t>
            </a:r>
          </a:p>
          <a:p>
            <a:r>
              <a:rPr lang="en-US" sz="3200" dirty="0"/>
              <a:t>Finally, use </a:t>
            </a:r>
            <a:r>
              <a:rPr lang="en-US" sz="3200" dirty="0" err="1"/>
              <a:t>ggplot</a:t>
            </a:r>
            <a:r>
              <a:rPr lang="en-US" sz="3200" dirty="0"/>
              <a:t>() with </a:t>
            </a:r>
            <a:r>
              <a:rPr lang="en-US" sz="3200" dirty="0" err="1"/>
              <a:t>geom_boxplot</a:t>
            </a:r>
            <a:r>
              <a:rPr lang="en-US" sz="3200" dirty="0"/>
              <a:t>() to create a boxplot showing the distribution of wildfires by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12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789" y="3409950"/>
            <a:ext cx="6176212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3534013"/>
            <a:ext cx="58232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000" dirty="0" err="1"/>
              <a:t>df</a:t>
            </a:r>
            <a:r>
              <a:rPr lang="en-US" sz="3000" dirty="0"/>
              <a:t> %&gt;%filter(TOTALACRES &gt;= 5000 &amp; TOTALACRES &lt;= 10000) %&gt;%</a:t>
            </a:r>
            <a:r>
              <a:rPr lang="en-US" sz="3000" dirty="0" err="1"/>
              <a:t>group_by</a:t>
            </a:r>
            <a:r>
              <a:rPr lang="en-US" sz="3000" dirty="0"/>
              <a:t>(ORGANIZATI) %&gt;%</a:t>
            </a:r>
            <a:r>
              <a:rPr lang="en-US" sz="3000" dirty="0" err="1"/>
              <a:t>ggplot</a:t>
            </a:r>
            <a:r>
              <a:rPr lang="en-US" sz="3000" dirty="0"/>
              <a:t>(mapping = </a:t>
            </a:r>
            <a:r>
              <a:rPr lang="en-US" sz="3000" dirty="0" err="1"/>
              <a:t>aes</a:t>
            </a:r>
            <a:r>
              <a:rPr lang="en-US" sz="3000" dirty="0"/>
              <a:t>(x =ORGANIZATI, y = TOTALACRES)) + </a:t>
            </a:r>
            <a:r>
              <a:rPr lang="en-US" sz="3000" dirty="0" err="1"/>
              <a:t>geom_boxplot</a:t>
            </a:r>
            <a:r>
              <a:rPr lang="en-US" sz="3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25731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32" y="0"/>
            <a:ext cx="11951368" cy="794084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3 (</a:t>
            </a:r>
            <a:r>
              <a:rPr lang="en-US" b="1" u="sng" dirty="0" err="1">
                <a:solidFill>
                  <a:srgbClr val="C00000"/>
                </a:solidFill>
              </a:rPr>
              <a:t>Cont</a:t>
            </a:r>
            <a:r>
              <a:rPr lang="en-US" b="1" u="sng" dirty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695" y="721895"/>
            <a:ext cx="11646568" cy="587768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The organization is listed on the X axis and the total acreage burned on the Y axis. 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The box contains a horizontal line that represents the median for the variable and the box itself is known as the Inter Quartile Range (IQR). 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The vertical lines that extend on either side of the box are known as the whiskers and represent the first and fourth quartile. 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A larger box and whiskers indicate a larger distribution of data.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Challenge: Create a new boxplot that maps the </a:t>
            </a:r>
            <a:r>
              <a:rPr lang="en-US" sz="3200" dirty="0" err="1"/>
              <a:t>covariation</a:t>
            </a:r>
            <a:r>
              <a:rPr lang="en-US" sz="3200" dirty="0"/>
              <a:t> of CAUSE and TOTALACRES.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06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32" y="0"/>
            <a:ext cx="11951368" cy="794084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Measuring </a:t>
            </a:r>
            <a:r>
              <a:rPr lang="en-US" b="1" u="sng" dirty="0" err="1">
                <a:solidFill>
                  <a:srgbClr val="C00000"/>
                </a:solidFill>
              </a:rPr>
              <a:t>Covariation</a:t>
            </a:r>
            <a:r>
              <a:rPr lang="en-US" b="1" u="sng" dirty="0">
                <a:solidFill>
                  <a:srgbClr val="C00000"/>
                </a:solidFill>
              </a:rPr>
              <a:t> with Symbol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66273"/>
            <a:ext cx="12069170" cy="5733311"/>
          </a:xfrm>
        </p:spPr>
        <p:txBody>
          <a:bodyPr>
            <a:normAutofit/>
          </a:bodyPr>
          <a:lstStyle/>
          <a:p>
            <a:r>
              <a:rPr lang="en-US" sz="3200" dirty="0"/>
              <a:t>The </a:t>
            </a:r>
            <a:r>
              <a:rPr lang="en-US" sz="3200" dirty="0" err="1"/>
              <a:t>geom_count</a:t>
            </a:r>
            <a:r>
              <a:rPr lang="en-US" sz="3200" dirty="0"/>
              <a:t>() function can be used with </a:t>
            </a:r>
            <a:r>
              <a:rPr lang="en-US" sz="3200" dirty="0" err="1"/>
              <a:t>ggplot</a:t>
            </a:r>
            <a:r>
              <a:rPr lang="en-US" sz="3200" dirty="0"/>
              <a:t>() to measure </a:t>
            </a:r>
            <a:r>
              <a:rPr lang="en-US" sz="3200" dirty="0" err="1"/>
              <a:t>covariation</a:t>
            </a:r>
            <a:r>
              <a:rPr lang="en-US" sz="3200" dirty="0"/>
              <a:t> between variables using different symbol sizes. </a:t>
            </a:r>
          </a:p>
          <a:p>
            <a:pPr marL="0" indent="0">
              <a:buNone/>
            </a:pPr>
            <a:endParaRPr lang="en-US" sz="3200" b="1" u="sng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4800" b="1" u="sng" dirty="0">
                <a:solidFill>
                  <a:srgbClr val="C00000"/>
                </a:solidFill>
              </a:rPr>
              <a:t>Exercise 4:</a:t>
            </a:r>
            <a:endParaRPr lang="en-US" sz="4800" dirty="0"/>
          </a:p>
          <a:p>
            <a:pPr marL="514350" indent="-514350">
              <a:buAutoNum type="arabicPeriod"/>
            </a:pPr>
            <a:r>
              <a:rPr lang="en-US" sz="3200" dirty="0"/>
              <a:t>Load StudyArea.csv file using  </a:t>
            </a:r>
            <a:r>
              <a:rPr lang="en-US" sz="3200" dirty="0" err="1"/>
              <a:t>read_csv</a:t>
            </a:r>
            <a:r>
              <a:rPr lang="en-US" sz="3200" dirty="0"/>
              <a:t>().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err="1"/>
              <a:t>dfFires</a:t>
            </a:r>
            <a:r>
              <a:rPr lang="en-US" sz="3200" dirty="0"/>
              <a:t> &lt;- </a:t>
            </a:r>
            <a:r>
              <a:rPr lang="en-US" sz="3200" dirty="0" err="1"/>
              <a:t>read_csv</a:t>
            </a:r>
            <a:r>
              <a:rPr lang="en-US" sz="3200" dirty="0"/>
              <a:t>("StudyArea.csv", </a:t>
            </a:r>
            <a:r>
              <a:rPr lang="en-US" sz="3200" dirty="0" err="1"/>
              <a:t>col_types</a:t>
            </a:r>
            <a:r>
              <a:rPr lang="en-US" sz="3200" dirty="0"/>
              <a:t> = list(UNIT = </a:t>
            </a:r>
            <a:r>
              <a:rPr lang="en-US" sz="3200" dirty="0" err="1"/>
              <a:t>col_character</a:t>
            </a:r>
            <a:r>
              <a:rPr lang="en-US" sz="3200" dirty="0"/>
              <a:t>()),</a:t>
            </a:r>
            <a:r>
              <a:rPr lang="en-US" sz="3200" dirty="0" err="1"/>
              <a:t>col_names</a:t>
            </a:r>
            <a:r>
              <a:rPr lang="en-US" sz="3200" dirty="0"/>
              <a:t> = TRUE)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9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32" y="0"/>
            <a:ext cx="11951368" cy="794084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4 (</a:t>
            </a:r>
            <a:r>
              <a:rPr lang="en-US" b="1" u="sng" dirty="0" err="1">
                <a:solidFill>
                  <a:srgbClr val="C00000"/>
                </a:solidFill>
              </a:rPr>
              <a:t>Cont</a:t>
            </a:r>
            <a:r>
              <a:rPr lang="en-US" b="1" u="sng" dirty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695" y="721895"/>
            <a:ext cx="11646568" cy="5877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2. Pipe the data frame and filter the rows so that only wildfires that  </a:t>
            </a:r>
          </a:p>
          <a:p>
            <a:pPr marL="0" indent="0">
              <a:buNone/>
            </a:pPr>
            <a:r>
              <a:rPr lang="en-US" sz="3200" dirty="0"/>
              <a:t>     originated due to Natural or Human causes are included. </a:t>
            </a:r>
          </a:p>
          <a:p>
            <a:r>
              <a:rPr lang="en-US" sz="3200" dirty="0"/>
              <a:t>This will remove any records that are Unknown or have missing values. Then, use </a:t>
            </a:r>
            <a:r>
              <a:rPr lang="en-US" sz="3200" dirty="0" err="1"/>
              <a:t>geom_count</a:t>
            </a:r>
            <a:r>
              <a:rPr lang="en-US" sz="3200" dirty="0"/>
              <a:t>() to create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2811879"/>
            <a:ext cx="5823284" cy="30469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err="1"/>
              <a:t>df</a:t>
            </a:r>
            <a:r>
              <a:rPr lang="en-US" sz="3200" dirty="0"/>
              <a:t>%&gt;%filter(CAUSE == 'Natural' | CAUSE == 'Human') %&gt;%</a:t>
            </a:r>
            <a:r>
              <a:rPr lang="en-US" sz="3200" dirty="0" err="1"/>
              <a:t>group_by</a:t>
            </a:r>
            <a:r>
              <a:rPr lang="en-US" sz="3200" dirty="0"/>
              <a:t>(ORGANIZATI) %&gt;%</a:t>
            </a:r>
            <a:r>
              <a:rPr lang="en-US" sz="3200" dirty="0" err="1"/>
              <a:t>ggplot</a:t>
            </a:r>
            <a:r>
              <a:rPr lang="en-US" sz="3200" dirty="0"/>
              <a:t>() + </a:t>
            </a:r>
            <a:r>
              <a:rPr lang="en-US" sz="3200" dirty="0" err="1"/>
              <a:t>geom_count</a:t>
            </a:r>
            <a:r>
              <a:rPr lang="en-US" sz="3200" dirty="0"/>
              <a:t>(mapping = </a:t>
            </a:r>
            <a:r>
              <a:rPr lang="en-US" sz="3200" dirty="0" err="1"/>
              <a:t>aes</a:t>
            </a:r>
            <a:r>
              <a:rPr lang="en-US" sz="3200" dirty="0"/>
              <a:t>(x = ORGANIZATI, y = CAUSE))</a:t>
            </a:r>
            <a:endParaRPr lang="en-US" sz="3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916" y="2811879"/>
            <a:ext cx="5895473" cy="3769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3242" y="5903893"/>
            <a:ext cx="4387516" cy="95410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err="1"/>
              <a:t>df</a:t>
            </a:r>
            <a:r>
              <a:rPr lang="en-US" sz="2800" dirty="0"/>
              <a:t> %&gt;%</a:t>
            </a:r>
          </a:p>
          <a:p>
            <a:r>
              <a:rPr lang="en-US" sz="2800" dirty="0"/>
              <a:t>count(ORGANIZATI, CAUSE)</a:t>
            </a:r>
          </a:p>
        </p:txBody>
      </p:sp>
    </p:spTree>
    <p:extLst>
      <p:ext uri="{BB962C8B-B14F-4D97-AF65-F5344CB8AC3E}">
        <p14:creationId xmlns:p14="http://schemas.microsoft.com/office/powerpoint/2010/main" val="444279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32" y="0"/>
            <a:ext cx="11951368" cy="794084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2D bin and hex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66273"/>
            <a:ext cx="12069170" cy="5733311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2D bin and hex charts can be used as an alternative way of viewing the distribution of two variables.</a:t>
            </a:r>
            <a:endParaRPr lang="en-US" sz="3200" b="1" u="sng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4800" b="1" u="sng" dirty="0">
                <a:solidFill>
                  <a:srgbClr val="C00000"/>
                </a:solidFill>
              </a:rPr>
              <a:t>Exercise 5:</a:t>
            </a:r>
            <a:endParaRPr lang="en-US" sz="4800" dirty="0"/>
          </a:p>
          <a:p>
            <a:pPr marL="514350" indent="-514350">
              <a:buAutoNum type="arabicPeriod"/>
            </a:pPr>
            <a:r>
              <a:rPr lang="en-US" sz="3200" dirty="0"/>
              <a:t>Load StudyArea.csv file using  </a:t>
            </a:r>
            <a:r>
              <a:rPr lang="en-US" sz="3200" dirty="0" err="1"/>
              <a:t>read_csv</a:t>
            </a:r>
            <a:r>
              <a:rPr lang="en-US" sz="3200" dirty="0"/>
              <a:t>().</a:t>
            </a:r>
          </a:p>
          <a:p>
            <a:pPr marL="0" indent="0">
              <a:buNone/>
            </a:pPr>
            <a:r>
              <a:rPr lang="en-US" sz="3200" dirty="0"/>
              <a:t>2. Create a 2D bin map with YEAR_ on the X axis and TOTALACRES on </a:t>
            </a:r>
          </a:p>
          <a:p>
            <a:pPr marL="0" indent="0">
              <a:buNone/>
            </a:pPr>
            <a:r>
              <a:rPr lang="en-US" sz="3200" dirty="0"/>
              <a:t>     the Y axis.</a:t>
            </a:r>
          </a:p>
          <a:p>
            <a:r>
              <a:rPr lang="en-US" sz="3200" dirty="0" err="1"/>
              <a:t>ggplot</a:t>
            </a:r>
            <a:r>
              <a:rPr lang="en-US" sz="3200" dirty="0"/>
              <a:t>(data = </a:t>
            </a:r>
            <a:r>
              <a:rPr lang="en-US" sz="3200" dirty="0" err="1"/>
              <a:t>dfFires</a:t>
            </a:r>
            <a:r>
              <a:rPr lang="en-US" sz="3200" dirty="0"/>
              <a:t>) + geom_bin2d(mapping = </a:t>
            </a:r>
            <a:r>
              <a:rPr lang="en-US" sz="3200" dirty="0" err="1"/>
              <a:t>aes</a:t>
            </a:r>
            <a:r>
              <a:rPr lang="en-US" sz="3200" dirty="0"/>
              <a:t>(x=</a:t>
            </a:r>
            <a:r>
              <a:rPr lang="en-US" sz="3200" dirty="0" err="1"/>
              <a:t>YEAR_,y</a:t>
            </a:r>
            <a:r>
              <a:rPr lang="en-US" sz="3200" dirty="0"/>
              <a:t>=TOTALACRES))</a:t>
            </a:r>
          </a:p>
          <a:p>
            <a:pPr marL="0" indent="0">
              <a:buNone/>
            </a:pPr>
            <a:r>
              <a:rPr lang="en-US" sz="3200" dirty="0"/>
              <a:t>3. Create a 2D hex map with YEAR_ on the X axis and TOTALACRES on  </a:t>
            </a:r>
          </a:p>
          <a:p>
            <a:pPr marL="0" indent="0">
              <a:buNone/>
            </a:pPr>
            <a:r>
              <a:rPr lang="en-US" sz="3200" dirty="0"/>
              <a:t>     the Y axis.</a:t>
            </a:r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df</a:t>
            </a:r>
            <a:r>
              <a:rPr lang="en-US" sz="3200" dirty="0"/>
              <a:t>) + </a:t>
            </a:r>
            <a:r>
              <a:rPr lang="en-US" sz="3200" dirty="0" err="1"/>
              <a:t>geom_hex</a:t>
            </a:r>
            <a:r>
              <a:rPr lang="en-US" sz="3200" dirty="0"/>
              <a:t>(mapping = </a:t>
            </a:r>
            <a:r>
              <a:rPr lang="en-US" sz="3200" dirty="0" err="1"/>
              <a:t>aes</a:t>
            </a:r>
            <a:r>
              <a:rPr lang="en-US" sz="3200" dirty="0"/>
              <a:t>(x=YEAR_, y=TOTALACRES))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55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32" y="0"/>
            <a:ext cx="11951368" cy="794084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Generating 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66273"/>
            <a:ext cx="12069170" cy="5991727"/>
          </a:xfrm>
        </p:spPr>
        <p:txBody>
          <a:bodyPr>
            <a:normAutofit/>
          </a:bodyPr>
          <a:lstStyle/>
          <a:p>
            <a:r>
              <a:rPr lang="en-US" sz="3200" dirty="0"/>
              <a:t>Another basic technique for performing exploratory data analysis is to generate various summary statistics on a dataset.</a:t>
            </a:r>
          </a:p>
          <a:p>
            <a:pPr marL="0" indent="0">
              <a:buNone/>
            </a:pPr>
            <a:r>
              <a:rPr lang="en-US" sz="4800" b="1" u="sng" dirty="0">
                <a:solidFill>
                  <a:srgbClr val="C00000"/>
                </a:solidFill>
              </a:rPr>
              <a:t>Exercise 6:</a:t>
            </a:r>
            <a:endParaRPr lang="en-US" sz="4800" dirty="0"/>
          </a:p>
          <a:p>
            <a:pPr marL="514350" indent="-514350">
              <a:buAutoNum type="arabicPeriod"/>
            </a:pPr>
            <a:r>
              <a:rPr lang="en-US" sz="3200" dirty="0"/>
              <a:t>Load StudyArea.csv file using  </a:t>
            </a:r>
            <a:r>
              <a:rPr lang="en-US" sz="3200" dirty="0" err="1"/>
              <a:t>read_csv</a:t>
            </a:r>
            <a:r>
              <a:rPr lang="en-US" sz="3200" dirty="0"/>
              <a:t>() into </a:t>
            </a:r>
            <a:r>
              <a:rPr lang="en-US" sz="3200" dirty="0" err="1"/>
              <a:t>dataframe</a:t>
            </a:r>
            <a:r>
              <a:rPr lang="en-US" sz="3200" dirty="0"/>
              <a:t> </a:t>
            </a:r>
            <a:r>
              <a:rPr lang="en-US" sz="3200" dirty="0" err="1"/>
              <a:t>df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2. Restrict the list of columns.</a:t>
            </a:r>
          </a:p>
          <a:p>
            <a:r>
              <a:rPr lang="en-US" sz="3200" dirty="0" err="1"/>
              <a:t>df</a:t>
            </a:r>
            <a:r>
              <a:rPr lang="en-US" sz="3200" dirty="0"/>
              <a:t> &lt;- select(</a:t>
            </a:r>
            <a:r>
              <a:rPr lang="en-US" sz="3200" dirty="0" err="1"/>
              <a:t>df</a:t>
            </a:r>
            <a:r>
              <a:rPr lang="en-US" sz="3200" dirty="0"/>
              <a:t>, ORGANIZATI, STATE, YEAR_, TOTALACRES, CAUSE)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3. Filter the list to include only wildfires greater than 1,000 acres.</a:t>
            </a:r>
          </a:p>
          <a:p>
            <a:r>
              <a:rPr lang="en-US" sz="3200" dirty="0" err="1"/>
              <a:t>df</a:t>
            </a:r>
            <a:r>
              <a:rPr lang="en-US" sz="3200" dirty="0"/>
              <a:t> &lt;- filter(</a:t>
            </a:r>
            <a:r>
              <a:rPr lang="en-US" sz="3200" dirty="0" err="1"/>
              <a:t>df</a:t>
            </a:r>
            <a:r>
              <a:rPr lang="en-US" sz="3200" dirty="0"/>
              <a:t>, TOTALACRES &gt;= 1000)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51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32" y="0"/>
            <a:ext cx="11951368" cy="794084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C00000"/>
                </a:solidFill>
              </a:rPr>
              <a:t>Exercise 6 (</a:t>
            </a:r>
            <a:r>
              <a:rPr lang="en-US" b="1" u="sng" dirty="0" err="1">
                <a:solidFill>
                  <a:srgbClr val="C00000"/>
                </a:solidFill>
              </a:rPr>
              <a:t>Cont</a:t>
            </a:r>
            <a:r>
              <a:rPr lang="en-US" b="1" u="sng" dirty="0">
                <a:solidFill>
                  <a:srgbClr val="C00000"/>
                </a:solidFill>
              </a:rPr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66273"/>
            <a:ext cx="12069170" cy="59917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4. Call the mean() function, passing in a reference to the data frame and </a:t>
            </a:r>
          </a:p>
          <a:p>
            <a:pPr marL="0" indent="0">
              <a:buNone/>
            </a:pPr>
            <a:r>
              <a:rPr lang="en-US" sz="3200" dirty="0"/>
              <a:t>     the TOTALACRES column.</a:t>
            </a:r>
          </a:p>
          <a:p>
            <a:r>
              <a:rPr lang="en-US" sz="3200" dirty="0"/>
              <a:t>mean(</a:t>
            </a:r>
            <a:r>
              <a:rPr lang="en-US" sz="3200" dirty="0" err="1"/>
              <a:t>df$TOTALACRES</a:t>
            </a:r>
            <a:r>
              <a:rPr lang="en-US" sz="3200" dirty="0"/>
              <a:t>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5. Call the median() function.</a:t>
            </a:r>
          </a:p>
          <a:p>
            <a:r>
              <a:rPr lang="en-US" sz="3200" dirty="0"/>
              <a:t>median(</a:t>
            </a:r>
            <a:r>
              <a:rPr lang="en-US" sz="3200" dirty="0" err="1"/>
              <a:t>df$TOTALACRES</a:t>
            </a:r>
            <a:r>
              <a:rPr lang="en-US" sz="3200" dirty="0"/>
              <a:t>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6. Instead of calling the individual summary statistics functions you can </a:t>
            </a:r>
          </a:p>
          <a:p>
            <a:pPr marL="0" indent="0">
              <a:buNone/>
            </a:pPr>
            <a:r>
              <a:rPr lang="en-US" sz="3200" dirty="0"/>
              <a:t>     simply use the summary() function to return a list of summary </a:t>
            </a:r>
          </a:p>
          <a:p>
            <a:pPr marL="0" indent="0">
              <a:buNone/>
            </a:pPr>
            <a:r>
              <a:rPr lang="en-US" sz="3200" dirty="0"/>
              <a:t>     statistics.</a:t>
            </a:r>
          </a:p>
          <a:p>
            <a:r>
              <a:rPr lang="en-US" sz="3200" dirty="0"/>
              <a:t>summary(</a:t>
            </a:r>
            <a:r>
              <a:rPr lang="en-US" sz="3200" dirty="0" err="1"/>
              <a:t>df$TOTALACRES</a:t>
            </a:r>
            <a:r>
              <a:rPr lang="en-US" sz="32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5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1968</TotalTime>
  <Words>1538</Words>
  <Application>Microsoft Office PowerPoint</Application>
  <PresentationFormat>Widescreen</PresentationFormat>
  <Paragraphs>150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Module 6</vt:lpstr>
      <vt:lpstr>Contents</vt:lpstr>
      <vt:lpstr>Basic Data Exploration Techniques in R</vt:lpstr>
      <vt:lpstr>Basic Data Exploration Techniques in R (cont….)</vt:lpstr>
      <vt:lpstr>Measuring Categorical Variation with a Bar Chart</vt:lpstr>
      <vt:lpstr>Exercise 1: (Cont….)</vt:lpstr>
      <vt:lpstr>Exercise 1: (cont…)</vt:lpstr>
      <vt:lpstr>Measuring Continuous Variation with a Histogram</vt:lpstr>
      <vt:lpstr>Exercise 2 (Cont…)</vt:lpstr>
      <vt:lpstr>Exercise 2 (Cont…)</vt:lpstr>
      <vt:lpstr>Measuring Covariation with Box Plots</vt:lpstr>
      <vt:lpstr>Exercise 3 (Cont…)</vt:lpstr>
      <vt:lpstr>Exercise 3 (Cont…)</vt:lpstr>
      <vt:lpstr>Measuring Covariation with Symbol Size</vt:lpstr>
      <vt:lpstr>Exercise 4 (Cont…)</vt:lpstr>
      <vt:lpstr>2D bin and hex charts</vt:lpstr>
      <vt:lpstr>Generating Summary Statistics</vt:lpstr>
      <vt:lpstr>Exercise 6 (Cont…)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MOHD HAQ</dc:creator>
  <cp:lastModifiedBy>441100931</cp:lastModifiedBy>
  <cp:revision>126</cp:revision>
  <dcterms:created xsi:type="dcterms:W3CDTF">2021-01-17T15:40:32Z</dcterms:created>
  <dcterms:modified xsi:type="dcterms:W3CDTF">2025-05-13T12:30:48Z</dcterms:modified>
</cp:coreProperties>
</file>